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c662027ef874173" /><Relationship Type="http://schemas.openxmlformats.org/officeDocument/2006/relationships/extended-properties" Target="/docProps/app.xml" Id="R21f810948ef94212" /><Relationship Type="http://schemas.openxmlformats.org/officeDocument/2006/relationships/officeDocument" Target="/ppt/presentation.xml" Id="R2821f378bcd048b9" /></Relationships>
</file>

<file path=ppt/presentation.xml><?xml version="1.0" encoding="utf-8"?>
<p:presentation xmlns:p="http://schemas.openxmlformats.org/presentationml/2006/main">
  <p:sldMasterIdLst>
    <p:sldMasterId xmlns:r="http://schemas.openxmlformats.org/officeDocument/2006/relationships" id="2147483648" r:id="R009345a0b8e64a81"/>
  </p:sldMasterIdLst>
  <p:notesMasterIdLst>
    <p:notesMasterId xmlns:r="http://schemas.openxmlformats.org/officeDocument/2006/relationships" r:id="Refdaf334e71d4d04"/>
  </p:notesMasterIdLst>
  <p:sldIdLst>
    <p:sldId xmlns:r="http://schemas.openxmlformats.org/officeDocument/2006/relationships" id="256" r:id="R35b8483e6f524f4b"/>
    <p:sldId xmlns:r="http://schemas.openxmlformats.org/officeDocument/2006/relationships" id="257" r:id="Rba0b601d60ca4fcb"/>
    <p:sldId xmlns:r="http://schemas.openxmlformats.org/officeDocument/2006/relationships" id="258" r:id="Ra70ccef0f1774300"/>
    <p:sldId xmlns:r="http://schemas.openxmlformats.org/officeDocument/2006/relationships" id="259" r:id="Rc4569259d3a64097"/>
    <p:sldId xmlns:r="http://schemas.openxmlformats.org/officeDocument/2006/relationships" id="260" r:id="R79d4a778290647b4"/>
    <p:sldId xmlns:r="http://schemas.openxmlformats.org/officeDocument/2006/relationships" id="261" r:id="Rbb73059621724dc3"/>
    <p:sldId xmlns:r="http://schemas.openxmlformats.org/officeDocument/2006/relationships" id="262" r:id="R2d9771cd58a64f65"/>
    <p:sldId xmlns:r="http://schemas.openxmlformats.org/officeDocument/2006/relationships" id="263" r:id="Rfca6eaada059457e"/>
    <p:sldId xmlns:r="http://schemas.openxmlformats.org/officeDocument/2006/relationships" id="264" r:id="Rfc210cba75db4cda"/>
    <p:sldId xmlns:r="http://schemas.openxmlformats.org/officeDocument/2006/relationships" id="265" r:id="R19d5e3d9384a4a0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013ae67b7e473e" /><Relationship Type="http://schemas.openxmlformats.org/officeDocument/2006/relationships/slideMaster" Target="/ppt/slideMasters/slideMaster1.xml" Id="R009345a0b8e64a81" /><Relationship Type="http://schemas.openxmlformats.org/officeDocument/2006/relationships/notesMaster" Target="/ppt/notesMasters/notesMaster1.xml" Id="Refdaf334e71d4d04" /><Relationship Type="http://schemas.openxmlformats.org/officeDocument/2006/relationships/presProps" Target="/ppt/presProps.xml" Id="R80538e883364460f" /><Relationship Type="http://schemas.openxmlformats.org/officeDocument/2006/relationships/tableStyles" Target="/ppt/tableStyles.xml" Id="R5b8ddb5529a84422" /><Relationship Type="http://schemas.openxmlformats.org/officeDocument/2006/relationships/slide" Target="/ppt/slides/slide1.xml" Id="R35b8483e6f524f4b" /><Relationship Type="http://schemas.openxmlformats.org/officeDocument/2006/relationships/slide" Target="/ppt/slides/slide2.xml" Id="Rba0b601d60ca4fcb" /><Relationship Type="http://schemas.openxmlformats.org/officeDocument/2006/relationships/slide" Target="/ppt/slides/slide3.xml" Id="Ra70ccef0f1774300" /><Relationship Type="http://schemas.openxmlformats.org/officeDocument/2006/relationships/slide" Target="/ppt/slides/slide4.xml" Id="Rc4569259d3a64097" /><Relationship Type="http://schemas.openxmlformats.org/officeDocument/2006/relationships/slide" Target="/ppt/slides/slide5.xml" Id="R79d4a778290647b4" /><Relationship Type="http://schemas.openxmlformats.org/officeDocument/2006/relationships/slide" Target="/ppt/slides/slide6.xml" Id="Rbb73059621724dc3" /><Relationship Type="http://schemas.openxmlformats.org/officeDocument/2006/relationships/slide" Target="/ppt/slides/slide7.xml" Id="R2d9771cd58a64f65" /><Relationship Type="http://schemas.openxmlformats.org/officeDocument/2006/relationships/slide" Target="/ppt/slides/slide8.xml" Id="Rfca6eaada059457e" /><Relationship Type="http://schemas.openxmlformats.org/officeDocument/2006/relationships/slide" Target="/ppt/slides/slide9.xml" Id="Rfc210cba75db4cda" /><Relationship Type="http://schemas.openxmlformats.org/officeDocument/2006/relationships/slide" Target="/ppt/slides/slide10.xml" Id="R19d5e3d9384a4a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8aedf31f1345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liniverse">
  <a:themeElements>
    <a:clrScheme name="Clinivers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liniver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3f81cc801b4048" /><Relationship Type="http://schemas.openxmlformats.org/officeDocument/2006/relationships/notesMaster" Target="/ppt/notesMasters/notesMaster1.xml" Id="R59dfb9418fcd40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1a9ea27b534c8c" /><Relationship Type="http://schemas.openxmlformats.org/officeDocument/2006/relationships/notesMaster" Target="/ppt/notesMasters/notesMaster1.xml" Id="Rf9605493f7ec41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3d7a720d6648f1" /><Relationship Type="http://schemas.openxmlformats.org/officeDocument/2006/relationships/notesMaster" Target="/ppt/notesMasters/notesMaster1.xml" Id="R3ec067ebb6df437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af1f10279c43c9" /><Relationship Type="http://schemas.openxmlformats.org/officeDocument/2006/relationships/notesMaster" Target="/ppt/notesMasters/notesMaster1.xml" Id="Rce67631e066142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a459d19bb04873" /><Relationship Type="http://schemas.openxmlformats.org/officeDocument/2006/relationships/notesMaster" Target="/ppt/notesMasters/notesMaster1.xml" Id="R583205543ae843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863e3b19134f08" /><Relationship Type="http://schemas.openxmlformats.org/officeDocument/2006/relationships/notesMaster" Target="/ppt/notesMasters/notesMaster1.xml" Id="R352b8f63b5654c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8d9704c9b445d7" /><Relationship Type="http://schemas.openxmlformats.org/officeDocument/2006/relationships/notesMaster" Target="/ppt/notesMasters/notesMaster1.xml" Id="Red3fc811512c45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d56f894d834f1c" /><Relationship Type="http://schemas.openxmlformats.org/officeDocument/2006/relationships/notesMaster" Target="/ppt/notesMasters/notesMaster1.xml" Id="Rb6b7a2ab41f94b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54fa45d8c5da4e32" /><Relationship Type="http://schemas.openxmlformats.org/officeDocument/2006/relationships/notesMaster" Target="/ppt/notesMasters/notesMaster1.xml" Id="Rd4d97c73f46c414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dcbcb337dd342c5" /><Relationship Type="http://schemas.openxmlformats.org/officeDocument/2006/relationships/notesMaster" Target="/ppt/notesMasters/notesMaster1.xml" Id="Rf96d04153b4347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Healthcare models are often judged by whether they rank patients correctly. In our final holdout, that ranking still looked reasonable: AUROC moved only from 0.835 to 0.824. But the model's mean predicted risk fell from about fourteen percent to ten-point-four percent, while observed mortality was fourteen-point-six-two-five percent. That gap is the failure Cliniverse is built to reveal.</a:t>
            </a:r>
          </a:p>
          <a:p xmlns:a="http://schemas.openxmlformats.org/drawingml/2006/main">
            <a:r>
              <a:t/>
            </a:r>
          </a:p>
          <a:p xmlns:a="http://schemas.openxmlformats.org/drawingml/2006/main">
            <a:r>
              <a:t>[Sources]</a:t>
            </a:r>
          </a:p>
          <a:p xmlns:a="http://schemas.openxmlformats.org/drawingml/2006/main">
            <a:r>
              <a:t>- README.md — confirmed Set-C result</a:t>
            </a:r>
          </a:p>
          <a:p xmlns:a="http://schemas.openxmlformats.org/drawingml/2006/main">
            <a:r>
              <a:t>- docs/readme-assets/screens/overview.png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AUROC asks a ranking question. If Patient A died and Patient B survived, did the model score Patient A higher? In this illustrative example, zero-point-eight remains above zero-point-four, and zero-point-four-five remains above zero-point-two. The order is unchanged, so the ranking can still look fine. But the meaning of the probabilities has shifted. Cliniverse separates that probability question from the ranking question. These example numbers are illustrative, not project results.</a:t>
            </a:r>
          </a:p>
          <a:p xmlns:a="http://schemas.openxmlformats.org/drawingml/2006/main">
            <a:r>
              <a:t/>
            </a:r>
          </a:p>
          <a:p xmlns:a="http://schemas.openxmlformats.org/drawingml/2006/main">
            <a:r>
              <a:t>[Sources]</a:t>
            </a:r>
          </a:p>
          <a:p xmlns:a="http://schemas.openxmlformats.org/drawingml/2006/main">
            <a:r>
              <a:t>- README.md — problem framing</a:t>
            </a:r>
          </a:p>
          <a:p xmlns:a="http://schemas.openxmlformats.org/drawingml/2006/main">
            <a:r>
              <a:t>- Illustrative values supplied in the presentation brief; not project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mortality predictor is the model under test, not the product. Think of that model as a car. Cliniverse is the crash-test facility around it. We deliberately stress the model's information environment, compare the damage with a matched control, and turn the result into reliability evidence. This is for model developers, ML researchers, and governance teams—not doctors or patients.</a:t>
            </a:r>
          </a:p>
          <a:p xmlns:a="http://schemas.openxmlformats.org/drawingml/2006/main">
            <a:r>
              <a:t/>
            </a:r>
          </a:p>
          <a:p xmlns:a="http://schemas.openxmlformats.org/drawingml/2006/main">
            <a:r>
              <a:t>[Sources]</a:t>
            </a:r>
          </a:p>
          <a:p xmlns:a="http://schemas.openxmlformats.org/drawingml/2006/main">
            <a:r>
              <a:t>- README.md — product definition and crash-test analogy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method is a disciplined sequence: stress, control, search, stabilise, freeze, confirm, and evidence. The critical stage is the matched control. Removing information always hurts somewhat, so the candidate is compared against deleting the same number of cells at random from the same patients. The search and stability work happen only on development data. Then the model, preprocessing, pattern, and statistical contract are frozen before one quarantined holdout confirmation.</a:t>
            </a:r>
          </a:p>
          <a:p xmlns:a="http://schemas.openxmlformats.org/drawingml/2006/main">
            <a:r>
              <a:t/>
            </a:r>
          </a:p>
          <a:p xmlns:a="http://schemas.openxmlformats.org/drawingml/2006/main">
            <a:r>
              <a:t>[Sources]</a:t>
            </a:r>
          </a:p>
          <a:p xmlns:a="http://schemas.openxmlformats.org/drawingml/2006/main">
            <a:r>
              <a:t>- docs/readme-assets/workflow.svg</a:t>
            </a:r>
          </a:p>
          <a:p xmlns:a="http://schemas.openxmlformats.org/drawingml/2006/main">
            <a:r>
              <a:t>- README.md — amount-matched control and validation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Cliniverse starts with the PhysioNet Computing in Cardiology 2012 cohort and a frozen XGBoost mortality model using values plus missingness indicators through a twenty-four-hour cutoff. The reliability engine runs candidate stress and amount-matched control conditions, then performs stability selection across development resplits. A hash-sealed contract governs the single Set-C confirmation. Committed evidence then feeds the read-only React interface hosted on Firebase.</a:t>
            </a:r>
          </a:p>
          <a:p xmlns:a="http://schemas.openxmlformats.org/drawingml/2006/main">
            <a:r>
              <a:t/>
            </a:r>
          </a:p>
          <a:p xmlns:a="http://schemas.openxmlformats.org/drawingml/2006/main">
            <a:r>
              <a:t>[Sources]</a:t>
            </a:r>
          </a:p>
          <a:p xmlns:a="http://schemas.openxmlformats.org/drawingml/2006/main">
            <a:r>
              <a:t>- README.md — dataset, model contract, architecture, and deployment</a:t>
            </a:r>
          </a:p>
          <a:p xmlns:a="http://schemas.openxmlformats.org/drawingml/2006/main">
            <a:r>
              <a:t>- Repository frontend and experiment 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every candidate deletion, Cliniverse constructs an amount-matched random deletion. Both operate on the same patients and remove the same number of cells. The measurement is not raw degradation; it is the excess probability loss of the candidate over that control. We evaluated one hundred forty-one candidate patterns over twenty development resplits. The final exact pattern appeared in eleven of twenty resplits—the minimum majority threshold, passed by a single resplit. That is evidence, but deliberately not overstated stability.</a:t>
            </a:r>
          </a:p>
          <a:p xmlns:a="http://schemas.openxmlformats.org/drawingml/2006/main">
            <a:r>
              <a:t/>
            </a:r>
          </a:p>
          <a:p xmlns:a="http://schemas.openxmlformats.org/drawingml/2006/main">
            <a:r>
              <a:t>[Sources]</a:t>
            </a:r>
          </a:p>
          <a:p xmlns:a="http://schemas.openxmlformats.org/drawingml/2006/main">
            <a:r>
              <a:t>- README.md — amount-matched experiment, 141 candidates, 20 resplits, G2 stability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four-thousand-patient holdout, the frozen BUN plus Glucose plus sodium pattern produced excess probability loss of plus zero-point-zero-one-eight-three-four-seven. The one-sided ninety-five percent lower bound was plus zero-point-zero-one-two-four-two-one, safely above zero. AUROC moved from zero-point-eight-three-four-nine-nine-four to zero-point-eight-two-three-five-three-four—a drop of zero-point-zero-one-one-four-six-one. Mean predicted risk fell from about fourteen percent to ten-point-four percent, against observed mortality of fourteen-point-six-two-five percent. Probability behavior degraded while ranking changed only modestly.</a:t>
            </a:r>
          </a:p>
          <a:p xmlns:a="http://schemas.openxmlformats.org/drawingml/2006/main">
            <a:r>
              <a:t/>
            </a:r>
          </a:p>
          <a:p xmlns:a="http://schemas.openxmlformats.org/drawingml/2006/main">
            <a:r>
              <a:t>[Sources]</a:t>
            </a:r>
          </a:p>
          <a:p xmlns:a="http://schemas.openxmlformats.org/drawingml/2006/main">
            <a:r>
              <a:t>- C:/Users/OMEN/Downloads/Holdout confirmation.png</a:t>
            </a:r>
          </a:p>
          <a:p xmlns:a="http://schemas.openxmlformats.org/drawingml/2006/main">
            <a:r>
              <a:t>- README.md — Set-C result and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result is not trapped in a static chart. Cliniverse exposes six read-only product areas, each backed by committed evidence. I will switch to the live browser now and follow this path: Overview, Stress Lab, Reliability Report, Artifacts, and Experiments.</a:t>
            </a:r>
          </a:p>
          <a:p xmlns:a="http://schemas.openxmlformats.org/drawingml/2006/main">
            <a:r>
              <a:t/>
            </a:r>
          </a:p>
          <a:p xmlns:a="http://schemas.openxmlformats.org/drawingml/2006/main">
            <a:r>
              <a:t>[BROWSER SWITCH — OPEN https://cliniverse-lab.web.app]</a:t>
            </a:r>
          </a:p>
          <a:p xmlns:a="http://schemas.openxmlformats.org/drawingml/2006/main">
            <a:r>
              <a:t/>
            </a:r>
          </a:p>
          <a:p xmlns:a="http://schemas.openxmlformats.org/drawingml/2006/main">
            <a:r>
              <a:t>OVERVIEW: Point to the confirmed BUN plus Glucose plus sodium pattern and say: ‘This is the one frozen pattern that reached the holdout. The three headline metrics are excess probability loss, its one-sided lower bound, and the modest AUROC drop.’</a:t>
            </a:r>
          </a:p>
          <a:p xmlns:a="http://schemas.openxmlformats.org/drawingml/2006/main">
            <a:r>
              <a:t/>
            </a:r>
          </a:p>
          <a:p xmlns:a="http://schemas.openxmlformats.org/drawingml/2006/main">
            <a:r>
              <a:t>STRESS LAB: Click Stress Lab. Say: ‘This is a replay of committed experiments, not a new holdout run. Set C is spent.’ Click requested severity 0.25, then 0.75. Say: ‘These controls re-read saved artifacts to show the severity response; they do not rerun scientific inference.’</a:t>
            </a:r>
          </a:p>
          <a:p xmlns:a="http://schemas.openxmlformats.org/drawingml/2006/main">
            <a:r>
              <a:t/>
            </a:r>
          </a:p>
          <a:p xmlns:a="http://schemas.openxmlformats.org/drawingml/2006/main">
            <a:r>
              <a:t>RELIABILITY REPORT: Click Reliability Report. Point to the AUROC movement, NLL or probability reliability degradation, mean risk shift, and the calibration and risk charts. Say: ‘The ranking curves stay close, but the probability and calibration views show the material shift.’</a:t>
            </a:r>
          </a:p>
          <a:p xmlns:a="http://schemas.openxmlformats.org/drawingml/2006/main">
            <a:r>
              <a:t/>
            </a:r>
          </a:p>
          <a:p xmlns:a="http://schemas.openxmlformats.org/drawingml/2006/main">
            <a:r>
              <a:t>ARTIFACTS: Click Artifacts. Say: ‘Every visual resolves to committed evidence. The fitted objects were hash-verified before the holdout opened, and the displayed figures are independently recomputable.’</a:t>
            </a:r>
          </a:p>
          <a:p xmlns:a="http://schemas.openxmlformats.org/drawingml/2006/main">
            <a:r>
              <a:t/>
            </a:r>
          </a:p>
          <a:p xmlns:a="http://schemas.openxmlformats.org/drawingml/2006/main">
            <a:r>
              <a:t>EXPERIMENTS: Click Experiments. Point to M5-v1 and say: ‘The first primary search failed. We kept that negative result.’ Point to Set C and say: ‘Final confirmation executed once. Set C is now spent.’</a:t>
            </a:r>
          </a:p>
          <a:p xmlns:a="http://schemas.openxmlformats.org/drawingml/2006/main">
            <a:r>
              <a:t/>
            </a:r>
          </a:p>
          <a:p xmlns:a="http://schemas.openxmlformats.org/drawingml/2006/main">
            <a:r>
              <a:t>[BROWSER SWITCH — RETURN TO SLIDE 9]</a:t>
            </a:r>
          </a:p>
          <a:p xmlns:a="http://schemas.openxmlformats.org/drawingml/2006/main">
            <a:r>
              <a:t/>
            </a:r>
          </a:p>
          <a:p xmlns:a="http://schemas.openxmlformats.org/drawingml/2006/main">
            <a:r>
              <a:t>If the site loads slowly, say: ‘The live site is loading; the same committed product surfaces are captured in the deck, so I will continue with the verified evidence and return if time permits.’</a:t>
            </a:r>
          </a:p>
          <a:p xmlns:a="http://schemas.openxmlformats.org/drawingml/2006/main">
            <a:r>
              <a:t/>
            </a:r>
          </a:p>
          <a:p xmlns:a="http://schemas.openxmlformats.org/drawingml/2006/main">
            <a:r>
              <a:t>[Sources]</a:t>
            </a:r>
          </a:p>
          <a:p xmlns:a="http://schemas.openxmlformats.org/drawingml/2006/main">
            <a:r>
              <a:t>- All six screenshots in docs/readme-assets/screens/</a:t>
            </a:r>
          </a:p>
          <a:p xmlns:a="http://schemas.openxmlformats.org/drawingml/2006/main">
            <a:r>
              <a:t>- https://cliniverse-lab.web.app</a:t>
            </a:r>
          </a:p>
          <a:p xmlns:a="http://schemas.openxmlformats.org/drawingml/2006/main">
            <a:r>
              <a:t>- README.md — interface and execution semantics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Cliniverse contributes three things. It discovers fragile information dependencies under controlled synthetic stress. It verifies one frozen claim under a fixed evaluation contract. And it makes the evidence and provenance inspectable. The boundary matters: this is a research and model-governance prototype. It is not clinically validated, and it performs no patient-level decision making.</a:t>
            </a:r>
          </a:p>
          <a:p xmlns:a="http://schemas.openxmlformats.org/drawingml/2006/main">
            <a:r>
              <a:t/>
            </a:r>
          </a:p>
          <a:p xmlns:a="http://schemas.openxmlformats.org/drawingml/2006/main">
            <a:r>
              <a:t>[Sources]</a:t>
            </a:r>
          </a:p>
          <a:p xmlns:a="http://schemas.openxmlformats.org/drawingml/2006/main">
            <a:r>
              <a:t>- README.md — scope, limitations, and research-use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trust a prediction in a high-stakes environment, we should crash-test the probability—not only admire the ranking score. Cliniverse turns hidden reliability failure into controlled, frozen, traceable evidence. Stress. Control. Freeze. Confirm. That is Cliniverse: the Healthcare AI Reliability Lab.</a:t>
            </a:r>
          </a:p>
          <a:p xmlns:a="http://schemas.openxmlformats.org/drawingml/2006/main">
            <a:r>
              <a:t/>
            </a:r>
          </a:p>
          <a:p xmlns:a="http://schemas.openxmlformats.org/drawingml/2006/main">
            <a:r>
              <a:t>[Sources]</a:t>
            </a:r>
          </a:p>
          <a:p xmlns:a="http://schemas.openxmlformats.org/drawingml/2006/main">
            <a:r>
              <a:t>- Project synthesis based on README.md and the confirmed holdout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9ec67b5c7a49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96bc303d274873" /><Relationship Type="http://schemas.openxmlformats.org/officeDocument/2006/relationships/slideLayout" Target="/ppt/slideLayouts/slideLayout1.xml" Id="Rce9c22d5362d48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9c22d5362d48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liniverse">
  <a:themeElements>
    <a:clrScheme name="Clinivers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liniver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78dab1e542408d" /><Relationship Type="http://schemas.openxmlformats.org/officeDocument/2006/relationships/image" Target="/ppt/media/image.png" Id="R98bbbaacbc9b4500" /><Relationship Type="http://schemas.openxmlformats.org/officeDocument/2006/relationships/image" Target="/ppt/media/image2.png" Id="R11aa3fd366ab4148" /><Relationship Type="http://schemas.openxmlformats.org/officeDocument/2006/relationships/notesSlide" Target="/ppt/notesSlides/notesSlide1.xml" Id="R175fd676e1484f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4d894906cda4ed9" /><Relationship Type="http://schemas.openxmlformats.org/officeDocument/2006/relationships/notesSlide" Target="/ppt/notesSlides/notesSlide2.xml" Id="R6177ff25b53f46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f27b7d957fc4f14" /><Relationship Type="http://schemas.openxmlformats.org/officeDocument/2006/relationships/notesSlide" Target="/ppt/notesSlides/notesSlide3.xml" Id="Rbe482fcddcfd41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4e98af470954009" /><Relationship Type="http://schemas.openxmlformats.org/officeDocument/2006/relationships/image" Target="/ppt/media/image3.png" Id="R505b764303f54870" /><Relationship Type="http://schemas.openxmlformats.org/officeDocument/2006/relationships/notesSlide" Target="/ppt/notesSlides/notesSlide4.xml" Id="R384803f41fdd43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633738bcec4ff7" /><Relationship Type="http://schemas.openxmlformats.org/officeDocument/2006/relationships/notesSlide" Target="/ppt/notesSlides/notesSlide5.xml" Id="R9ad0b9f5cec740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ac1033a5279463f" /><Relationship Type="http://schemas.openxmlformats.org/officeDocument/2006/relationships/notesSlide" Target="/ppt/notesSlides/notesSlide6.xml" Id="Ra8e24a6cd66845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2b00f1b23a84f2e" /><Relationship Type="http://schemas.openxmlformats.org/officeDocument/2006/relationships/image" Target="/ppt/media/image4.png" Id="R8d638ae415e142a6" /><Relationship Type="http://schemas.openxmlformats.org/officeDocument/2006/relationships/notesSlide" Target="/ppt/notesSlides/notesSlide7.xml" Id="R6d210e1fa9894c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f4ae369a7704872" /><Relationship Type="http://schemas.openxmlformats.org/officeDocument/2006/relationships/image" Target="/ppt/media/image5.png" Id="Rb4c3acb4bb1d4082" /><Relationship Type="http://schemas.openxmlformats.org/officeDocument/2006/relationships/image" Target="/ppt/media/image6.png" Id="Re7b44adb335b4e3f" /><Relationship Type="http://schemas.openxmlformats.org/officeDocument/2006/relationships/image" Target="/ppt/media/image7.png" Id="R9c44ffe73f2243ae" /><Relationship Type="http://schemas.openxmlformats.org/officeDocument/2006/relationships/image" Target="/ppt/media/image8.png" Id="R7e6db2e313274b15" /><Relationship Type="http://schemas.openxmlformats.org/officeDocument/2006/relationships/image" Target="/ppt/media/image9.png" Id="Rcbdd0a1169914955" /><Relationship Type="http://schemas.openxmlformats.org/officeDocument/2006/relationships/image" Target="/ppt/media/image10.png" Id="R0ae6846842bc4dc0" /><Relationship Type="http://schemas.openxmlformats.org/officeDocument/2006/relationships/notesSlide" Target="/ppt/notesSlides/notesSlide8.xml" Id="R7250bff697034c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f08bfbaa2ab4685" /><Relationship Type="http://schemas.openxmlformats.org/officeDocument/2006/relationships/notesSlide" Target="/ppt/notesSlides/notesSlide9.xml" Id="R6b49980c688b484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6bbd409e9cf4092" /><Relationship Type="http://schemas.openxmlformats.org/officeDocument/2006/relationships/image" Target="/ppt/media/image11.png" Id="R3354f3774f2d4c82" /><Relationship Type="http://schemas.openxmlformats.org/officeDocument/2006/relationships/notesSlide" Target="/ppt/notesSlides/notesSlide10.xml" Id="R9d2a49558bb64e7b" /></Relationships>
</file>

<file path=ppt/slides/slide1.xml><?xml version="1.0" encoding="utf-8"?>
<p:sld xmlns:p="http://schemas.openxmlformats.org/presentationml/2006/main">
  <p:cSld>
    <p:bg>
      <p:bgPr>
        <a:solidFill xmlns:a="http://schemas.openxmlformats.org/drawingml/2006/main">
          <a:srgbClr val="F5F9FA"/>
        </a:solidFill>
      </p:bgPr>
    </p:bg>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98bbbaacbc9b4500"/>
          <a:stretch xmlns:a="http://schemas.openxmlformats.org/drawingml/2006/main"/>
        </p:blipFill>
        <p:spPr>
          <a:xfrm xmlns:a="http://schemas.openxmlformats.org/drawingml/2006/main">
            <a:off x="685800" y="438150"/>
            <a:ext cx="400050" cy="400050"/>
          </a:xfrm>
          <a:prstGeom xmlns:a="http://schemas.openxmlformats.org/drawingml/2006/main" prst="roundRect">
            <a:avLst>
              <a:gd name="adj" fmla="val 19048"/>
            </a:avLst>
          </a:prstGeom>
        </p:spPr>
      </p:pic>
      <p:sp>
        <p:nvSpPr>
          <p:cNvPr id="2" name="">
            <a:extLst xmlns:a="http://schemas.openxmlformats.org/drawingml/2006/main">
              <a:ext uri="{FF2B5EF4-FFF2-40B4-BE49-F238E27FC236}">
                <a16:creationId xmlns:a16="http://schemas.microsoft.com/office/drawing/2014/main" id="{77CDEF91-5A3F-4AFC-B8CC-53422BC2E4C2}"/>
              </a:ext>
            </a:extLst>
          </p:cNvPr>
          <p:cNvSpPr>
            <a:spLocks xmlns:a="http://schemas.openxmlformats.org/drawingml/2006/main" noGrp="1"/>
          </p:cNvSpPr>
          <p:nvPr/>
        </p:nvSpPr>
        <p:spPr>
          <a:xfrm xmlns:a="http://schemas.openxmlformats.org/drawingml/2006/main">
            <a:off x="1200150" y="5048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0B1D45"/>
                </a:solidFill>
              </a:defRPr>
            </a:pPr>
            <a:r>
              <a:rPr sz="1275" b="1">
                <a:solidFill>
                  <a:srgbClr val="0B1D45"/>
                </a:solidFill>
              </a:rPr>
              <a:t>CLINIVERSE</a:t>
            </a:r>
          </a:p>
        </p:txBody>
      </p:sp>
      <p:sp>
        <p:nvSpPr>
          <p:cNvPr id="3" name="">
            <a:extLst xmlns:a="http://schemas.openxmlformats.org/drawingml/2006/main">
              <a:ext uri="{FF2B5EF4-FFF2-40B4-BE49-F238E27FC236}">
                <a16:creationId xmlns:a16="http://schemas.microsoft.com/office/drawing/2014/main" id="{21B3FFB8-A58C-4AEC-8398-CA423262A45F}"/>
              </a:ext>
            </a:extLst>
          </p:cNvPr>
          <p:cNvSpPr>
            <a:spLocks xmlns:a="http://schemas.openxmlformats.org/drawingml/2006/main" noGrp="1"/>
          </p:cNvSpPr>
          <p:nvPr/>
        </p:nvSpPr>
        <p:spPr>
          <a:xfrm xmlns:a="http://schemas.openxmlformats.org/drawingml/2006/main">
            <a:off x="685800" y="1219200"/>
            <a:ext cx="52387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1D45"/>
                </a:solidFill>
              </a:defRPr>
            </a:pPr>
            <a:r>
              <a:rPr sz="3150" b="1">
                <a:solidFill>
                  <a:srgbClr val="0B1D45"/>
                </a:solidFill>
              </a:rPr>
              <a:t>The ranking still looked reasonable.</a:t>
            </a:r>
          </a:p>
        </p:txBody>
      </p:sp>
      <p:sp>
        <p:nvSpPr>
          <p:cNvPr id="4" name="">
            <a:extLst xmlns:a="http://schemas.openxmlformats.org/drawingml/2006/main">
              <a:ext uri="{FF2B5EF4-FFF2-40B4-BE49-F238E27FC236}">
                <a16:creationId xmlns:a16="http://schemas.microsoft.com/office/drawing/2014/main" id="{9C01A19F-0882-49EF-9BF7-C18EFC46743A}"/>
              </a:ext>
            </a:extLst>
          </p:cNvPr>
          <p:cNvSpPr>
            <a:spLocks xmlns:a="http://schemas.openxmlformats.org/drawingml/2006/main" noGrp="1"/>
          </p:cNvSpPr>
          <p:nvPr/>
        </p:nvSpPr>
        <p:spPr>
          <a:xfrm xmlns:a="http://schemas.openxmlformats.org/drawingml/2006/main">
            <a:off x="685800" y="2571750"/>
            <a:ext cx="533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450" b="1">
                <a:solidFill>
                  <a:srgbClr val="0A9F9B"/>
                </a:solidFill>
              </a:defRPr>
            </a:pPr>
            <a:r>
              <a:rPr sz="3450" b="1">
                <a:solidFill>
                  <a:srgbClr val="0A9F9B"/>
                </a:solidFill>
              </a:rPr>
              <a:t>The probabilities did not.</a:t>
            </a:r>
          </a:p>
        </p:txBody>
      </p:sp>
      <p:sp>
        <p:nvSpPr>
          <p:cNvPr id="5" name="">
            <a:extLst xmlns:a="http://schemas.openxmlformats.org/drawingml/2006/main">
              <a:ext uri="{FF2B5EF4-FFF2-40B4-BE49-F238E27FC236}">
                <a16:creationId xmlns:a16="http://schemas.microsoft.com/office/drawing/2014/main" id="{91C52F3B-C467-4F43-9A59-E181935A1A69}"/>
              </a:ext>
            </a:extLst>
          </p:cNvPr>
          <p:cNvSpPr>
            <a:spLocks xmlns:a="http://schemas.openxmlformats.org/drawingml/2006/main" noGrp="1"/>
          </p:cNvSpPr>
          <p:nvPr/>
        </p:nvSpPr>
        <p:spPr>
          <a:xfrm xmlns:a="http://schemas.openxmlformats.org/drawingml/2006/main">
            <a:off x="685800" y="337185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66758F"/>
                </a:solidFill>
              </a:defRPr>
            </a:pPr>
            <a:r>
              <a:rPr sz="1650" b="0">
                <a:solidFill>
                  <a:srgbClr val="66758F"/>
                </a:solidFill>
              </a:rPr>
              <a:t>Healthcare AI Reliability Lab</a:t>
            </a:r>
          </a:p>
        </p:txBody>
      </p:sp>
      <p:sp>
        <p:nvSpPr>
          <p:cNvPr id="6" name="">
            <a:extLst xmlns:a="http://schemas.openxmlformats.org/drawingml/2006/main">
              <a:ext uri="{FF2B5EF4-FFF2-40B4-BE49-F238E27FC236}">
                <a16:creationId xmlns:a16="http://schemas.microsoft.com/office/drawing/2014/main" id="{2D52E6C3-461A-4532-8C79-B1D6855E748E}"/>
              </a:ext>
            </a:extLst>
          </p:cNvPr>
          <p:cNvSpPr>
            <a:spLocks xmlns:a="http://schemas.openxmlformats.org/drawingml/2006/main" noGrp="1"/>
          </p:cNvSpPr>
          <p:nvPr/>
        </p:nvSpPr>
        <p:spPr>
          <a:xfrm xmlns:a="http://schemas.openxmlformats.org/drawingml/2006/main">
            <a:off x="685800" y="4095750"/>
            <a:ext cx="419100" cy="0"/>
          </a:xfrm>
          <a:prstGeom xmlns:a="http://schemas.openxmlformats.org/drawingml/2006/main" prst="line">
            <a:avLst/>
          </a:prstGeom>
          <a:noFill xmlns:a="http://schemas.openxmlformats.org/drawingml/2006/main"/>
          <a:ln xmlns:a="http://schemas.openxmlformats.org/drawingml/2006/main" w="38100">
            <a:solidFill>
              <a:srgbClr val="0A9F9B"/>
            </a:solidFill>
            <a:prstDash val="solid"/>
          </a:ln>
        </p:spPr>
      </p:sp>
      <p:sp>
        <p:nvSpPr>
          <p:cNvPr id="7" name="">
            <a:extLst xmlns:a="http://schemas.openxmlformats.org/drawingml/2006/main">
              <a:ext uri="{FF2B5EF4-FFF2-40B4-BE49-F238E27FC236}">
                <a16:creationId xmlns:a16="http://schemas.microsoft.com/office/drawing/2014/main" id="{A4274F35-2D55-4305-81AF-4E8B32544C2C}"/>
              </a:ext>
            </a:extLst>
          </p:cNvPr>
          <p:cNvSpPr>
            <a:spLocks xmlns:a="http://schemas.openxmlformats.org/drawingml/2006/main" noGrp="1"/>
          </p:cNvSpPr>
          <p:nvPr/>
        </p:nvSpPr>
        <p:spPr>
          <a:xfrm xmlns:a="http://schemas.openxmlformats.org/drawingml/2006/main">
            <a:off x="685800" y="4248150"/>
            <a:ext cx="1638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66758F"/>
                </a:solidFill>
              </a:defRPr>
            </a:pPr>
            <a:r>
              <a:rPr sz="1200" b="0">
                <a:solidFill>
                  <a:srgbClr val="66758F"/>
                </a:solidFill>
              </a:rPr>
              <a:t>AUROC</a:t>
            </a:r>
          </a:p>
        </p:txBody>
      </p:sp>
      <p:sp>
        <p:nvSpPr>
          <p:cNvPr id="8" name="">
            <a:extLst xmlns:a="http://schemas.openxmlformats.org/drawingml/2006/main">
              <a:ext uri="{FF2B5EF4-FFF2-40B4-BE49-F238E27FC236}">
                <a16:creationId xmlns:a16="http://schemas.microsoft.com/office/drawing/2014/main" id="{06CBD20A-FB55-4206-9EAA-302469903B94}"/>
              </a:ext>
            </a:extLst>
          </p:cNvPr>
          <p:cNvSpPr>
            <a:spLocks xmlns:a="http://schemas.openxmlformats.org/drawingml/2006/main" noGrp="1"/>
          </p:cNvSpPr>
          <p:nvPr/>
        </p:nvSpPr>
        <p:spPr>
          <a:xfrm xmlns:a="http://schemas.openxmlformats.org/drawingml/2006/main">
            <a:off x="685800" y="4533900"/>
            <a:ext cx="1638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0B1D45"/>
                </a:solidFill>
              </a:defRPr>
            </a:pPr>
            <a:r>
              <a:rPr sz="2325" b="1">
                <a:solidFill>
                  <a:srgbClr val="0B1D45"/>
                </a:solidFill>
              </a:rPr>
              <a:t>0.835 → 0.824</a:t>
            </a:r>
          </a:p>
        </p:txBody>
      </p:sp>
      <p:sp>
        <p:nvSpPr>
          <p:cNvPr id="9" name="">
            <a:extLst xmlns:a="http://schemas.openxmlformats.org/drawingml/2006/main">
              <a:ext uri="{FF2B5EF4-FFF2-40B4-BE49-F238E27FC236}">
                <a16:creationId xmlns:a16="http://schemas.microsoft.com/office/drawing/2014/main" id="{21FFE982-B11B-442C-B5B3-0AAE11D30842}"/>
              </a:ext>
            </a:extLst>
          </p:cNvPr>
          <p:cNvSpPr>
            <a:spLocks xmlns:a="http://schemas.openxmlformats.org/drawingml/2006/main" noGrp="1"/>
          </p:cNvSpPr>
          <p:nvPr/>
        </p:nvSpPr>
        <p:spPr>
          <a:xfrm xmlns:a="http://schemas.openxmlformats.org/drawingml/2006/main">
            <a:off x="2590800" y="4095750"/>
            <a:ext cx="419100" cy="0"/>
          </a:xfrm>
          <a:prstGeom xmlns:a="http://schemas.openxmlformats.org/drawingml/2006/main" prst="line">
            <a:avLst/>
          </a:prstGeom>
          <a:noFill xmlns:a="http://schemas.openxmlformats.org/drawingml/2006/main"/>
          <a:ln xmlns:a="http://schemas.openxmlformats.org/drawingml/2006/main" w="38100">
            <a:solidFill>
              <a:srgbClr val="0A9F9B"/>
            </a:solidFill>
            <a:prstDash val="solid"/>
          </a:ln>
        </p:spPr>
      </p:sp>
      <p:sp>
        <p:nvSpPr>
          <p:cNvPr id="10" name="">
            <a:extLst xmlns:a="http://schemas.openxmlformats.org/drawingml/2006/main">
              <a:ext uri="{FF2B5EF4-FFF2-40B4-BE49-F238E27FC236}">
                <a16:creationId xmlns:a16="http://schemas.microsoft.com/office/drawing/2014/main" id="{89C08BA2-A01B-4F8D-98AB-402979CA72AF}"/>
              </a:ext>
            </a:extLst>
          </p:cNvPr>
          <p:cNvSpPr>
            <a:spLocks xmlns:a="http://schemas.openxmlformats.org/drawingml/2006/main" noGrp="1"/>
          </p:cNvSpPr>
          <p:nvPr/>
        </p:nvSpPr>
        <p:spPr>
          <a:xfrm xmlns:a="http://schemas.openxmlformats.org/drawingml/2006/main">
            <a:off x="2590800" y="42481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66758F"/>
                </a:solidFill>
              </a:defRPr>
            </a:pPr>
            <a:r>
              <a:rPr sz="1200" b="0">
                <a:solidFill>
                  <a:srgbClr val="66758F"/>
                </a:solidFill>
              </a:rPr>
              <a:t>Mean predicted risk</a:t>
            </a:r>
          </a:p>
        </p:txBody>
      </p:sp>
      <p:sp>
        <p:nvSpPr>
          <p:cNvPr id="11" name="">
            <a:extLst xmlns:a="http://schemas.openxmlformats.org/drawingml/2006/main">
              <a:ext uri="{FF2B5EF4-FFF2-40B4-BE49-F238E27FC236}">
                <a16:creationId xmlns:a16="http://schemas.microsoft.com/office/drawing/2014/main" id="{69BC57BF-85EB-4985-BA5A-CB98E0D58718}"/>
              </a:ext>
            </a:extLst>
          </p:cNvPr>
          <p:cNvSpPr>
            <a:spLocks xmlns:a="http://schemas.openxmlformats.org/drawingml/2006/main" noGrp="1"/>
          </p:cNvSpPr>
          <p:nvPr/>
        </p:nvSpPr>
        <p:spPr>
          <a:xfrm xmlns:a="http://schemas.openxmlformats.org/drawingml/2006/main">
            <a:off x="2590800" y="4533900"/>
            <a:ext cx="1847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E95B19"/>
                </a:solidFill>
              </a:defRPr>
            </a:pPr>
            <a:r>
              <a:rPr sz="2325" b="1">
                <a:solidFill>
                  <a:srgbClr val="E95B19"/>
                </a:solidFill>
              </a:rPr>
              <a:t>14.0% → 10.4%</a:t>
            </a:r>
          </a:p>
        </p:txBody>
      </p:sp>
      <p:sp>
        <p:nvSpPr>
          <p:cNvPr id="12" name="">
            <a:extLst xmlns:a="http://schemas.openxmlformats.org/drawingml/2006/main">
              <a:ext uri="{FF2B5EF4-FFF2-40B4-BE49-F238E27FC236}">
                <a16:creationId xmlns:a16="http://schemas.microsoft.com/office/drawing/2014/main" id="{A2968538-E488-4C1B-9311-4FF66B327591}"/>
              </a:ext>
            </a:extLst>
          </p:cNvPr>
          <p:cNvSpPr>
            <a:spLocks xmlns:a="http://schemas.openxmlformats.org/drawingml/2006/main" noGrp="1"/>
          </p:cNvSpPr>
          <p:nvPr/>
        </p:nvSpPr>
        <p:spPr>
          <a:xfrm xmlns:a="http://schemas.openxmlformats.org/drawingml/2006/main">
            <a:off x="4724400" y="4095750"/>
            <a:ext cx="419100" cy="0"/>
          </a:xfrm>
          <a:prstGeom xmlns:a="http://schemas.openxmlformats.org/drawingml/2006/main" prst="line">
            <a:avLst/>
          </a:prstGeom>
          <a:noFill xmlns:a="http://schemas.openxmlformats.org/drawingml/2006/main"/>
          <a:ln xmlns:a="http://schemas.openxmlformats.org/drawingml/2006/main" w="38100">
            <a:solidFill>
              <a:srgbClr val="0A9F9B"/>
            </a:solidFill>
            <a:prstDash val="solid"/>
          </a:ln>
        </p:spPr>
      </p:sp>
      <p:sp>
        <p:nvSpPr>
          <p:cNvPr id="13" name="">
            <a:extLst xmlns:a="http://schemas.openxmlformats.org/drawingml/2006/main">
              <a:ext uri="{FF2B5EF4-FFF2-40B4-BE49-F238E27FC236}">
                <a16:creationId xmlns:a16="http://schemas.microsoft.com/office/drawing/2014/main" id="{3EED1241-E73C-454D-B5E8-3E3BFE778D14}"/>
              </a:ext>
            </a:extLst>
          </p:cNvPr>
          <p:cNvSpPr>
            <a:spLocks xmlns:a="http://schemas.openxmlformats.org/drawingml/2006/main" noGrp="1"/>
          </p:cNvSpPr>
          <p:nvPr/>
        </p:nvSpPr>
        <p:spPr>
          <a:xfrm xmlns:a="http://schemas.openxmlformats.org/drawingml/2006/main">
            <a:off x="4724400" y="4248150"/>
            <a:ext cx="1447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66758F"/>
                </a:solidFill>
              </a:defRPr>
            </a:pPr>
            <a:r>
              <a:rPr sz="1200" b="0">
                <a:solidFill>
                  <a:srgbClr val="66758F"/>
                </a:solidFill>
              </a:rPr>
              <a:t>Observed mortality</a:t>
            </a:r>
          </a:p>
        </p:txBody>
      </p:sp>
      <p:sp>
        <p:nvSpPr>
          <p:cNvPr id="14" name="">
            <a:extLst xmlns:a="http://schemas.openxmlformats.org/drawingml/2006/main">
              <a:ext uri="{FF2B5EF4-FFF2-40B4-BE49-F238E27FC236}">
                <a16:creationId xmlns:a16="http://schemas.microsoft.com/office/drawing/2014/main" id="{1C973F33-5B86-4DEC-AC83-02E81E888E18}"/>
              </a:ext>
            </a:extLst>
          </p:cNvPr>
          <p:cNvSpPr>
            <a:spLocks xmlns:a="http://schemas.openxmlformats.org/drawingml/2006/main" noGrp="1"/>
          </p:cNvSpPr>
          <p:nvPr/>
        </p:nvSpPr>
        <p:spPr>
          <a:xfrm xmlns:a="http://schemas.openxmlformats.org/drawingml/2006/main">
            <a:off x="4724400" y="4533900"/>
            <a:ext cx="144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0B1D45"/>
                </a:solidFill>
              </a:defRPr>
            </a:pPr>
            <a:r>
              <a:rPr sz="2325" b="1">
                <a:solidFill>
                  <a:srgbClr val="0B1D45"/>
                </a:solidFill>
              </a:rPr>
              <a:t>14.625%</a:t>
            </a:r>
          </a:p>
        </p:txBody>
      </p:sp>
      <p:sp>
        <p:nvSpPr>
          <p:cNvPr id="15" name="">
            <a:extLst xmlns:a="http://schemas.openxmlformats.org/drawingml/2006/main">
              <a:ext uri="{FF2B5EF4-FFF2-40B4-BE49-F238E27FC236}">
                <a16:creationId xmlns:a16="http://schemas.microsoft.com/office/drawing/2014/main" id="{A9A95BB5-E33F-4DE6-993C-9A280EAEB765}"/>
              </a:ext>
            </a:extLst>
          </p:cNvPr>
          <p:cNvSpPr>
            <a:spLocks xmlns:a="http://schemas.openxmlformats.org/drawingml/2006/main" noGrp="1"/>
          </p:cNvSpPr>
          <p:nvPr/>
        </p:nvSpPr>
        <p:spPr>
          <a:xfrm xmlns:a="http://schemas.openxmlformats.org/drawingml/2006/main">
            <a:off x="6457950" y="552450"/>
            <a:ext cx="5124450" cy="5753100"/>
          </a:xfrm>
          <a:prstGeom xmlns:a="http://schemas.openxmlformats.org/drawingml/2006/main" prst="roundRect">
            <a:avLst>
              <a:gd name="adj" fmla="val 4089"/>
            </a:avLst>
          </a:prstGeom>
          <a:solidFill xmlns:a="http://schemas.openxmlformats.org/drawingml/2006/main">
            <a:srgbClr val="FFFFFF"/>
          </a:solidFill>
          <a:ln xmlns:a="http://schemas.openxmlformats.org/drawingml/2006/main" w="9525">
            <a:solidFill>
              <a:srgbClr val="D8E4E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11aa3fd366ab4148"/>
          <a:stretch xmlns:a="http://schemas.openxmlformats.org/drawingml/2006/main"/>
        </p:blipFill>
        <p:spPr>
          <a:xfrm xmlns:a="http://schemas.openxmlformats.org/drawingml/2006/main">
            <a:off x="6617167" y="704850"/>
            <a:ext cx="4806015" cy="2705100"/>
          </a:xfrm>
          <a:prstGeom xmlns:a="http://schemas.openxmlformats.org/drawingml/2006/main" prst="roundRect">
            <a:avLst>
              <a:gd name="adj" fmla="val 5634"/>
            </a:avLst>
          </a:prstGeom>
        </p:spPr>
      </p:pic>
      <p:sp>
        <p:nvSpPr>
          <p:cNvPr id="17" name="">
            <a:extLst xmlns:a="http://schemas.openxmlformats.org/drawingml/2006/main">
              <a:ext uri="{FF2B5EF4-FFF2-40B4-BE49-F238E27FC236}">
                <a16:creationId xmlns:a16="http://schemas.microsoft.com/office/drawing/2014/main" id="{251A26C8-4607-43A5-9DB3-33D386580367}"/>
              </a:ext>
            </a:extLst>
          </p:cNvPr>
          <p:cNvSpPr>
            <a:spLocks xmlns:a="http://schemas.openxmlformats.org/drawingml/2006/main" noGrp="1"/>
          </p:cNvSpPr>
          <p:nvPr/>
        </p:nvSpPr>
        <p:spPr>
          <a:xfrm xmlns:a="http://schemas.openxmlformats.org/drawingml/2006/main">
            <a:off x="6800850" y="3638550"/>
            <a:ext cx="4400550" cy="2476500"/>
          </a:xfrm>
          <a:prstGeom xmlns:a="http://schemas.openxmlformats.org/drawingml/2006/main" prst="roundRect">
            <a:avLst>
              <a:gd name="adj" fmla="val 6923"/>
            </a:avLst>
          </a:prstGeom>
          <a:solidFill xmlns:a="http://schemas.openxmlformats.org/drawingml/2006/main">
            <a:srgbClr val="F5F9FA"/>
          </a:solidFill>
          <a:ln xmlns:a="http://schemas.openxmlformats.org/drawingml/2006/main" w="9525">
            <a:solidFill>
              <a:srgbClr val="D8E4E8"/>
            </a:solidFill>
            <a:prstDash val="solid"/>
          </a:ln>
        </p:spPr>
      </p:sp>
      <p:sp>
        <p:nvSpPr>
          <p:cNvPr id="18" name="">
            <a:extLst xmlns:a="http://schemas.openxmlformats.org/drawingml/2006/main">
              <a:ext uri="{FF2B5EF4-FFF2-40B4-BE49-F238E27FC236}">
                <a16:creationId xmlns:a16="http://schemas.microsoft.com/office/drawing/2014/main" id="{E84482F4-E6FB-4698-85D8-70B187E89F06}"/>
              </a:ext>
            </a:extLst>
          </p:cNvPr>
          <p:cNvSpPr>
            <a:spLocks xmlns:a="http://schemas.openxmlformats.org/drawingml/2006/main" noGrp="1"/>
          </p:cNvSpPr>
          <p:nvPr/>
        </p:nvSpPr>
        <p:spPr>
          <a:xfrm xmlns:a="http://schemas.openxmlformats.org/drawingml/2006/main">
            <a:off x="7067550" y="38862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0A9F9B"/>
                </a:solidFill>
              </a:defRPr>
            </a:pPr>
            <a:r>
              <a:rPr sz="1125" b="1">
                <a:solidFill>
                  <a:srgbClr val="0A9F9B"/>
                </a:solidFill>
              </a:rPr>
              <a:t>CONFIRMED PATTERN</a:t>
            </a:r>
          </a:p>
        </p:txBody>
      </p:sp>
      <p:sp>
        <p:nvSpPr>
          <p:cNvPr id="19" name="">
            <a:extLst xmlns:a="http://schemas.openxmlformats.org/drawingml/2006/main">
              <a:ext uri="{FF2B5EF4-FFF2-40B4-BE49-F238E27FC236}">
                <a16:creationId xmlns:a16="http://schemas.microsoft.com/office/drawing/2014/main" id="{4AE92DDC-DF49-4B62-B021-B6BF4B172CFA}"/>
              </a:ext>
            </a:extLst>
          </p:cNvPr>
          <p:cNvSpPr>
            <a:spLocks xmlns:a="http://schemas.openxmlformats.org/drawingml/2006/main" noGrp="1"/>
          </p:cNvSpPr>
          <p:nvPr/>
        </p:nvSpPr>
        <p:spPr>
          <a:xfrm xmlns:a="http://schemas.openxmlformats.org/drawingml/2006/main">
            <a:off x="7067550" y="428625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0B1D45"/>
                </a:solidFill>
              </a:defRPr>
            </a:pPr>
            <a:r>
              <a:rPr sz="2025" b="1">
                <a:solidFill>
                  <a:srgbClr val="0B1D45"/>
                </a:solidFill>
              </a:rPr>
              <a:t>BUN + Glucose + Na</a:t>
            </a:r>
          </a:p>
        </p:txBody>
      </p:sp>
      <p:sp>
        <p:nvSpPr>
          <p:cNvPr id="20" name="">
            <a:extLst xmlns:a="http://schemas.openxmlformats.org/drawingml/2006/main">
              <a:ext uri="{FF2B5EF4-FFF2-40B4-BE49-F238E27FC236}">
                <a16:creationId xmlns:a16="http://schemas.microsoft.com/office/drawing/2014/main" id="{B366A630-17E4-45FE-9585-F7F97B5C7BC9}"/>
              </a:ext>
            </a:extLst>
          </p:cNvPr>
          <p:cNvSpPr>
            <a:spLocks xmlns:a="http://schemas.openxmlformats.org/drawingml/2006/main" noGrp="1"/>
          </p:cNvSpPr>
          <p:nvPr/>
        </p:nvSpPr>
        <p:spPr>
          <a:xfrm xmlns:a="http://schemas.openxmlformats.org/drawingml/2006/main">
            <a:off x="7067550" y="4876800"/>
            <a:ext cx="1485900" cy="361950"/>
          </a:xfrm>
          <a:prstGeom xmlns:a="http://schemas.openxmlformats.org/drawingml/2006/main" prst="roundRect">
            <a:avLst>
              <a:gd name="adj" fmla="val 50000"/>
            </a:avLst>
          </a:prstGeom>
          <a:solidFill xmlns:a="http://schemas.openxmlformats.org/drawingml/2006/main">
            <a:srgbClr val="0B1D45"/>
          </a:solidFill>
          <a:ln xmlns:a="http://schemas.openxmlformats.org/drawingml/2006/main" w="9525">
            <a:solidFill>
              <a:srgbClr val="0B1D45"/>
            </a:solidFill>
            <a:prstDash val="solid"/>
          </a:ln>
        </p:spPr>
      </p:sp>
      <p:sp>
        <p:nvSpPr>
          <p:cNvPr id="21" name="">
            <a:extLst xmlns:a="http://schemas.openxmlformats.org/drawingml/2006/main">
              <a:ext uri="{FF2B5EF4-FFF2-40B4-BE49-F238E27FC236}">
                <a16:creationId xmlns:a16="http://schemas.microsoft.com/office/drawing/2014/main" id="{CD080423-22BF-4E90-A09F-5E0787BB7BDD}"/>
              </a:ext>
            </a:extLst>
          </p:cNvPr>
          <p:cNvSpPr>
            <a:spLocks xmlns:a="http://schemas.openxmlformats.org/drawingml/2006/main" noGrp="1"/>
          </p:cNvSpPr>
          <p:nvPr/>
        </p:nvSpPr>
        <p:spPr>
          <a:xfrm xmlns:a="http://schemas.openxmlformats.org/drawingml/2006/main">
            <a:off x="7181850" y="4962525"/>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825" b="1">
                <a:solidFill>
                  <a:srgbClr val="FFFFFF"/>
                </a:solidFill>
              </a:defRPr>
            </a:pPr>
            <a:r>
              <a:rPr sz="825" b="1">
                <a:solidFill>
                  <a:srgbClr val="FFFFFF"/>
                </a:solidFill>
              </a:rPr>
              <a:t>BOTH CONDITIONS PASSED</a:t>
            </a:r>
          </a:p>
        </p:txBody>
      </p:sp>
      <p:sp>
        <p:nvSpPr>
          <p:cNvPr id="22" name="">
            <a:extLst xmlns:a="http://schemas.openxmlformats.org/drawingml/2006/main">
              <a:ext uri="{FF2B5EF4-FFF2-40B4-BE49-F238E27FC236}">
                <a16:creationId xmlns:a16="http://schemas.microsoft.com/office/drawing/2014/main" id="{B31145BA-CB08-4994-868F-F9852B03794E}"/>
              </a:ext>
            </a:extLst>
          </p:cNvPr>
          <p:cNvSpPr>
            <a:spLocks xmlns:a="http://schemas.openxmlformats.org/drawingml/2006/main" noGrp="1"/>
          </p:cNvSpPr>
          <p:nvPr/>
        </p:nvSpPr>
        <p:spPr>
          <a:xfrm xmlns:a="http://schemas.openxmlformats.org/drawingml/2006/main">
            <a:off x="7067550" y="5467350"/>
            <a:ext cx="3714750" cy="0"/>
          </a:xfrm>
          <a:prstGeom xmlns:a="http://schemas.openxmlformats.org/drawingml/2006/main" prst="line">
            <a:avLst/>
          </a:prstGeom>
          <a:noFill xmlns:a="http://schemas.openxmlformats.org/drawingml/2006/main"/>
          <a:ln xmlns:a="http://schemas.openxmlformats.org/drawingml/2006/main" w="9525">
            <a:solidFill>
              <a:srgbClr val="D8E4E8"/>
            </a:solidFill>
            <a:prstDash val="solid"/>
          </a:ln>
        </p:spPr>
      </p:sp>
      <p:sp>
        <p:nvSpPr>
          <p:cNvPr id="23" name="">
            <a:extLst xmlns:a="http://schemas.openxmlformats.org/drawingml/2006/main">
              <a:ext uri="{FF2B5EF4-FFF2-40B4-BE49-F238E27FC236}">
                <a16:creationId xmlns:a16="http://schemas.microsoft.com/office/drawing/2014/main" id="{C3DB70A0-8F15-442B-AB4D-81F6201E85B5}"/>
              </a:ext>
            </a:extLst>
          </p:cNvPr>
          <p:cNvSpPr>
            <a:spLocks xmlns:a="http://schemas.openxmlformats.org/drawingml/2006/main" noGrp="1"/>
          </p:cNvSpPr>
          <p:nvPr/>
        </p:nvSpPr>
        <p:spPr>
          <a:xfrm xmlns:a="http://schemas.openxmlformats.org/drawingml/2006/main">
            <a:off x="7067550" y="565785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66758F"/>
                </a:solidFill>
              </a:defRPr>
            </a:pPr>
            <a:r>
              <a:rPr sz="975" b="1">
                <a:solidFill>
                  <a:srgbClr val="66758F"/>
                </a:solidFill>
              </a:rPr>
              <a:t>141 candidates · 20 development resplits · 4,000-patient holdout</a:t>
            </a:r>
          </a:p>
        </p:txBody>
      </p:sp>
      <p:sp>
        <p:nvSpPr>
          <p:cNvPr id="26" name="">
            <a:extLst xmlns:a="http://schemas.openxmlformats.org/drawingml/2006/main">
              <a:ext uri="{FF2B5EF4-FFF2-40B4-BE49-F238E27FC236}">
                <a16:creationId xmlns:a16="http://schemas.microsoft.com/office/drawing/2014/main" id="{C948887D-614C-4A2B-B5A2-D152F16E5CCE}"/>
              </a:ext>
            </a:extLst>
          </p:cNvPr>
          <p:cNvSpPr>
            <a:spLocks xmlns:a="http://schemas.openxmlformats.org/drawingml/2006/main" noGrp="1"/>
          </p:cNvSpPr>
          <p:nvPr/>
        </p:nvSpPr>
        <p:spPr>
          <a:xfrm xmlns:a="http://schemas.openxmlformats.org/drawingml/2006/main">
            <a:off x="685800" y="62103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66758F"/>
                </a:solidFill>
              </a:defRPr>
            </a:pPr>
            <a:r>
              <a:rPr sz="1050" b="0">
                <a:solidFill>
                  <a:srgbClr val="66758F"/>
                </a:solidFill>
              </a:rPr>
              <a:t>ML Empowerment Build Challenge 2.0</a:t>
            </a:r>
          </a:p>
        </p:txBody>
      </p:sp>
      <p:sp>
        <p:nvSpPr>
          <p:cNvPr id="27" name="">
            <a:extLst xmlns:a="http://schemas.openxmlformats.org/drawingml/2006/main">
              <a:ext uri="{FF2B5EF4-FFF2-40B4-BE49-F238E27FC236}">
                <a16:creationId xmlns:a16="http://schemas.microsoft.com/office/drawing/2014/main" id="{80CE24FE-B6B9-4613-BC51-34195AA6298D}"/>
              </a:ext>
            </a:extLst>
          </p:cNvPr>
          <p:cNvSpPr>
            <a:spLocks xmlns:a="http://schemas.openxmlformats.org/drawingml/2006/main" noGrp="1"/>
          </p:cNvSpPr>
          <p:nvPr/>
        </p:nvSpPr>
        <p:spPr>
          <a:xfrm xmlns:a="http://schemas.openxmlformats.org/drawingml/2006/main">
            <a:off x="11239500" y="62103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66758F"/>
                </a:solidFill>
              </a:defRPr>
            </a:pPr>
            <a:r>
              <a:rPr sz="1050" b="1">
                <a:solidFill>
                  <a:srgbClr val="66758F"/>
                </a:solidFill>
              </a:rPr>
              <a:t>01</a:t>
            </a:r>
          </a:p>
        </p:txBody>
      </p:sp>
    </p:spTree>
    <p:extLst>
      <p:ext uri="{BB962C8B-B14F-4D97-AF65-F5344CB8AC3E}">
        <p14:creationId xmlns:p14="http://schemas.microsoft.com/office/powerpoint/2010/main" val="7440178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CE3CF17-1570-46E3-9BC1-77B157BFC59E}"/>
              </a:ext>
            </a:extLst>
          </p:cNvPr>
          <p:cNvSpPr>
            <a:spLocks xmlns:a="http://schemas.openxmlformats.org/drawingml/2006/main" noGrp="1"/>
          </p:cNvSpPr>
          <p:nvPr/>
        </p:nvSpPr>
        <p:spPr>
          <a:xfrm xmlns:a="http://schemas.openxmlformats.org/drawingml/2006/main">
            <a:off x="704850" y="2667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0B1D45"/>
                </a:solidFill>
              </a:defRPr>
            </a:pPr>
            <a:r>
              <a:rPr sz="1050" b="1">
                <a:solidFill>
                  <a:srgbClr val="0B1D45"/>
                </a:solidFill>
              </a:rPr>
              <a:t>CLINIVERSE</a:t>
            </a:r>
          </a:p>
        </p:txBody>
      </p:sp>
      <p:sp>
        <p:nvSpPr>
          <p:cNvPr id="2" name="">
            <a:extLst xmlns:a="http://schemas.openxmlformats.org/drawingml/2006/main">
              <a:ext uri="{FF2B5EF4-FFF2-40B4-BE49-F238E27FC236}">
                <a16:creationId xmlns:a16="http://schemas.microsoft.com/office/drawing/2014/main" id="{2C0B5921-4133-403F-B143-3CB0B47075AB}"/>
              </a:ext>
            </a:extLst>
          </p:cNvPr>
          <p:cNvSpPr>
            <a:spLocks xmlns:a="http://schemas.openxmlformats.org/drawingml/2006/main" noGrp="1"/>
          </p:cNvSpPr>
          <p:nvPr/>
        </p:nvSpPr>
        <p:spPr>
          <a:xfrm xmlns:a="http://schemas.openxmlformats.org/drawingml/2006/main">
            <a:off x="2324100" y="276225"/>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66758F"/>
                </a:solidFill>
              </a:defRPr>
            </a:pPr>
            <a:r>
              <a:rPr sz="1050" b="0">
                <a:solidFill>
                  <a:srgbClr val="66758F"/>
                </a:solidFill>
              </a:rPr>
              <a:t>Healthcare AI Reliability Lab</a:t>
            </a:r>
          </a:p>
        </p:txBody>
      </p:sp>
      <p:sp>
        <p:nvSpPr>
          <p:cNvPr id="3" name="">
            <a:extLst xmlns:a="http://schemas.openxmlformats.org/drawingml/2006/main">
              <a:ext uri="{FF2B5EF4-FFF2-40B4-BE49-F238E27FC236}">
                <a16:creationId xmlns:a16="http://schemas.microsoft.com/office/drawing/2014/main" id="{8F0C0DE1-D0E8-4013-B4EF-82354B38C4C1}"/>
              </a:ext>
            </a:extLst>
          </p:cNvPr>
          <p:cNvSpPr>
            <a:spLocks xmlns:a="http://schemas.openxmlformats.org/drawingml/2006/main" noGrp="1"/>
          </p:cNvSpPr>
          <p:nvPr/>
        </p:nvSpPr>
        <p:spPr>
          <a:xfrm xmlns:a="http://schemas.openxmlformats.org/drawingml/2006/main">
            <a:off x="11239500" y="2667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66758F"/>
                </a:solidFill>
              </a:defRPr>
            </a:pPr>
            <a:r>
              <a:rPr sz="1050" b="1">
                <a:solidFill>
                  <a:srgbClr val="66758F"/>
                </a:solidFill>
              </a:rPr>
              <a:t>02</a:t>
            </a:r>
          </a:p>
        </p:txBody>
      </p:sp>
      <p:sp>
        <p:nvSpPr>
          <p:cNvPr id="4" name="">
            <a:extLst xmlns:a="http://schemas.openxmlformats.org/drawingml/2006/main">
              <a:ext uri="{FF2B5EF4-FFF2-40B4-BE49-F238E27FC236}">
                <a16:creationId xmlns:a16="http://schemas.microsoft.com/office/drawing/2014/main" id="{795502D4-F3E9-4915-B836-C612DD8AA8B0}"/>
              </a:ext>
            </a:extLst>
          </p:cNvPr>
          <p:cNvSpPr>
            <a:spLocks xmlns:a="http://schemas.openxmlformats.org/drawingml/2006/main" noGrp="1"/>
          </p:cNvSpPr>
          <p:nvPr/>
        </p:nvSpPr>
        <p:spPr>
          <a:xfrm xmlns:a="http://schemas.openxmlformats.org/drawingml/2006/main">
            <a:off x="685800" y="6477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0A9F9B"/>
                </a:solidFill>
              </a:defRPr>
            </a:pPr>
            <a:r>
              <a:rPr sz="1050" b="1">
                <a:solidFill>
                  <a:srgbClr val="0A9F9B"/>
                </a:solidFill>
              </a:rPr>
              <a:t>THE PROBLEM</a:t>
            </a:r>
          </a:p>
        </p:txBody>
      </p:sp>
      <p:sp>
        <p:nvSpPr>
          <p:cNvPr id="5" name="slide-title">
            <a:extLst xmlns:a="http://schemas.openxmlformats.org/drawingml/2006/main">
              <a:ext uri="{FF2B5EF4-FFF2-40B4-BE49-F238E27FC236}">
                <a16:creationId xmlns:a16="http://schemas.microsoft.com/office/drawing/2014/main" id="{0C4E2E35-389E-4326-A9B7-760826A3220E}"/>
              </a:ext>
            </a:extLst>
          </p:cNvPr>
          <p:cNvSpPr>
            <a:spLocks xmlns:a="http://schemas.openxmlformats.org/drawingml/2006/main" noGrp="1"/>
          </p:cNvSpPr>
          <p:nvPr/>
        </p:nvSpPr>
        <p:spPr>
          <a:xfrm xmlns:a="http://schemas.openxmlformats.org/drawingml/2006/main">
            <a:off x="685800" y="9144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1D45"/>
                </a:solidFill>
              </a:defRPr>
            </a:pPr>
            <a:r>
              <a:rPr sz="3000" b="1">
                <a:solidFill>
                  <a:srgbClr val="0B1D45"/>
                </a:solidFill>
              </a:rPr>
              <a:t>A good ranking score can hide a bad probability shift.</a:t>
            </a:r>
          </a:p>
        </p:txBody>
      </p:sp>
      <p:sp>
        <p:nvSpPr>
          <p:cNvPr id="6" name="">
            <a:extLst xmlns:a="http://schemas.openxmlformats.org/drawingml/2006/main">
              <a:ext uri="{FF2B5EF4-FFF2-40B4-BE49-F238E27FC236}">
                <a16:creationId xmlns:a16="http://schemas.microsoft.com/office/drawing/2014/main" id="{BA99DDC3-8793-4256-BCF8-BDA36B9B7C48}"/>
              </a:ext>
            </a:extLst>
          </p:cNvPr>
          <p:cNvSpPr>
            <a:spLocks xmlns:a="http://schemas.openxmlformats.org/drawingml/2006/main" noGrp="1"/>
          </p:cNvSpPr>
          <p:nvPr/>
        </p:nvSpPr>
        <p:spPr>
          <a:xfrm xmlns:a="http://schemas.openxmlformats.org/drawingml/2006/main">
            <a:off x="685800" y="15621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E95B19"/>
                </a:solidFill>
              </a:defRPr>
            </a:pPr>
            <a:r>
              <a:rPr sz="1050" b="1">
                <a:solidFill>
                  <a:srgbClr val="E95B19"/>
                </a:solidFill>
              </a:rPr>
              <a:t>ILLUSTRATIVE — NOT PROJECT RESULTS</a:t>
            </a:r>
          </a:p>
        </p:txBody>
      </p:sp>
      <p:sp>
        <p:nvSpPr>
          <p:cNvPr id="7" name="">
            <a:extLst xmlns:a="http://schemas.openxmlformats.org/drawingml/2006/main">
              <a:ext uri="{FF2B5EF4-FFF2-40B4-BE49-F238E27FC236}">
                <a16:creationId xmlns:a16="http://schemas.microsoft.com/office/drawing/2014/main" id="{0BDA4449-33DC-4F6D-8DC2-28A905D14A05}"/>
              </a:ext>
            </a:extLst>
          </p:cNvPr>
          <p:cNvSpPr>
            <a:spLocks xmlns:a="http://schemas.openxmlformats.org/drawingml/2006/main" noGrp="1"/>
          </p:cNvSpPr>
          <p:nvPr/>
        </p:nvSpPr>
        <p:spPr>
          <a:xfrm xmlns:a="http://schemas.openxmlformats.org/drawingml/2006/main">
            <a:off x="685800" y="1924050"/>
            <a:ext cx="10820400" cy="0"/>
          </a:xfrm>
          <a:prstGeom xmlns:a="http://schemas.openxmlformats.org/drawingml/2006/main" prst="line">
            <a:avLst/>
          </a:prstGeom>
          <a:noFill xmlns:a="http://schemas.openxmlformats.org/drawingml/2006/main"/>
          <a:ln xmlns:a="http://schemas.openxmlformats.org/drawingml/2006/main" w="9525">
            <a:solidFill>
              <a:srgbClr val="D8E4E8"/>
            </a:solidFill>
            <a:prstDash val="solid"/>
          </a:ln>
        </p:spPr>
      </p:sp>
      <p:sp>
        <p:nvSpPr>
          <p:cNvPr id="8" name="">
            <a:extLst xmlns:a="http://schemas.openxmlformats.org/drawingml/2006/main">
              <a:ext uri="{FF2B5EF4-FFF2-40B4-BE49-F238E27FC236}">
                <a16:creationId xmlns:a16="http://schemas.microsoft.com/office/drawing/2014/main" id="{BD97DB06-B6EE-475B-807A-8691F7D39C94}"/>
              </a:ext>
            </a:extLst>
          </p:cNvPr>
          <p:cNvSpPr>
            <a:spLocks xmlns:a="http://schemas.openxmlformats.org/drawingml/2006/main" noGrp="1"/>
          </p:cNvSpPr>
          <p:nvPr/>
        </p:nvSpPr>
        <p:spPr>
          <a:xfrm xmlns:a="http://schemas.openxmlformats.org/drawingml/2006/main">
            <a:off x="876300" y="2324100"/>
            <a:ext cx="2000250" cy="1123950"/>
          </a:xfrm>
          <a:prstGeom xmlns:a="http://schemas.openxmlformats.org/drawingml/2006/main" prst="roundRect">
            <a:avLst>
              <a:gd name="adj" fmla="val 13559"/>
            </a:avLst>
          </a:prstGeom>
          <a:solidFill xmlns:a="http://schemas.openxmlformats.org/drawingml/2006/main">
            <a:srgbClr val="F5F9FA"/>
          </a:solidFill>
          <a:ln xmlns:a="http://schemas.openxmlformats.org/drawingml/2006/main" w="9525">
            <a:solidFill>
              <a:srgbClr val="D8E4E8"/>
            </a:solidFill>
            <a:prstDash val="solid"/>
          </a:ln>
        </p:spPr>
      </p:sp>
      <p:sp>
        <p:nvSpPr>
          <p:cNvPr id="9" name="">
            <a:extLst xmlns:a="http://schemas.openxmlformats.org/drawingml/2006/main">
              <a:ext uri="{FF2B5EF4-FFF2-40B4-BE49-F238E27FC236}">
                <a16:creationId xmlns:a16="http://schemas.microsoft.com/office/drawing/2014/main" id="{D145FC0C-5987-4FD2-B89A-F82F6A3EAA97}"/>
              </a:ext>
            </a:extLst>
          </p:cNvPr>
          <p:cNvSpPr>
            <a:spLocks xmlns:a="http://schemas.openxmlformats.org/drawingml/2006/main" noGrp="1"/>
          </p:cNvSpPr>
          <p:nvPr/>
        </p:nvSpPr>
        <p:spPr>
          <a:xfrm xmlns:a="http://schemas.openxmlformats.org/drawingml/2006/main">
            <a:off x="876300" y="3790950"/>
            <a:ext cx="2000250" cy="1123950"/>
          </a:xfrm>
          <a:prstGeom xmlns:a="http://schemas.openxmlformats.org/drawingml/2006/main" prst="roundRect">
            <a:avLst>
              <a:gd name="adj" fmla="val 13559"/>
            </a:avLst>
          </a:prstGeom>
          <a:solidFill xmlns:a="http://schemas.openxmlformats.org/drawingml/2006/main">
            <a:srgbClr val="F5F9FA"/>
          </a:solidFill>
          <a:ln xmlns:a="http://schemas.openxmlformats.org/drawingml/2006/main" w="9525">
            <a:solidFill>
              <a:srgbClr val="D8E4E8"/>
            </a:solidFill>
            <a:prstDash val="solid"/>
          </a:ln>
        </p:spPr>
      </p:sp>
      <p:sp>
        <p:nvSpPr>
          <p:cNvPr id="10" name="">
            <a:extLst xmlns:a="http://schemas.openxmlformats.org/drawingml/2006/main">
              <a:ext uri="{FF2B5EF4-FFF2-40B4-BE49-F238E27FC236}">
                <a16:creationId xmlns:a16="http://schemas.microsoft.com/office/drawing/2014/main" id="{6FAB87D4-3128-4895-B06F-0656DBF2BFCD}"/>
              </a:ext>
            </a:extLst>
          </p:cNvPr>
          <p:cNvSpPr>
            <a:spLocks xmlns:a="http://schemas.openxmlformats.org/drawingml/2006/main" noGrp="1"/>
          </p:cNvSpPr>
          <p:nvPr/>
        </p:nvSpPr>
        <p:spPr>
          <a:xfrm xmlns:a="http://schemas.openxmlformats.org/drawingml/2006/main">
            <a:off x="1066800" y="2533650"/>
            <a:ext cx="590550" cy="590550"/>
          </a:xfrm>
          <a:prstGeom xmlns:a="http://schemas.openxmlformats.org/drawingml/2006/main" prst="ellipse">
            <a:avLst/>
          </a:prstGeom>
          <a:solidFill xmlns:a="http://schemas.openxmlformats.org/drawingml/2006/main">
            <a:srgbClr val="0B1D45"/>
          </a:solidFill>
          <a:ln xmlns:a="http://schemas.openxmlformats.org/drawingml/2006/main" w="0">
            <a:solidFill>
              <a:srgbClr val="0B1D45"/>
            </a:solid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FFFFFF"/>
                </a:solidFill>
              </a:defRPr>
            </a:pPr>
            <a:r>
              <a:rPr sz="2025" b="1">
                <a:solidFill>
                  <a:srgbClr val="FFFFFF"/>
                </a:solidFill>
              </a:rPr>
              <a:t>A</a:t>
            </a:r>
          </a:p>
        </p:txBody>
      </p:sp>
      <p:sp>
        <p:nvSpPr>
          <p:cNvPr id="11" name="">
            <a:extLst xmlns:a="http://schemas.openxmlformats.org/drawingml/2006/main">
              <a:ext uri="{FF2B5EF4-FFF2-40B4-BE49-F238E27FC236}">
                <a16:creationId xmlns:a16="http://schemas.microsoft.com/office/drawing/2014/main" id="{9860CBBB-D26A-4AEE-84CE-FA7947EA58A3}"/>
              </a:ext>
            </a:extLst>
          </p:cNvPr>
          <p:cNvSpPr>
            <a:spLocks xmlns:a="http://schemas.openxmlformats.org/drawingml/2006/main" noGrp="1"/>
          </p:cNvSpPr>
          <p:nvPr/>
        </p:nvSpPr>
        <p:spPr>
          <a:xfrm xmlns:a="http://schemas.openxmlformats.org/drawingml/2006/main">
            <a:off x="1066800" y="4000500"/>
            <a:ext cx="590550" cy="590550"/>
          </a:xfrm>
          <a:prstGeom xmlns:a="http://schemas.openxmlformats.org/drawingml/2006/main" prst="ellipse">
            <a:avLst/>
          </a:prstGeom>
          <a:solidFill xmlns:a="http://schemas.openxmlformats.org/drawingml/2006/main">
            <a:srgbClr val="0A9F9B"/>
          </a:solidFill>
          <a:ln xmlns:a="http://schemas.openxmlformats.org/drawingml/2006/main" w="0">
            <a:solidFill>
              <a:srgbClr val="0A9F9B"/>
            </a:solid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FFFFFF"/>
                </a:solidFill>
              </a:defRPr>
            </a:pPr>
            <a:r>
              <a:rPr sz="2025" b="1">
                <a:solidFill>
                  <a:srgbClr val="FFFFFF"/>
                </a:solidFill>
              </a:rPr>
              <a:t>B</a:t>
            </a:r>
          </a:p>
        </p:txBody>
      </p:sp>
      <p:sp>
        <p:nvSpPr>
          <p:cNvPr id="12" name="">
            <a:extLst xmlns:a="http://schemas.openxmlformats.org/drawingml/2006/main">
              <a:ext uri="{FF2B5EF4-FFF2-40B4-BE49-F238E27FC236}">
                <a16:creationId xmlns:a16="http://schemas.microsoft.com/office/drawing/2014/main" id="{5771BAB1-1378-4FC1-8BAA-2819C4B4C241}"/>
              </a:ext>
            </a:extLst>
          </p:cNvPr>
          <p:cNvSpPr>
            <a:spLocks xmlns:a="http://schemas.openxmlformats.org/drawingml/2006/main" noGrp="1"/>
          </p:cNvSpPr>
          <p:nvPr/>
        </p:nvSpPr>
        <p:spPr>
          <a:xfrm xmlns:a="http://schemas.openxmlformats.org/drawingml/2006/main">
            <a:off x="1790700" y="2514600"/>
            <a:ext cx="914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0B1D45"/>
                </a:solidFill>
              </a:defRPr>
            </a:pPr>
            <a:r>
              <a:rPr sz="1500" b="1">
                <a:solidFill>
                  <a:srgbClr val="0B1D45"/>
                </a:solidFill>
              </a:rPr>
              <a:t>Patient A</a:t>
            </a:r>
          </a:p>
        </p:txBody>
      </p:sp>
      <p:sp>
        <p:nvSpPr>
          <p:cNvPr id="13" name="">
            <a:extLst xmlns:a="http://schemas.openxmlformats.org/drawingml/2006/main">
              <a:ext uri="{FF2B5EF4-FFF2-40B4-BE49-F238E27FC236}">
                <a16:creationId xmlns:a16="http://schemas.microsoft.com/office/drawing/2014/main" id="{81211662-A521-4102-A7B3-925AAB286CC3}"/>
              </a:ext>
            </a:extLst>
          </p:cNvPr>
          <p:cNvSpPr>
            <a:spLocks xmlns:a="http://schemas.openxmlformats.org/drawingml/2006/main" noGrp="1"/>
          </p:cNvSpPr>
          <p:nvPr/>
        </p:nvSpPr>
        <p:spPr>
          <a:xfrm xmlns:a="http://schemas.openxmlformats.org/drawingml/2006/main">
            <a:off x="1790700" y="2857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66758F"/>
                </a:solidFill>
              </a:defRPr>
            </a:pPr>
            <a:r>
              <a:rPr sz="1275" b="0">
                <a:solidFill>
                  <a:srgbClr val="66758F"/>
                </a:solidFill>
              </a:rPr>
              <a:t>died</a:t>
            </a:r>
          </a:p>
        </p:txBody>
      </p:sp>
      <p:sp>
        <p:nvSpPr>
          <p:cNvPr id="14" name="">
            <a:extLst xmlns:a="http://schemas.openxmlformats.org/drawingml/2006/main">
              <a:ext uri="{FF2B5EF4-FFF2-40B4-BE49-F238E27FC236}">
                <a16:creationId xmlns:a16="http://schemas.microsoft.com/office/drawing/2014/main" id="{62F8E3D3-6BD5-48C3-9CB7-D09B53A8AC6E}"/>
              </a:ext>
            </a:extLst>
          </p:cNvPr>
          <p:cNvSpPr>
            <a:spLocks xmlns:a="http://schemas.openxmlformats.org/drawingml/2006/main" noGrp="1"/>
          </p:cNvSpPr>
          <p:nvPr/>
        </p:nvSpPr>
        <p:spPr>
          <a:xfrm xmlns:a="http://schemas.openxmlformats.org/drawingml/2006/main">
            <a:off x="1790700" y="3981450"/>
            <a:ext cx="914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0B1D45"/>
                </a:solidFill>
              </a:defRPr>
            </a:pPr>
            <a:r>
              <a:rPr sz="1500" b="1">
                <a:solidFill>
                  <a:srgbClr val="0B1D45"/>
                </a:solidFill>
              </a:rPr>
              <a:t>Patient B</a:t>
            </a:r>
          </a:p>
        </p:txBody>
      </p:sp>
      <p:sp>
        <p:nvSpPr>
          <p:cNvPr id="15" name="">
            <a:extLst xmlns:a="http://schemas.openxmlformats.org/drawingml/2006/main">
              <a:ext uri="{FF2B5EF4-FFF2-40B4-BE49-F238E27FC236}">
                <a16:creationId xmlns:a16="http://schemas.microsoft.com/office/drawing/2014/main" id="{816D4640-250A-49A2-9929-C2BA4841C483}"/>
              </a:ext>
            </a:extLst>
          </p:cNvPr>
          <p:cNvSpPr>
            <a:spLocks xmlns:a="http://schemas.openxmlformats.org/drawingml/2006/main" noGrp="1"/>
          </p:cNvSpPr>
          <p:nvPr/>
        </p:nvSpPr>
        <p:spPr>
          <a:xfrm xmlns:a="http://schemas.openxmlformats.org/drawingml/2006/main">
            <a:off x="1790700" y="432435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66758F"/>
                </a:solidFill>
              </a:defRPr>
            </a:pPr>
            <a:r>
              <a:rPr sz="1275" b="0">
                <a:solidFill>
                  <a:srgbClr val="66758F"/>
                </a:solidFill>
              </a:rPr>
              <a:t>survived</a:t>
            </a:r>
          </a:p>
        </p:txBody>
      </p:sp>
      <p:sp>
        <p:nvSpPr>
          <p:cNvPr id="16" name="">
            <a:extLst xmlns:a="http://schemas.openxmlformats.org/drawingml/2006/main">
              <a:ext uri="{FF2B5EF4-FFF2-40B4-BE49-F238E27FC236}">
                <a16:creationId xmlns:a16="http://schemas.microsoft.com/office/drawing/2014/main" id="{F9D8E34D-640C-49B6-906E-2823DF75A445}"/>
              </a:ext>
            </a:extLst>
          </p:cNvPr>
          <p:cNvSpPr>
            <a:spLocks xmlns:a="http://schemas.openxmlformats.org/drawingml/2006/main" noGrp="1"/>
          </p:cNvSpPr>
          <p:nvPr/>
        </p:nvSpPr>
        <p:spPr>
          <a:xfrm xmlns:a="http://schemas.openxmlformats.org/drawingml/2006/main">
            <a:off x="3409950" y="21907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A9F9B"/>
                </a:solidFill>
              </a:defRPr>
            </a:pPr>
            <a:r>
              <a:rPr sz="1350" b="1">
                <a:solidFill>
                  <a:srgbClr val="0A9F9B"/>
                </a:solidFill>
              </a:rPr>
              <a:t>RANKING QUESTION</a:t>
            </a:r>
          </a:p>
        </p:txBody>
      </p:sp>
      <p:sp>
        <p:nvSpPr>
          <p:cNvPr id="17" name="">
            <a:extLst xmlns:a="http://schemas.openxmlformats.org/drawingml/2006/main">
              <a:ext uri="{FF2B5EF4-FFF2-40B4-BE49-F238E27FC236}">
                <a16:creationId xmlns:a16="http://schemas.microsoft.com/office/drawing/2014/main" id="{08225126-3336-475E-A111-A3DB9AA6973E}"/>
              </a:ext>
            </a:extLst>
          </p:cNvPr>
          <p:cNvSpPr>
            <a:spLocks xmlns:a="http://schemas.openxmlformats.org/drawingml/2006/main" noGrp="1"/>
          </p:cNvSpPr>
          <p:nvPr/>
        </p:nvSpPr>
        <p:spPr>
          <a:xfrm xmlns:a="http://schemas.openxmlformats.org/drawingml/2006/main">
            <a:off x="3409950" y="257175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1D45"/>
                </a:solidFill>
              </a:defRPr>
            </a:pPr>
            <a:r>
              <a:rPr sz="1800" b="1">
                <a:solidFill>
                  <a:srgbClr val="0B1D45"/>
                </a:solidFill>
              </a:rPr>
              <a:t>Did A score higher than B?</a:t>
            </a:r>
          </a:p>
        </p:txBody>
      </p:sp>
      <p:sp>
        <p:nvSpPr>
          <p:cNvPr id="18" name="">
            <a:extLst xmlns:a="http://schemas.openxmlformats.org/drawingml/2006/main">
              <a:ext uri="{FF2B5EF4-FFF2-40B4-BE49-F238E27FC236}">
                <a16:creationId xmlns:a16="http://schemas.microsoft.com/office/drawing/2014/main" id="{ABB4FCF9-9A9C-4601-960A-693969E76D09}"/>
              </a:ext>
            </a:extLst>
          </p:cNvPr>
          <p:cNvSpPr>
            <a:spLocks xmlns:a="http://schemas.openxmlformats.org/drawingml/2006/main" noGrp="1"/>
          </p:cNvSpPr>
          <p:nvPr/>
        </p:nvSpPr>
        <p:spPr>
          <a:xfrm xmlns:a="http://schemas.openxmlformats.org/drawingml/2006/main">
            <a:off x="3524250" y="3086100"/>
            <a:ext cx="2724150" cy="1352550"/>
          </a:xfrm>
          <a:prstGeom xmlns:a="http://schemas.openxmlformats.org/drawingml/2006/main" prst="roundRect">
            <a:avLst>
              <a:gd name="adj" fmla="val 12676"/>
            </a:avLst>
          </a:prstGeom>
          <a:solidFill xmlns:a="http://schemas.openxmlformats.org/drawingml/2006/main">
            <a:srgbClr val="E7F8F5"/>
          </a:solidFill>
          <a:ln xmlns:a="http://schemas.openxmlformats.org/drawingml/2006/main" w="9525">
            <a:solidFill>
              <a:srgbClr val="BFE7E0"/>
            </a:solidFill>
            <a:prstDash val="solid"/>
          </a:ln>
        </p:spPr>
      </p:sp>
      <p:sp>
        <p:nvSpPr>
          <p:cNvPr id="19" name="">
            <a:extLst xmlns:a="http://schemas.openxmlformats.org/drawingml/2006/main">
              <a:ext uri="{FF2B5EF4-FFF2-40B4-BE49-F238E27FC236}">
                <a16:creationId xmlns:a16="http://schemas.microsoft.com/office/drawing/2014/main" id="{434B55E2-CF80-4DFA-88F8-729C83642DF2}"/>
              </a:ext>
            </a:extLst>
          </p:cNvPr>
          <p:cNvSpPr>
            <a:spLocks xmlns:a="http://schemas.openxmlformats.org/drawingml/2006/main" noGrp="1"/>
          </p:cNvSpPr>
          <p:nvPr/>
        </p:nvSpPr>
        <p:spPr>
          <a:xfrm xmlns:a="http://schemas.openxmlformats.org/drawingml/2006/main">
            <a:off x="3714750" y="32575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66758F"/>
                </a:solidFill>
              </a:defRPr>
            </a:pPr>
            <a:r>
              <a:rPr sz="1275" b="1">
                <a:solidFill>
                  <a:srgbClr val="66758F"/>
                </a:solidFill>
              </a:rPr>
              <a:t>Model A</a:t>
            </a:r>
          </a:p>
        </p:txBody>
      </p:sp>
      <p:sp>
        <p:nvSpPr>
          <p:cNvPr id="20" name="">
            <a:extLst xmlns:a="http://schemas.openxmlformats.org/drawingml/2006/main">
              <a:ext uri="{FF2B5EF4-FFF2-40B4-BE49-F238E27FC236}">
                <a16:creationId xmlns:a16="http://schemas.microsoft.com/office/drawing/2014/main" id="{299E3376-40A5-4017-8A42-960B8653CC9E}"/>
              </a:ext>
            </a:extLst>
          </p:cNvPr>
          <p:cNvSpPr>
            <a:spLocks xmlns:a="http://schemas.openxmlformats.org/drawingml/2006/main" noGrp="1"/>
          </p:cNvSpPr>
          <p:nvPr/>
        </p:nvSpPr>
        <p:spPr>
          <a:xfrm xmlns:a="http://schemas.openxmlformats.org/drawingml/2006/main">
            <a:off x="3714750" y="3600450"/>
            <a:ext cx="2343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1D45"/>
                </a:solidFill>
              </a:defRPr>
            </a:pPr>
            <a:r>
              <a:rPr sz="2100" b="1">
                <a:solidFill>
                  <a:srgbClr val="0B1D45"/>
                </a:solidFill>
              </a:rPr>
              <a:t>0.80   &gt;   0.40</a:t>
            </a:r>
          </a:p>
        </p:txBody>
      </p:sp>
      <p:sp>
        <p:nvSpPr>
          <p:cNvPr id="21" name="">
            <a:extLst xmlns:a="http://schemas.openxmlformats.org/drawingml/2006/main">
              <a:ext uri="{FF2B5EF4-FFF2-40B4-BE49-F238E27FC236}">
                <a16:creationId xmlns:a16="http://schemas.microsoft.com/office/drawing/2014/main" id="{C4E07C58-213B-4B83-87B0-D8A544047300}"/>
              </a:ext>
            </a:extLst>
          </p:cNvPr>
          <p:cNvSpPr>
            <a:spLocks xmlns:a="http://schemas.openxmlformats.org/drawingml/2006/main" noGrp="1"/>
          </p:cNvSpPr>
          <p:nvPr/>
        </p:nvSpPr>
        <p:spPr>
          <a:xfrm xmlns:a="http://schemas.openxmlformats.org/drawingml/2006/main">
            <a:off x="3714750" y="4057650"/>
            <a:ext cx="2343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0A9F9B"/>
                </a:solidFill>
              </a:defRPr>
            </a:pPr>
            <a:r>
              <a:rPr sz="1200" b="1">
                <a:solidFill>
                  <a:srgbClr val="0A9F9B"/>
                </a:solidFill>
              </a:rPr>
              <a:t>same order</a:t>
            </a:r>
          </a:p>
        </p:txBody>
      </p:sp>
      <p:sp>
        <p:nvSpPr>
          <p:cNvPr id="22" name="">
            <a:extLst xmlns:a="http://schemas.openxmlformats.org/drawingml/2006/main">
              <a:ext uri="{FF2B5EF4-FFF2-40B4-BE49-F238E27FC236}">
                <a16:creationId xmlns:a16="http://schemas.microsoft.com/office/drawing/2014/main" id="{0DAC21D8-02DD-401F-BE5E-074F54D0E220}"/>
              </a:ext>
            </a:extLst>
          </p:cNvPr>
          <p:cNvSpPr>
            <a:spLocks xmlns:a="http://schemas.openxmlformats.org/drawingml/2006/main" noGrp="1"/>
          </p:cNvSpPr>
          <p:nvPr/>
        </p:nvSpPr>
        <p:spPr>
          <a:xfrm xmlns:a="http://schemas.openxmlformats.org/drawingml/2006/main">
            <a:off x="6591300" y="2057400"/>
            <a:ext cx="0" cy="3429000"/>
          </a:xfrm>
          <a:prstGeom xmlns:a="http://schemas.openxmlformats.org/drawingml/2006/main" prst="line">
            <a:avLst/>
          </a:prstGeom>
          <a:noFill xmlns:a="http://schemas.openxmlformats.org/drawingml/2006/main"/>
          <a:ln xmlns:a="http://schemas.openxmlformats.org/drawingml/2006/main" w="9525">
            <a:solidFill>
              <a:srgbClr val="D8E4E8"/>
            </a:solidFill>
            <a:prstDash val="solid"/>
          </a:ln>
        </p:spPr>
      </p:sp>
      <p:sp>
        <p:nvSpPr>
          <p:cNvPr id="23" name="">
            <a:extLst xmlns:a="http://schemas.openxmlformats.org/drawingml/2006/main">
              <a:ext uri="{FF2B5EF4-FFF2-40B4-BE49-F238E27FC236}">
                <a16:creationId xmlns:a16="http://schemas.microsoft.com/office/drawing/2014/main" id="{D7BF51A3-7373-4A34-9DE5-C74F80F4D1BD}"/>
              </a:ext>
            </a:extLst>
          </p:cNvPr>
          <p:cNvSpPr>
            <a:spLocks xmlns:a="http://schemas.openxmlformats.org/drawingml/2006/main" noGrp="1"/>
          </p:cNvSpPr>
          <p:nvPr/>
        </p:nvSpPr>
        <p:spPr>
          <a:xfrm xmlns:a="http://schemas.openxmlformats.org/drawingml/2006/main">
            <a:off x="7067550" y="21907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E95B19"/>
                </a:solidFill>
              </a:defRPr>
            </a:pPr>
            <a:r>
              <a:rPr sz="1350" b="1">
                <a:solidFill>
                  <a:srgbClr val="E95B19"/>
                </a:solidFill>
              </a:rPr>
              <a:t>PROBABILITY QUESTION</a:t>
            </a:r>
          </a:p>
        </p:txBody>
      </p:sp>
      <p:sp>
        <p:nvSpPr>
          <p:cNvPr id="24" name="">
            <a:extLst xmlns:a="http://schemas.openxmlformats.org/drawingml/2006/main">
              <a:ext uri="{FF2B5EF4-FFF2-40B4-BE49-F238E27FC236}">
                <a16:creationId xmlns:a16="http://schemas.microsoft.com/office/drawing/2014/main" id="{0ED81390-D5D6-4776-909D-90D941CD3969}"/>
              </a:ext>
            </a:extLst>
          </p:cNvPr>
          <p:cNvSpPr>
            <a:spLocks xmlns:a="http://schemas.openxmlformats.org/drawingml/2006/main" noGrp="1"/>
          </p:cNvSpPr>
          <p:nvPr/>
        </p:nvSpPr>
        <p:spPr>
          <a:xfrm xmlns:a="http://schemas.openxmlformats.org/drawingml/2006/main">
            <a:off x="7067550" y="2571750"/>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1D45"/>
                </a:solidFill>
              </a:defRPr>
            </a:pPr>
            <a:r>
              <a:rPr sz="1800" b="1">
                <a:solidFill>
                  <a:srgbClr val="0B1D45"/>
                </a:solidFill>
              </a:rPr>
              <a:t>Do the numbers still mean the same thing?</a:t>
            </a:r>
          </a:p>
        </p:txBody>
      </p:sp>
      <p:sp>
        <p:nvSpPr>
          <p:cNvPr id="25" name="">
            <a:extLst xmlns:a="http://schemas.openxmlformats.org/drawingml/2006/main">
              <a:ext uri="{FF2B5EF4-FFF2-40B4-BE49-F238E27FC236}">
                <a16:creationId xmlns:a16="http://schemas.microsoft.com/office/drawing/2014/main" id="{787E71F8-1873-484A-971A-38F8731E04DF}"/>
              </a:ext>
            </a:extLst>
          </p:cNvPr>
          <p:cNvSpPr>
            <a:spLocks xmlns:a="http://schemas.openxmlformats.org/drawingml/2006/main" noGrp="1"/>
          </p:cNvSpPr>
          <p:nvPr/>
        </p:nvSpPr>
        <p:spPr>
          <a:xfrm xmlns:a="http://schemas.openxmlformats.org/drawingml/2006/main">
            <a:off x="7467600" y="3276600"/>
            <a:ext cx="3295650" cy="1352550"/>
          </a:xfrm>
          <a:prstGeom xmlns:a="http://schemas.openxmlformats.org/drawingml/2006/main" prst="roundRect">
            <a:avLst>
              <a:gd name="adj" fmla="val 12676"/>
            </a:avLst>
          </a:prstGeom>
          <a:solidFill xmlns:a="http://schemas.openxmlformats.org/drawingml/2006/main">
            <a:srgbClr val="FFF1E8"/>
          </a:solidFill>
          <a:ln xmlns:a="http://schemas.openxmlformats.org/drawingml/2006/main" w="9525">
            <a:solidFill>
              <a:srgbClr val="FFD6BF"/>
            </a:solidFill>
            <a:prstDash val="solid"/>
          </a:ln>
        </p:spPr>
      </p:sp>
      <p:sp>
        <p:nvSpPr>
          <p:cNvPr id="26" name="">
            <a:extLst xmlns:a="http://schemas.openxmlformats.org/drawingml/2006/main">
              <a:ext uri="{FF2B5EF4-FFF2-40B4-BE49-F238E27FC236}">
                <a16:creationId xmlns:a16="http://schemas.microsoft.com/office/drawing/2014/main" id="{69B5109E-1773-4151-B860-01A27086BE88}"/>
              </a:ext>
            </a:extLst>
          </p:cNvPr>
          <p:cNvSpPr>
            <a:spLocks xmlns:a="http://schemas.openxmlformats.org/drawingml/2006/main" noGrp="1"/>
          </p:cNvSpPr>
          <p:nvPr/>
        </p:nvSpPr>
        <p:spPr>
          <a:xfrm xmlns:a="http://schemas.openxmlformats.org/drawingml/2006/main">
            <a:off x="7658100" y="34480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66758F"/>
                </a:solidFill>
              </a:defRPr>
            </a:pPr>
            <a:r>
              <a:rPr sz="1275" b="1">
                <a:solidFill>
                  <a:srgbClr val="66758F"/>
                </a:solidFill>
              </a:rPr>
              <a:t>Model B</a:t>
            </a:r>
          </a:p>
        </p:txBody>
      </p:sp>
      <p:sp>
        <p:nvSpPr>
          <p:cNvPr id="27" name="">
            <a:extLst xmlns:a="http://schemas.openxmlformats.org/drawingml/2006/main">
              <a:ext uri="{FF2B5EF4-FFF2-40B4-BE49-F238E27FC236}">
                <a16:creationId xmlns:a16="http://schemas.microsoft.com/office/drawing/2014/main" id="{9CB9A04D-CCA5-4710-9C5C-E625FF14CCF4}"/>
              </a:ext>
            </a:extLst>
          </p:cNvPr>
          <p:cNvSpPr>
            <a:spLocks xmlns:a="http://schemas.openxmlformats.org/drawingml/2006/main" noGrp="1"/>
          </p:cNvSpPr>
          <p:nvPr/>
        </p:nvSpPr>
        <p:spPr>
          <a:xfrm xmlns:a="http://schemas.openxmlformats.org/drawingml/2006/main">
            <a:off x="7658100" y="3790950"/>
            <a:ext cx="2914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95B19"/>
                </a:solidFill>
              </a:defRPr>
            </a:pPr>
            <a:r>
              <a:rPr sz="2100" b="1">
                <a:solidFill>
                  <a:srgbClr val="E95B19"/>
                </a:solidFill>
              </a:rPr>
              <a:t>0.45   &gt;   0.20</a:t>
            </a:r>
          </a:p>
        </p:txBody>
      </p:sp>
      <p:sp>
        <p:nvSpPr>
          <p:cNvPr id="28" name="">
            <a:extLst xmlns:a="http://schemas.openxmlformats.org/drawingml/2006/main">
              <a:ext uri="{FF2B5EF4-FFF2-40B4-BE49-F238E27FC236}">
                <a16:creationId xmlns:a16="http://schemas.microsoft.com/office/drawing/2014/main" id="{67BD144C-A7EC-403D-A315-E67E2A7F48DC}"/>
              </a:ext>
            </a:extLst>
          </p:cNvPr>
          <p:cNvSpPr>
            <a:spLocks xmlns:a="http://schemas.openxmlformats.org/drawingml/2006/main" noGrp="1"/>
          </p:cNvSpPr>
          <p:nvPr/>
        </p:nvSpPr>
        <p:spPr>
          <a:xfrm xmlns:a="http://schemas.openxmlformats.org/drawingml/2006/main">
            <a:off x="7658100" y="4248150"/>
            <a:ext cx="2914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E95B19"/>
                </a:solidFill>
              </a:defRPr>
            </a:pPr>
            <a:r>
              <a:rPr sz="1200" b="1">
                <a:solidFill>
                  <a:srgbClr val="E95B19"/>
                </a:solidFill>
              </a:rPr>
              <a:t>same order · shifted meaning</a:t>
            </a:r>
          </a:p>
        </p:txBody>
      </p:sp>
      <p:sp>
        <p:nvSpPr>
          <p:cNvPr id="29" name="">
            <a:extLst xmlns:a="http://schemas.openxmlformats.org/drawingml/2006/main">
              <a:ext uri="{FF2B5EF4-FFF2-40B4-BE49-F238E27FC236}">
                <a16:creationId xmlns:a16="http://schemas.microsoft.com/office/drawing/2014/main" id="{C9CAC8E9-B98D-4554-B688-00DFD769A730}"/>
              </a:ext>
            </a:extLst>
          </p:cNvPr>
          <p:cNvSpPr>
            <a:spLocks xmlns:a="http://schemas.openxmlformats.org/drawingml/2006/main" noGrp="1"/>
          </p:cNvSpPr>
          <p:nvPr/>
        </p:nvSpPr>
        <p:spPr>
          <a:xfrm xmlns:a="http://schemas.openxmlformats.org/drawingml/2006/main">
            <a:off x="3314700" y="5295900"/>
            <a:ext cx="7848600" cy="819150"/>
          </a:xfrm>
          <a:prstGeom xmlns:a="http://schemas.openxmlformats.org/drawingml/2006/main" prst="roundRect">
            <a:avLst>
              <a:gd name="adj" fmla="val 20930"/>
            </a:avLst>
          </a:prstGeom>
          <a:solidFill xmlns:a="http://schemas.openxmlformats.org/drawingml/2006/main">
            <a:srgbClr val="0B1D45"/>
          </a:solidFill>
          <a:ln xmlns:a="http://schemas.openxmlformats.org/drawingml/2006/main" w="9525">
            <a:solidFill>
              <a:srgbClr val="0B1D45"/>
            </a:solidFill>
            <a:prstDash val="solid"/>
          </a:ln>
        </p:spPr>
      </p:sp>
      <p:sp>
        <p:nvSpPr>
          <p:cNvPr id="30" name="">
            <a:extLst xmlns:a="http://schemas.openxmlformats.org/drawingml/2006/main">
              <a:ext uri="{FF2B5EF4-FFF2-40B4-BE49-F238E27FC236}">
                <a16:creationId xmlns:a16="http://schemas.microsoft.com/office/drawing/2014/main" id="{BB6EADD8-23B3-45E7-903C-2E9CD063B19A}"/>
              </a:ext>
            </a:extLst>
          </p:cNvPr>
          <p:cNvSpPr>
            <a:spLocks xmlns:a="http://schemas.openxmlformats.org/drawingml/2006/main" noGrp="1"/>
          </p:cNvSpPr>
          <p:nvPr/>
        </p:nvSpPr>
        <p:spPr>
          <a:xfrm xmlns:a="http://schemas.openxmlformats.org/drawingml/2006/main">
            <a:off x="3600450" y="5505450"/>
            <a:ext cx="7277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FFFFFF"/>
                </a:solidFill>
              </a:defRPr>
            </a:pPr>
            <a:r>
              <a:rPr sz="1875" b="1">
                <a:solidFill>
                  <a:srgbClr val="FFFFFF"/>
                </a:solidFill>
              </a:rPr>
              <a:t>Ranking can stay intact while probability reliability moves.</a:t>
            </a:r>
          </a:p>
        </p:txBody>
      </p:sp>
    </p:spTree>
    <p:extLst>
      <p:ext uri="{BB962C8B-B14F-4D97-AF65-F5344CB8AC3E}">
        <p14:creationId xmlns:p14="http://schemas.microsoft.com/office/powerpoint/2010/main" val="2001641632"/>
      </p:ext>
    </p:extLst>
  </p:cSld>
</p:sld>
</file>

<file path=ppt/slides/slide3.xml><?xml version="1.0" encoding="utf-8"?>
<p:sld xmlns:p="http://schemas.openxmlformats.org/presentationml/2006/main">
  <p:cSld>
    <p:bg>
      <p:bgPr>
        <a:solidFill xmlns:a="http://schemas.openxmlformats.org/drawingml/2006/main">
          <a:srgbClr val="F5F9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2B0C9E5-C738-4B51-8E4D-212CA04D1671}"/>
              </a:ext>
            </a:extLst>
          </p:cNvPr>
          <p:cNvSpPr>
            <a:spLocks xmlns:a="http://schemas.openxmlformats.org/drawingml/2006/main" noGrp="1"/>
          </p:cNvSpPr>
          <p:nvPr/>
        </p:nvSpPr>
        <p:spPr>
          <a:xfrm xmlns:a="http://schemas.openxmlformats.org/drawingml/2006/main">
            <a:off x="704850" y="2667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0B1D45"/>
                </a:solidFill>
              </a:defRPr>
            </a:pPr>
            <a:r>
              <a:rPr sz="1050" b="1">
                <a:solidFill>
                  <a:srgbClr val="0B1D45"/>
                </a:solidFill>
              </a:rPr>
              <a:t>CLINIVERSE</a:t>
            </a:r>
          </a:p>
        </p:txBody>
      </p:sp>
      <p:sp>
        <p:nvSpPr>
          <p:cNvPr id="2" name="">
            <a:extLst xmlns:a="http://schemas.openxmlformats.org/drawingml/2006/main">
              <a:ext uri="{FF2B5EF4-FFF2-40B4-BE49-F238E27FC236}">
                <a16:creationId xmlns:a16="http://schemas.microsoft.com/office/drawing/2014/main" id="{77AE0C3F-295B-4FBA-BE27-323467437B62}"/>
              </a:ext>
            </a:extLst>
          </p:cNvPr>
          <p:cNvSpPr>
            <a:spLocks xmlns:a="http://schemas.openxmlformats.org/drawingml/2006/main" noGrp="1"/>
          </p:cNvSpPr>
          <p:nvPr/>
        </p:nvSpPr>
        <p:spPr>
          <a:xfrm xmlns:a="http://schemas.openxmlformats.org/drawingml/2006/main">
            <a:off x="2324100" y="276225"/>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66758F"/>
                </a:solidFill>
              </a:defRPr>
            </a:pPr>
            <a:r>
              <a:rPr sz="1050" b="0">
                <a:solidFill>
                  <a:srgbClr val="66758F"/>
                </a:solidFill>
              </a:rPr>
              <a:t>Healthcare AI Reliability Lab</a:t>
            </a:r>
          </a:p>
        </p:txBody>
      </p:sp>
      <p:sp>
        <p:nvSpPr>
          <p:cNvPr id="3" name="">
            <a:extLst xmlns:a="http://schemas.openxmlformats.org/drawingml/2006/main">
              <a:ext uri="{FF2B5EF4-FFF2-40B4-BE49-F238E27FC236}">
                <a16:creationId xmlns:a16="http://schemas.microsoft.com/office/drawing/2014/main" id="{A9168DEA-DC04-4348-BFB8-9978B4CAA512}"/>
              </a:ext>
            </a:extLst>
          </p:cNvPr>
          <p:cNvSpPr>
            <a:spLocks xmlns:a="http://schemas.openxmlformats.org/drawingml/2006/main" noGrp="1"/>
          </p:cNvSpPr>
          <p:nvPr/>
        </p:nvSpPr>
        <p:spPr>
          <a:xfrm xmlns:a="http://schemas.openxmlformats.org/drawingml/2006/main">
            <a:off x="11239500" y="2667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66758F"/>
                </a:solidFill>
              </a:defRPr>
            </a:pPr>
            <a:r>
              <a:rPr sz="1050" b="1">
                <a:solidFill>
                  <a:srgbClr val="66758F"/>
                </a:solidFill>
              </a:rPr>
              <a:t>03</a:t>
            </a:r>
          </a:p>
        </p:txBody>
      </p:sp>
      <p:sp>
        <p:nvSpPr>
          <p:cNvPr id="4" name="">
            <a:extLst xmlns:a="http://schemas.openxmlformats.org/drawingml/2006/main">
              <a:ext uri="{FF2B5EF4-FFF2-40B4-BE49-F238E27FC236}">
                <a16:creationId xmlns:a16="http://schemas.microsoft.com/office/drawing/2014/main" id="{6BD0B9AB-DE92-4D72-A328-5C445A5F48CE}"/>
              </a:ext>
            </a:extLst>
          </p:cNvPr>
          <p:cNvSpPr>
            <a:spLocks xmlns:a="http://schemas.openxmlformats.org/drawingml/2006/main" noGrp="1"/>
          </p:cNvSpPr>
          <p:nvPr/>
        </p:nvSpPr>
        <p:spPr>
          <a:xfrm xmlns:a="http://schemas.openxmlformats.org/drawingml/2006/main">
            <a:off x="685800" y="6477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0A9F9B"/>
                </a:solidFill>
              </a:defRPr>
            </a:pPr>
            <a:r>
              <a:rPr sz="1050" b="1">
                <a:solidFill>
                  <a:srgbClr val="0A9F9B"/>
                </a:solidFill>
              </a:rPr>
              <a:t>THE USE CASE</a:t>
            </a:r>
          </a:p>
        </p:txBody>
      </p:sp>
      <p:sp>
        <p:nvSpPr>
          <p:cNvPr id="5" name="slide-title">
            <a:extLst xmlns:a="http://schemas.openxmlformats.org/drawingml/2006/main">
              <a:ext uri="{FF2B5EF4-FFF2-40B4-BE49-F238E27FC236}">
                <a16:creationId xmlns:a16="http://schemas.microsoft.com/office/drawing/2014/main" id="{5DFED1D8-38B5-4982-BC24-0C33B49FA4D8}"/>
              </a:ext>
            </a:extLst>
          </p:cNvPr>
          <p:cNvSpPr>
            <a:spLocks xmlns:a="http://schemas.openxmlformats.org/drawingml/2006/main" noGrp="1"/>
          </p:cNvSpPr>
          <p:nvPr/>
        </p:nvSpPr>
        <p:spPr>
          <a:xfrm xmlns:a="http://schemas.openxmlformats.org/drawingml/2006/main">
            <a:off x="685800" y="9144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1D45"/>
                </a:solidFill>
              </a:defRPr>
            </a:pPr>
            <a:r>
              <a:rPr sz="3000" b="1">
                <a:solidFill>
                  <a:srgbClr val="0B1D45"/>
                </a:solidFill>
              </a:rPr>
              <a:t>Crash-test the model before deployment.</a:t>
            </a:r>
          </a:p>
        </p:txBody>
      </p:sp>
      <p:sp>
        <p:nvSpPr>
          <p:cNvPr id="6" name="">
            <a:extLst xmlns:a="http://schemas.openxmlformats.org/drawingml/2006/main">
              <a:ext uri="{FF2B5EF4-FFF2-40B4-BE49-F238E27FC236}">
                <a16:creationId xmlns:a16="http://schemas.microsoft.com/office/drawing/2014/main" id="{57FE26B5-E8B2-417A-8491-AA1A700665FB}"/>
              </a:ext>
            </a:extLst>
          </p:cNvPr>
          <p:cNvSpPr>
            <a:spLocks xmlns:a="http://schemas.openxmlformats.org/drawingml/2006/main" noGrp="1"/>
          </p:cNvSpPr>
          <p:nvPr/>
        </p:nvSpPr>
        <p:spPr>
          <a:xfrm xmlns:a="http://schemas.openxmlformats.org/drawingml/2006/main">
            <a:off x="685800" y="1466850"/>
            <a:ext cx="971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66758F"/>
                </a:solidFill>
              </a:defRPr>
            </a:pPr>
            <a:r>
              <a:rPr sz="1500" b="0">
                <a:solidFill>
                  <a:srgbClr val="66758F"/>
                </a:solidFill>
              </a:rPr>
              <a:t>The mortality predictor is the model under test — Cliniverse is the instrument around it.</a:t>
            </a:r>
          </a:p>
        </p:txBody>
      </p:sp>
      <p:sp>
        <p:nvSpPr>
          <p:cNvPr id="7" name="">
            <a:extLst xmlns:a="http://schemas.openxmlformats.org/drawingml/2006/main">
              <a:ext uri="{FF2B5EF4-FFF2-40B4-BE49-F238E27FC236}">
                <a16:creationId xmlns:a16="http://schemas.microsoft.com/office/drawing/2014/main" id="{F42E5E93-0BC5-43A3-9827-F801CFA57CA7}"/>
              </a:ext>
            </a:extLst>
          </p:cNvPr>
          <p:cNvSpPr>
            <a:spLocks xmlns:a="http://schemas.openxmlformats.org/drawingml/2006/main" noGrp="1"/>
          </p:cNvSpPr>
          <p:nvPr/>
        </p:nvSpPr>
        <p:spPr>
          <a:xfrm xmlns:a="http://schemas.openxmlformats.org/drawingml/2006/main">
            <a:off x="3429000" y="3067050"/>
            <a:ext cx="685800" cy="323850"/>
          </a:xfrm>
          <a:prstGeom xmlns:a="http://schemas.openxmlformats.org/drawingml/2006/main" prst="rightArrow">
            <a:avLst/>
          </a:prstGeom>
          <a:solidFill xmlns:a="http://schemas.openxmlformats.org/drawingml/2006/main">
            <a:srgbClr val="69DED7"/>
          </a:solidFill>
          <a:ln xmlns:a="http://schemas.openxmlformats.org/drawingml/2006/main" w="0">
            <a:solidFill>
              <a:srgbClr val="69DED7"/>
            </a:solidFill>
            <a:prstDash val="solid"/>
          </a:ln>
        </p:spPr>
      </p:sp>
      <p:sp>
        <p:nvSpPr>
          <p:cNvPr id="8" name="">
            <a:extLst xmlns:a="http://schemas.openxmlformats.org/drawingml/2006/main">
              <a:ext uri="{FF2B5EF4-FFF2-40B4-BE49-F238E27FC236}">
                <a16:creationId xmlns:a16="http://schemas.microsoft.com/office/drawing/2014/main" id="{36C15E27-2AAE-43D4-9790-2D2498B7E3BA}"/>
              </a:ext>
            </a:extLst>
          </p:cNvPr>
          <p:cNvSpPr>
            <a:spLocks xmlns:a="http://schemas.openxmlformats.org/drawingml/2006/main" noGrp="1"/>
          </p:cNvSpPr>
          <p:nvPr/>
        </p:nvSpPr>
        <p:spPr>
          <a:xfrm xmlns:a="http://schemas.openxmlformats.org/drawingml/2006/main">
            <a:off x="7410450" y="3067050"/>
            <a:ext cx="685800" cy="323850"/>
          </a:xfrm>
          <a:prstGeom xmlns:a="http://schemas.openxmlformats.org/drawingml/2006/main" prst="rightArrow">
            <a:avLst/>
          </a:prstGeom>
          <a:solidFill xmlns:a="http://schemas.openxmlformats.org/drawingml/2006/main">
            <a:srgbClr val="69DED7"/>
          </a:solidFill>
          <a:ln xmlns:a="http://schemas.openxmlformats.org/drawingml/2006/main" w="0">
            <a:solidFill>
              <a:srgbClr val="69DED7"/>
            </a:solidFill>
            <a:prstDash val="solid"/>
          </a:ln>
        </p:spPr>
      </p:sp>
      <p:sp>
        <p:nvSpPr>
          <p:cNvPr id="9" name="">
            <a:extLst xmlns:a="http://schemas.openxmlformats.org/drawingml/2006/main">
              <a:ext uri="{FF2B5EF4-FFF2-40B4-BE49-F238E27FC236}">
                <a16:creationId xmlns:a16="http://schemas.microsoft.com/office/drawing/2014/main" id="{72975EDD-E11B-4B68-A757-B26CB55CD995}"/>
              </a:ext>
            </a:extLst>
          </p:cNvPr>
          <p:cNvSpPr>
            <a:spLocks xmlns:a="http://schemas.openxmlformats.org/drawingml/2006/main" noGrp="1"/>
          </p:cNvSpPr>
          <p:nvPr/>
        </p:nvSpPr>
        <p:spPr>
          <a:xfrm xmlns:a="http://schemas.openxmlformats.org/drawingml/2006/main">
            <a:off x="742950" y="2209800"/>
            <a:ext cx="2686050" cy="2209800"/>
          </a:xfrm>
          <a:prstGeom xmlns:a="http://schemas.openxmlformats.org/drawingml/2006/main" prst="roundRect">
            <a:avLst>
              <a:gd name="adj" fmla="val 9483"/>
            </a:avLst>
          </a:prstGeom>
          <a:solidFill xmlns:a="http://schemas.openxmlformats.org/drawingml/2006/main">
            <a:srgbClr val="FFFFFF"/>
          </a:solidFill>
          <a:ln xmlns:a="http://schemas.openxmlformats.org/drawingml/2006/main" w="9525">
            <a:solidFill>
              <a:srgbClr val="D8E4E8"/>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859A407E-DA55-4A8D-AC92-3E2A1C46D3AC}"/>
              </a:ext>
            </a:extLst>
          </p:cNvPr>
          <p:cNvSpPr>
            <a:spLocks xmlns:a="http://schemas.openxmlformats.org/drawingml/2006/main" noGrp="1"/>
          </p:cNvSpPr>
          <p:nvPr/>
        </p:nvSpPr>
        <p:spPr>
          <a:xfrm xmlns:a="http://schemas.openxmlformats.org/drawingml/2006/main">
            <a:off x="4114800" y="1962150"/>
            <a:ext cx="3295650" cy="2705100"/>
          </a:xfrm>
          <a:prstGeom xmlns:a="http://schemas.openxmlformats.org/drawingml/2006/main" prst="roundRect">
            <a:avLst>
              <a:gd name="adj" fmla="val 9155"/>
            </a:avLst>
          </a:prstGeom>
          <a:solidFill xmlns:a="http://schemas.openxmlformats.org/drawingml/2006/main">
            <a:srgbClr val="0B1D45"/>
          </a:solidFill>
          <a:ln xmlns:a="http://schemas.openxmlformats.org/drawingml/2006/main" w="9525">
            <a:solidFill>
              <a:srgbClr val="0B1D45"/>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8E4E0582-256D-4B77-A8F7-62D52207854C}"/>
              </a:ext>
            </a:extLst>
          </p:cNvPr>
          <p:cNvSpPr>
            <a:spLocks xmlns:a="http://schemas.openxmlformats.org/drawingml/2006/main" noGrp="1"/>
          </p:cNvSpPr>
          <p:nvPr/>
        </p:nvSpPr>
        <p:spPr>
          <a:xfrm xmlns:a="http://schemas.openxmlformats.org/drawingml/2006/main">
            <a:off x="8096250" y="2209800"/>
            <a:ext cx="3352800" cy="2209800"/>
          </a:xfrm>
          <a:prstGeom xmlns:a="http://schemas.openxmlformats.org/drawingml/2006/main" prst="roundRect">
            <a:avLst>
              <a:gd name="adj" fmla="val 9483"/>
            </a:avLst>
          </a:prstGeom>
          <a:solidFill xmlns:a="http://schemas.openxmlformats.org/drawingml/2006/main">
            <a:srgbClr val="FFFFFF"/>
          </a:solidFill>
          <a:ln xmlns:a="http://schemas.openxmlformats.org/drawingml/2006/main" w="9525">
            <a:solidFill>
              <a:srgbClr val="D8E4E8"/>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2FF291A0-6164-4BE2-BFD2-D7857AC019ED}"/>
              </a:ext>
            </a:extLst>
          </p:cNvPr>
          <p:cNvSpPr>
            <a:spLocks xmlns:a="http://schemas.openxmlformats.org/drawingml/2006/main" noGrp="1"/>
          </p:cNvSpPr>
          <p:nvPr/>
        </p:nvSpPr>
        <p:spPr>
          <a:xfrm xmlns:a="http://schemas.openxmlformats.org/drawingml/2006/main">
            <a:off x="1009650" y="24384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0A9F9B"/>
                </a:solidFill>
              </a:defRPr>
            </a:pPr>
            <a:r>
              <a:rPr sz="1125" b="1">
                <a:solidFill>
                  <a:srgbClr val="0A9F9B"/>
                </a:solidFill>
              </a:rPr>
              <a:t>MODEL</a:t>
            </a:r>
          </a:p>
        </p:txBody>
      </p:sp>
      <p:sp>
        <p:nvSpPr>
          <p:cNvPr id="13" name="">
            <a:extLst xmlns:a="http://schemas.openxmlformats.org/drawingml/2006/main">
              <a:ext uri="{FF2B5EF4-FFF2-40B4-BE49-F238E27FC236}">
                <a16:creationId xmlns:a16="http://schemas.microsoft.com/office/drawing/2014/main" id="{20D8F671-9770-4DFA-849F-D875242A199B}"/>
              </a:ext>
            </a:extLst>
          </p:cNvPr>
          <p:cNvSpPr>
            <a:spLocks xmlns:a="http://schemas.openxmlformats.org/drawingml/2006/main" noGrp="1"/>
          </p:cNvSpPr>
          <p:nvPr/>
        </p:nvSpPr>
        <p:spPr>
          <a:xfrm xmlns:a="http://schemas.openxmlformats.org/drawingml/2006/main">
            <a:off x="1009650" y="2819400"/>
            <a:ext cx="2152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25" b="1">
                <a:solidFill>
                  <a:srgbClr val="0B1D45"/>
                </a:solidFill>
              </a:defRPr>
            </a:pPr>
            <a:r>
              <a:rPr sz="2325" b="1">
                <a:solidFill>
                  <a:srgbClr val="0B1D45"/>
                </a:solidFill>
              </a:rPr>
              <a:t>Frozen healthcare</a:t>
            </a:r>
          </a:p>
          <a:p xmlns:a="http://schemas.openxmlformats.org/drawingml/2006/main">
            <a:pPr algn="ctr">
              <a:buNone/>
              <a:defRPr sz="2325" b="1">
                <a:solidFill>
                  <a:srgbClr val="0B1D45"/>
                </a:solidFill>
              </a:defRPr>
            </a:pPr>
            <a:r>
              <a:rPr sz="2325" b="1">
                <a:solidFill>
                  <a:srgbClr val="0B1D45"/>
                </a:solidFill>
              </a:rPr>
              <a:t>risk model</a:t>
            </a:r>
          </a:p>
        </p:txBody>
      </p:sp>
      <p:sp>
        <p:nvSpPr>
          <p:cNvPr id="14" name="">
            <a:extLst xmlns:a="http://schemas.openxmlformats.org/drawingml/2006/main">
              <a:ext uri="{FF2B5EF4-FFF2-40B4-BE49-F238E27FC236}">
                <a16:creationId xmlns:a16="http://schemas.microsoft.com/office/drawing/2014/main" id="{C23D1A47-FFB1-42F4-A8EC-0236C4ED54DE}"/>
              </a:ext>
            </a:extLst>
          </p:cNvPr>
          <p:cNvSpPr>
            <a:spLocks xmlns:a="http://schemas.openxmlformats.org/drawingml/2006/main" noGrp="1"/>
          </p:cNvSpPr>
          <p:nvPr/>
        </p:nvSpPr>
        <p:spPr>
          <a:xfrm xmlns:a="http://schemas.openxmlformats.org/drawingml/2006/main">
            <a:off x="1009650" y="40386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58F"/>
                </a:solidFill>
              </a:defRPr>
            </a:pPr>
            <a:r>
              <a:rPr sz="1350" b="0">
                <a:solidFill>
                  <a:srgbClr val="66758F"/>
                </a:solidFill>
              </a:rPr>
              <a:t>the car</a:t>
            </a:r>
          </a:p>
        </p:txBody>
      </p:sp>
      <p:sp>
        <p:nvSpPr>
          <p:cNvPr id="15" name="">
            <a:extLst xmlns:a="http://schemas.openxmlformats.org/drawingml/2006/main">
              <a:ext uri="{FF2B5EF4-FFF2-40B4-BE49-F238E27FC236}">
                <a16:creationId xmlns:a16="http://schemas.microsoft.com/office/drawing/2014/main" id="{59EFE5F6-C4DE-4FE1-9E69-5216E6C3ED1B}"/>
              </a:ext>
            </a:extLst>
          </p:cNvPr>
          <p:cNvSpPr>
            <a:spLocks xmlns:a="http://schemas.openxmlformats.org/drawingml/2006/main" noGrp="1"/>
          </p:cNvSpPr>
          <p:nvPr/>
        </p:nvSpPr>
        <p:spPr>
          <a:xfrm xmlns:a="http://schemas.openxmlformats.org/drawingml/2006/main">
            <a:off x="4457700" y="2247900"/>
            <a:ext cx="2609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9DED7"/>
                </a:solidFill>
              </a:defRPr>
            </a:pPr>
            <a:r>
              <a:rPr sz="1200" b="1">
                <a:solidFill>
                  <a:srgbClr val="69DED7"/>
                </a:solidFill>
              </a:rPr>
              <a:t>CLINIVERSE</a:t>
            </a:r>
          </a:p>
        </p:txBody>
      </p:sp>
      <p:sp>
        <p:nvSpPr>
          <p:cNvPr id="16" name="">
            <a:extLst xmlns:a="http://schemas.openxmlformats.org/drawingml/2006/main">
              <a:ext uri="{FF2B5EF4-FFF2-40B4-BE49-F238E27FC236}">
                <a16:creationId xmlns:a16="http://schemas.microsoft.com/office/drawing/2014/main" id="{A3AC7B34-124B-4EA7-8D68-ABBFE14E1392}"/>
              </a:ext>
            </a:extLst>
          </p:cNvPr>
          <p:cNvSpPr>
            <a:spLocks xmlns:a="http://schemas.openxmlformats.org/drawingml/2006/main" noGrp="1"/>
          </p:cNvSpPr>
          <p:nvPr/>
        </p:nvSpPr>
        <p:spPr>
          <a:xfrm xmlns:a="http://schemas.openxmlformats.org/drawingml/2006/main">
            <a:off x="4457700" y="2686050"/>
            <a:ext cx="26098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FFFFFF"/>
                </a:solidFill>
              </a:defRPr>
            </a:pPr>
            <a:r>
              <a:rPr sz="2550" b="1">
                <a:solidFill>
                  <a:srgbClr val="FFFFFF"/>
                </a:solidFill>
              </a:rPr>
              <a:t>Controlled</a:t>
            </a:r>
          </a:p>
          <a:p xmlns:a="http://schemas.openxmlformats.org/drawingml/2006/main">
            <a:pPr algn="ctr">
              <a:buNone/>
              <a:defRPr sz="2550" b="1">
                <a:solidFill>
                  <a:srgbClr val="FFFFFF"/>
                </a:solidFill>
              </a:defRPr>
            </a:pPr>
            <a:r>
              <a:rPr sz="2550" b="1">
                <a:solidFill>
                  <a:srgbClr val="FFFFFF"/>
                </a:solidFill>
              </a:rPr>
              <a:t>information stress</a:t>
            </a:r>
          </a:p>
        </p:txBody>
      </p:sp>
      <p:sp>
        <p:nvSpPr>
          <p:cNvPr id="17" name="">
            <a:extLst xmlns:a="http://schemas.openxmlformats.org/drawingml/2006/main">
              <a:ext uri="{FF2B5EF4-FFF2-40B4-BE49-F238E27FC236}">
                <a16:creationId xmlns:a16="http://schemas.microsoft.com/office/drawing/2014/main" id="{7183C31A-2B14-4D75-AD67-4287DB14313D}"/>
              </a:ext>
            </a:extLst>
          </p:cNvPr>
          <p:cNvSpPr>
            <a:spLocks xmlns:a="http://schemas.openxmlformats.org/drawingml/2006/main" noGrp="1"/>
          </p:cNvSpPr>
          <p:nvPr/>
        </p:nvSpPr>
        <p:spPr>
          <a:xfrm xmlns:a="http://schemas.openxmlformats.org/drawingml/2006/main">
            <a:off x="4819650" y="3924300"/>
            <a:ext cx="1885950" cy="0"/>
          </a:xfrm>
          <a:prstGeom xmlns:a="http://schemas.openxmlformats.org/drawingml/2006/main" prst="line">
            <a:avLst/>
          </a:prstGeom>
          <a:noFill xmlns:a="http://schemas.openxmlformats.org/drawingml/2006/main"/>
          <a:ln xmlns:a="http://schemas.openxmlformats.org/drawingml/2006/main" w="28575">
            <a:solidFill>
              <a:srgbClr val="20BFB8"/>
            </a:solidFill>
            <a:prstDash val="solid"/>
          </a:ln>
        </p:spPr>
      </p:sp>
      <p:sp>
        <p:nvSpPr>
          <p:cNvPr id="18" name="">
            <a:extLst xmlns:a="http://schemas.openxmlformats.org/drawingml/2006/main">
              <a:ext uri="{FF2B5EF4-FFF2-40B4-BE49-F238E27FC236}">
                <a16:creationId xmlns:a16="http://schemas.microsoft.com/office/drawing/2014/main" id="{04B6CF35-423A-46D3-96F5-6ABDF8BB9818}"/>
              </a:ext>
            </a:extLst>
          </p:cNvPr>
          <p:cNvSpPr>
            <a:spLocks xmlns:a="http://schemas.openxmlformats.org/drawingml/2006/main" noGrp="1"/>
          </p:cNvSpPr>
          <p:nvPr/>
        </p:nvSpPr>
        <p:spPr>
          <a:xfrm xmlns:a="http://schemas.openxmlformats.org/drawingml/2006/main">
            <a:off x="4457700" y="4133850"/>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B9D8D5"/>
                </a:solidFill>
              </a:defRPr>
            </a:pPr>
            <a:r>
              <a:rPr sz="1350" b="0">
                <a:solidFill>
                  <a:srgbClr val="B9D8D5"/>
                </a:solidFill>
              </a:rPr>
              <a:t>the crash-test facility</a:t>
            </a:r>
          </a:p>
        </p:txBody>
      </p:sp>
      <p:sp>
        <p:nvSpPr>
          <p:cNvPr id="19" name="">
            <a:extLst xmlns:a="http://schemas.openxmlformats.org/drawingml/2006/main">
              <a:ext uri="{FF2B5EF4-FFF2-40B4-BE49-F238E27FC236}">
                <a16:creationId xmlns:a16="http://schemas.microsoft.com/office/drawing/2014/main" id="{D9B92A45-B560-4B89-A428-E67D6C8558A7}"/>
              </a:ext>
            </a:extLst>
          </p:cNvPr>
          <p:cNvSpPr>
            <a:spLocks xmlns:a="http://schemas.openxmlformats.org/drawingml/2006/main" noGrp="1"/>
          </p:cNvSpPr>
          <p:nvPr/>
        </p:nvSpPr>
        <p:spPr>
          <a:xfrm xmlns:a="http://schemas.openxmlformats.org/drawingml/2006/main">
            <a:off x="8439150" y="243840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0A9F9B"/>
                </a:solidFill>
              </a:defRPr>
            </a:pPr>
            <a:r>
              <a:rPr sz="1125" b="1">
                <a:solidFill>
                  <a:srgbClr val="0A9F9B"/>
                </a:solidFill>
              </a:rPr>
              <a:t>OUTPUT</a:t>
            </a:r>
          </a:p>
        </p:txBody>
      </p:sp>
      <p:sp>
        <p:nvSpPr>
          <p:cNvPr id="20" name="">
            <a:extLst xmlns:a="http://schemas.openxmlformats.org/drawingml/2006/main">
              <a:ext uri="{FF2B5EF4-FFF2-40B4-BE49-F238E27FC236}">
                <a16:creationId xmlns:a16="http://schemas.microsoft.com/office/drawing/2014/main" id="{3001AB99-F782-4F61-9C82-24687391C069}"/>
              </a:ext>
            </a:extLst>
          </p:cNvPr>
          <p:cNvSpPr>
            <a:spLocks xmlns:a="http://schemas.openxmlformats.org/drawingml/2006/main" noGrp="1"/>
          </p:cNvSpPr>
          <p:nvPr/>
        </p:nvSpPr>
        <p:spPr>
          <a:xfrm xmlns:a="http://schemas.openxmlformats.org/drawingml/2006/main">
            <a:off x="8439150" y="2914650"/>
            <a:ext cx="2667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25" b="1">
                <a:solidFill>
                  <a:srgbClr val="0B1D45"/>
                </a:solidFill>
              </a:defRPr>
            </a:pPr>
            <a:r>
              <a:rPr sz="2325" b="1">
                <a:solidFill>
                  <a:srgbClr val="0B1D45"/>
                </a:solidFill>
              </a:rPr>
              <a:t>Reliability</a:t>
            </a:r>
          </a:p>
          <a:p xmlns:a="http://schemas.openxmlformats.org/drawingml/2006/main">
            <a:pPr algn="ctr">
              <a:buNone/>
              <a:defRPr sz="2325" b="1">
                <a:solidFill>
                  <a:srgbClr val="0B1D45"/>
                </a:solidFill>
              </a:defRPr>
            </a:pPr>
            <a:r>
              <a:rPr sz="2325" b="1">
                <a:solidFill>
                  <a:srgbClr val="0B1D45"/>
                </a:solidFill>
              </a:rPr>
              <a:t>evidence</a:t>
            </a:r>
          </a:p>
        </p:txBody>
      </p:sp>
      <p:sp>
        <p:nvSpPr>
          <p:cNvPr id="21" name="">
            <a:extLst xmlns:a="http://schemas.openxmlformats.org/drawingml/2006/main">
              <a:ext uri="{FF2B5EF4-FFF2-40B4-BE49-F238E27FC236}">
                <a16:creationId xmlns:a16="http://schemas.microsoft.com/office/drawing/2014/main" id="{8398D6A4-F399-4549-BBC9-3D2B21AAAB52}"/>
              </a:ext>
            </a:extLst>
          </p:cNvPr>
          <p:cNvSpPr>
            <a:spLocks xmlns:a="http://schemas.openxmlformats.org/drawingml/2006/main" noGrp="1"/>
          </p:cNvSpPr>
          <p:nvPr/>
        </p:nvSpPr>
        <p:spPr>
          <a:xfrm xmlns:a="http://schemas.openxmlformats.org/drawingml/2006/main">
            <a:off x="8439150" y="39052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58F"/>
                </a:solidFill>
              </a:defRPr>
            </a:pPr>
            <a:r>
              <a:rPr sz="1350" b="0">
                <a:solidFill>
                  <a:srgbClr val="66758F"/>
                </a:solidFill>
              </a:rPr>
              <a:t>what breaks first</a:t>
            </a:r>
          </a:p>
        </p:txBody>
      </p:sp>
      <p:sp>
        <p:nvSpPr>
          <p:cNvPr id="22" name="">
            <a:extLst xmlns:a="http://schemas.openxmlformats.org/drawingml/2006/main">
              <a:ext uri="{FF2B5EF4-FFF2-40B4-BE49-F238E27FC236}">
                <a16:creationId xmlns:a16="http://schemas.microsoft.com/office/drawing/2014/main" id="{7BB80E7F-0624-40B0-8CB1-EEA068330171}"/>
              </a:ext>
            </a:extLst>
          </p:cNvPr>
          <p:cNvSpPr>
            <a:spLocks xmlns:a="http://schemas.openxmlformats.org/drawingml/2006/main" noGrp="1"/>
          </p:cNvSpPr>
          <p:nvPr/>
        </p:nvSpPr>
        <p:spPr>
          <a:xfrm xmlns:a="http://schemas.openxmlformats.org/drawingml/2006/main">
            <a:off x="1714500" y="5143500"/>
            <a:ext cx="8763000" cy="0"/>
          </a:xfrm>
          <a:prstGeom xmlns:a="http://schemas.openxmlformats.org/drawingml/2006/main" prst="line">
            <a:avLst/>
          </a:prstGeom>
          <a:noFill xmlns:a="http://schemas.openxmlformats.org/drawingml/2006/main"/>
          <a:ln xmlns:a="http://schemas.openxmlformats.org/drawingml/2006/main" w="9525">
            <a:solidFill>
              <a:srgbClr val="D8E4E8"/>
            </a:solidFill>
            <a:prstDash val="solid"/>
          </a:ln>
        </p:spPr>
      </p:sp>
      <p:sp>
        <p:nvSpPr>
          <p:cNvPr id="23" name="">
            <a:extLst xmlns:a="http://schemas.openxmlformats.org/drawingml/2006/main">
              <a:ext uri="{FF2B5EF4-FFF2-40B4-BE49-F238E27FC236}">
                <a16:creationId xmlns:a16="http://schemas.microsoft.com/office/drawing/2014/main" id="{B426CBB2-EB34-43C3-92A7-6C873BB60A36}"/>
              </a:ext>
            </a:extLst>
          </p:cNvPr>
          <p:cNvSpPr>
            <a:spLocks xmlns:a="http://schemas.openxmlformats.org/drawingml/2006/main" noGrp="1"/>
          </p:cNvSpPr>
          <p:nvPr/>
        </p:nvSpPr>
        <p:spPr>
          <a:xfrm xmlns:a="http://schemas.openxmlformats.org/drawingml/2006/main">
            <a:off x="838200" y="542925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66758F"/>
                </a:solidFill>
              </a:defRPr>
            </a:pPr>
            <a:r>
              <a:rPr sz="1125" b="1">
                <a:solidFill>
                  <a:srgbClr val="66758F"/>
                </a:solidFill>
              </a:rPr>
              <a:t>FOR</a:t>
            </a:r>
          </a:p>
        </p:txBody>
      </p:sp>
      <p:sp>
        <p:nvSpPr>
          <p:cNvPr id="24" name="">
            <a:extLst xmlns:a="http://schemas.openxmlformats.org/drawingml/2006/main">
              <a:ext uri="{FF2B5EF4-FFF2-40B4-BE49-F238E27FC236}">
                <a16:creationId xmlns:a16="http://schemas.microsoft.com/office/drawing/2014/main" id="{E1901E99-B61A-4D44-94C2-7B5F251EB29A}"/>
              </a:ext>
            </a:extLst>
          </p:cNvPr>
          <p:cNvSpPr>
            <a:spLocks xmlns:a="http://schemas.openxmlformats.org/drawingml/2006/main" noGrp="1"/>
          </p:cNvSpPr>
          <p:nvPr/>
        </p:nvSpPr>
        <p:spPr>
          <a:xfrm xmlns:a="http://schemas.openxmlformats.org/drawingml/2006/main">
            <a:off x="1714500" y="53721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0B1D45"/>
                </a:solidFill>
              </a:defRPr>
            </a:pPr>
            <a:r>
              <a:rPr sz="1725" b="1">
                <a:solidFill>
                  <a:srgbClr val="0B1D45"/>
                </a:solidFill>
              </a:rPr>
              <a:t>Model developers</a:t>
            </a:r>
          </a:p>
        </p:txBody>
      </p:sp>
      <p:sp>
        <p:nvSpPr>
          <p:cNvPr id="25" name="">
            <a:extLst xmlns:a="http://schemas.openxmlformats.org/drawingml/2006/main">
              <a:ext uri="{FF2B5EF4-FFF2-40B4-BE49-F238E27FC236}">
                <a16:creationId xmlns:a16="http://schemas.microsoft.com/office/drawing/2014/main" id="{5E182842-082E-4C86-BC43-0ACD86889AA3}"/>
              </a:ext>
            </a:extLst>
          </p:cNvPr>
          <p:cNvSpPr>
            <a:spLocks xmlns:a="http://schemas.openxmlformats.org/drawingml/2006/main" noGrp="1"/>
          </p:cNvSpPr>
          <p:nvPr/>
        </p:nvSpPr>
        <p:spPr>
          <a:xfrm xmlns:a="http://schemas.openxmlformats.org/drawingml/2006/main">
            <a:off x="4762500" y="53721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0B1D45"/>
                </a:solidFill>
              </a:defRPr>
            </a:pPr>
            <a:r>
              <a:rPr sz="1725" b="1">
                <a:solidFill>
                  <a:srgbClr val="0B1D45"/>
                </a:solidFill>
              </a:rPr>
              <a:t>ML researchers</a:t>
            </a:r>
          </a:p>
        </p:txBody>
      </p:sp>
      <p:sp>
        <p:nvSpPr>
          <p:cNvPr id="26" name="">
            <a:extLst xmlns:a="http://schemas.openxmlformats.org/drawingml/2006/main">
              <a:ext uri="{FF2B5EF4-FFF2-40B4-BE49-F238E27FC236}">
                <a16:creationId xmlns:a16="http://schemas.microsoft.com/office/drawing/2014/main" id="{9004110F-4FC0-48F0-9FF7-21839315D098}"/>
              </a:ext>
            </a:extLst>
          </p:cNvPr>
          <p:cNvSpPr>
            <a:spLocks xmlns:a="http://schemas.openxmlformats.org/drawingml/2006/main" noGrp="1"/>
          </p:cNvSpPr>
          <p:nvPr/>
        </p:nvSpPr>
        <p:spPr>
          <a:xfrm xmlns:a="http://schemas.openxmlformats.org/drawingml/2006/main">
            <a:off x="7524750" y="53721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0B1D45"/>
                </a:solidFill>
              </a:defRPr>
            </a:pPr>
            <a:r>
              <a:rPr sz="1725" b="1">
                <a:solidFill>
                  <a:srgbClr val="0B1D45"/>
                </a:solidFill>
              </a:rPr>
              <a:t>Model-governance teams</a:t>
            </a:r>
          </a:p>
        </p:txBody>
      </p:sp>
      <p:sp>
        <p:nvSpPr>
          <p:cNvPr id="27" name="">
            <a:extLst xmlns:a="http://schemas.openxmlformats.org/drawingml/2006/main">
              <a:ext uri="{FF2B5EF4-FFF2-40B4-BE49-F238E27FC236}">
                <a16:creationId xmlns:a16="http://schemas.microsoft.com/office/drawing/2014/main" id="{45FAAB7F-9E21-4FF9-B6AB-A4A083B47DAF}"/>
              </a:ext>
            </a:extLst>
          </p:cNvPr>
          <p:cNvSpPr>
            <a:spLocks xmlns:a="http://schemas.openxmlformats.org/drawingml/2006/main" noGrp="1"/>
          </p:cNvSpPr>
          <p:nvPr/>
        </p:nvSpPr>
        <p:spPr>
          <a:xfrm xmlns:a="http://schemas.openxmlformats.org/drawingml/2006/main">
            <a:off x="685800" y="61722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E95B19"/>
                </a:solidFill>
              </a:defRPr>
            </a:pPr>
            <a:r>
              <a:rPr sz="1125" b="1">
                <a:solidFill>
                  <a:srgbClr val="E95B19"/>
                </a:solidFill>
              </a:rPr>
              <a:t>Not a doctor or patient application</a:t>
            </a:r>
          </a:p>
        </p:txBody>
      </p:sp>
    </p:spTree>
    <p:extLst>
      <p:ext uri="{BB962C8B-B14F-4D97-AF65-F5344CB8AC3E}">
        <p14:creationId xmlns:p14="http://schemas.microsoft.com/office/powerpoint/2010/main" val="2652763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A6D2B11-4194-42F0-906F-13C721C79899}"/>
              </a:ext>
            </a:extLst>
          </p:cNvPr>
          <p:cNvSpPr>
            <a:spLocks xmlns:a="http://schemas.openxmlformats.org/drawingml/2006/main" noGrp="1"/>
          </p:cNvSpPr>
          <p:nvPr/>
        </p:nvSpPr>
        <p:spPr>
          <a:xfrm xmlns:a="http://schemas.openxmlformats.org/drawingml/2006/main">
            <a:off x="704850" y="2667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0B1D45"/>
                </a:solidFill>
              </a:defRPr>
            </a:pPr>
            <a:r>
              <a:rPr sz="1050" b="1">
                <a:solidFill>
                  <a:srgbClr val="0B1D45"/>
                </a:solidFill>
              </a:rPr>
              <a:t>CLINIVERSE</a:t>
            </a:r>
          </a:p>
        </p:txBody>
      </p:sp>
      <p:sp>
        <p:nvSpPr>
          <p:cNvPr id="2" name="">
            <a:extLst xmlns:a="http://schemas.openxmlformats.org/drawingml/2006/main">
              <a:ext uri="{FF2B5EF4-FFF2-40B4-BE49-F238E27FC236}">
                <a16:creationId xmlns:a16="http://schemas.microsoft.com/office/drawing/2014/main" id="{6788422A-8EC2-4CA5-9608-F9A4B1770BED}"/>
              </a:ext>
            </a:extLst>
          </p:cNvPr>
          <p:cNvSpPr>
            <a:spLocks xmlns:a="http://schemas.openxmlformats.org/drawingml/2006/main" noGrp="1"/>
          </p:cNvSpPr>
          <p:nvPr/>
        </p:nvSpPr>
        <p:spPr>
          <a:xfrm xmlns:a="http://schemas.openxmlformats.org/drawingml/2006/main">
            <a:off x="2324100" y="276225"/>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66758F"/>
                </a:solidFill>
              </a:defRPr>
            </a:pPr>
            <a:r>
              <a:rPr sz="1050" b="0">
                <a:solidFill>
                  <a:srgbClr val="66758F"/>
                </a:solidFill>
              </a:rPr>
              <a:t>Healthcare AI Reliability Lab</a:t>
            </a:r>
          </a:p>
        </p:txBody>
      </p:sp>
      <p:sp>
        <p:nvSpPr>
          <p:cNvPr id="3" name="">
            <a:extLst xmlns:a="http://schemas.openxmlformats.org/drawingml/2006/main">
              <a:ext uri="{FF2B5EF4-FFF2-40B4-BE49-F238E27FC236}">
                <a16:creationId xmlns:a16="http://schemas.microsoft.com/office/drawing/2014/main" id="{15F558B6-1989-4D74-916C-406D67EE9939}"/>
              </a:ext>
            </a:extLst>
          </p:cNvPr>
          <p:cNvSpPr>
            <a:spLocks xmlns:a="http://schemas.openxmlformats.org/drawingml/2006/main" noGrp="1"/>
          </p:cNvSpPr>
          <p:nvPr/>
        </p:nvSpPr>
        <p:spPr>
          <a:xfrm xmlns:a="http://schemas.openxmlformats.org/drawingml/2006/main">
            <a:off x="11239500" y="2667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66758F"/>
                </a:solidFill>
              </a:defRPr>
            </a:pPr>
            <a:r>
              <a:rPr sz="1050" b="1">
                <a:solidFill>
                  <a:srgbClr val="66758F"/>
                </a:solidFill>
              </a:rPr>
              <a:t>04</a:t>
            </a:r>
          </a:p>
        </p:txBody>
      </p:sp>
      <p:sp>
        <p:nvSpPr>
          <p:cNvPr id="4" name="">
            <a:extLst xmlns:a="http://schemas.openxmlformats.org/drawingml/2006/main">
              <a:ext uri="{FF2B5EF4-FFF2-40B4-BE49-F238E27FC236}">
                <a16:creationId xmlns:a16="http://schemas.microsoft.com/office/drawing/2014/main" id="{BFEE3F43-C728-4ECB-A5D6-21305AA4B7F5}"/>
              </a:ext>
            </a:extLst>
          </p:cNvPr>
          <p:cNvSpPr>
            <a:spLocks xmlns:a="http://schemas.openxmlformats.org/drawingml/2006/main" noGrp="1"/>
          </p:cNvSpPr>
          <p:nvPr/>
        </p:nvSpPr>
        <p:spPr>
          <a:xfrm xmlns:a="http://schemas.openxmlformats.org/drawingml/2006/main">
            <a:off x="685800" y="6477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0A9F9B"/>
                </a:solidFill>
              </a:defRPr>
            </a:pPr>
            <a:r>
              <a:rPr sz="1050" b="1">
                <a:solidFill>
                  <a:srgbClr val="0A9F9B"/>
                </a:solidFill>
              </a:rPr>
              <a:t>HOW CLINIVERSE WORKS</a:t>
            </a:r>
          </a:p>
        </p:txBody>
      </p:sp>
      <p:sp>
        <p:nvSpPr>
          <p:cNvPr id="5" name="slide-title">
            <a:extLst xmlns:a="http://schemas.openxmlformats.org/drawingml/2006/main">
              <a:ext uri="{FF2B5EF4-FFF2-40B4-BE49-F238E27FC236}">
                <a16:creationId xmlns:a16="http://schemas.microsoft.com/office/drawing/2014/main" id="{5217340E-1EF6-418D-A1B7-AA3193C7D03F}"/>
              </a:ext>
            </a:extLst>
          </p:cNvPr>
          <p:cNvSpPr>
            <a:spLocks xmlns:a="http://schemas.openxmlformats.org/drawingml/2006/main" noGrp="1"/>
          </p:cNvSpPr>
          <p:nvPr/>
        </p:nvSpPr>
        <p:spPr>
          <a:xfrm xmlns:a="http://schemas.openxmlformats.org/drawingml/2006/main">
            <a:off x="685800" y="9144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1D45"/>
                </a:solidFill>
              </a:defRPr>
            </a:pPr>
            <a:r>
              <a:rPr sz="3000" b="1">
                <a:solidFill>
                  <a:srgbClr val="0B1D45"/>
                </a:solidFill>
              </a:rPr>
              <a:t>Seven stages turn a suspicion into evidence.</a:t>
            </a:r>
          </a:p>
        </p:txBody>
      </p:sp>
      <p:sp>
        <p:nvSpPr>
          <p:cNvPr id="6" name="">
            <a:extLst xmlns:a="http://schemas.openxmlformats.org/drawingml/2006/main">
              <a:ext uri="{FF2B5EF4-FFF2-40B4-BE49-F238E27FC236}">
                <a16:creationId xmlns:a16="http://schemas.microsoft.com/office/drawing/2014/main" id="{77A53024-9DC8-4EC6-B095-7B4E5334BE10}"/>
              </a:ext>
            </a:extLst>
          </p:cNvPr>
          <p:cNvSpPr>
            <a:spLocks xmlns:a="http://schemas.openxmlformats.org/drawingml/2006/main" noGrp="1"/>
          </p:cNvSpPr>
          <p:nvPr/>
        </p:nvSpPr>
        <p:spPr>
          <a:xfrm xmlns:a="http://schemas.openxmlformats.org/drawingml/2006/main">
            <a:off x="685800" y="14859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0A9F9B"/>
                </a:solidFill>
              </a:defRPr>
            </a:pPr>
            <a:r>
              <a:rPr sz="1875" b="1">
                <a:solidFill>
                  <a:srgbClr val="0A9F9B"/>
                </a:solidFill>
              </a:rPr>
              <a:t>Stress → Control → Search → Stabilise → Freeze → Confirm → Evidence</a:t>
            </a:r>
          </a:p>
        </p:txBody>
      </p:sp>
      <p:sp>
        <p:nvSpPr>
          <p:cNvPr id="7" name="">
            <a:extLst xmlns:a="http://schemas.openxmlformats.org/drawingml/2006/main">
              <a:ext uri="{FF2B5EF4-FFF2-40B4-BE49-F238E27FC236}">
                <a16:creationId xmlns:a16="http://schemas.microsoft.com/office/drawing/2014/main" id="{A932E0FE-A2A3-4AB1-85BB-78E842AF2EB8}"/>
              </a:ext>
            </a:extLst>
          </p:cNvPr>
          <p:cNvSpPr>
            <a:spLocks xmlns:a="http://schemas.openxmlformats.org/drawingml/2006/main" noGrp="1"/>
          </p:cNvSpPr>
          <p:nvPr/>
        </p:nvSpPr>
        <p:spPr>
          <a:xfrm xmlns:a="http://schemas.openxmlformats.org/drawingml/2006/main">
            <a:off x="685800" y="2038350"/>
            <a:ext cx="10820400" cy="3086100"/>
          </a:xfrm>
          <a:prstGeom xmlns:a="http://schemas.openxmlformats.org/drawingml/2006/main" prst="roundRect">
            <a:avLst>
              <a:gd name="adj" fmla="val 5556"/>
            </a:avLst>
          </a:prstGeom>
          <a:solidFill xmlns:a="http://schemas.openxmlformats.org/drawingml/2006/main">
            <a:srgbClr val="F5F9FA"/>
          </a:solidFill>
          <a:ln xmlns:a="http://schemas.openxmlformats.org/drawingml/2006/main" w="9525">
            <a:solidFill>
              <a:srgbClr val="D8E4E8"/>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05b764303f54870"/>
          <a:stretch xmlns:a="http://schemas.openxmlformats.org/drawingml/2006/main"/>
        </p:blipFill>
        <p:spPr>
          <a:xfrm xmlns:a="http://schemas.openxmlformats.org/drawingml/2006/main">
            <a:off x="838200" y="2240124"/>
            <a:ext cx="10515600" cy="268255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5FA3E23A-6D0E-4648-908A-0C4A2C39C900}"/>
              </a:ext>
            </a:extLst>
          </p:cNvPr>
          <p:cNvSpPr>
            <a:spLocks xmlns:a="http://schemas.openxmlformats.org/drawingml/2006/main" noGrp="1"/>
          </p:cNvSpPr>
          <p:nvPr/>
        </p:nvSpPr>
        <p:spPr>
          <a:xfrm xmlns:a="http://schemas.openxmlformats.org/drawingml/2006/main">
            <a:off x="1162050" y="5353050"/>
            <a:ext cx="9867900" cy="857250"/>
          </a:xfrm>
          <a:prstGeom xmlns:a="http://schemas.openxmlformats.org/drawingml/2006/main" prst="roundRect">
            <a:avLst>
              <a:gd name="adj" fmla="val 20000"/>
            </a:avLst>
          </a:prstGeom>
          <a:solidFill xmlns:a="http://schemas.openxmlformats.org/drawingml/2006/main">
            <a:srgbClr val="0B1D45"/>
          </a:solidFill>
          <a:ln xmlns:a="http://schemas.openxmlformats.org/drawingml/2006/main" w="9525">
            <a:solidFill>
              <a:srgbClr val="0B1D45"/>
            </a:solidFill>
            <a:prstDash val="solid"/>
          </a:ln>
        </p:spPr>
      </p:sp>
      <p:sp>
        <p:nvSpPr>
          <p:cNvPr id="10" name="">
            <a:extLst xmlns:a="http://schemas.openxmlformats.org/drawingml/2006/main">
              <a:ext uri="{FF2B5EF4-FFF2-40B4-BE49-F238E27FC236}">
                <a16:creationId xmlns:a16="http://schemas.microsoft.com/office/drawing/2014/main" id="{387E111D-4B58-4E4F-8475-7B34B00E5005}"/>
              </a:ext>
            </a:extLst>
          </p:cNvPr>
          <p:cNvSpPr>
            <a:spLocks xmlns:a="http://schemas.openxmlformats.org/drawingml/2006/main" noGrp="1"/>
          </p:cNvSpPr>
          <p:nvPr/>
        </p:nvSpPr>
        <p:spPr>
          <a:xfrm xmlns:a="http://schemas.openxmlformats.org/drawingml/2006/main">
            <a:off x="1428750" y="55435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69DED7"/>
                </a:solidFill>
              </a:defRPr>
            </a:pPr>
            <a:r>
              <a:rPr sz="1350" b="1">
                <a:solidFill>
                  <a:srgbClr val="69DED7"/>
                </a:solidFill>
              </a:rPr>
              <a:t>Matched control</a:t>
            </a:r>
          </a:p>
        </p:txBody>
      </p:sp>
      <p:sp>
        <p:nvSpPr>
          <p:cNvPr id="11" name="">
            <a:extLst xmlns:a="http://schemas.openxmlformats.org/drawingml/2006/main">
              <a:ext uri="{FF2B5EF4-FFF2-40B4-BE49-F238E27FC236}">
                <a16:creationId xmlns:a16="http://schemas.microsoft.com/office/drawing/2014/main" id="{6960ADDF-F992-4528-8B23-FAE363E12AE8}"/>
              </a:ext>
            </a:extLst>
          </p:cNvPr>
          <p:cNvSpPr>
            <a:spLocks xmlns:a="http://schemas.openxmlformats.org/drawingml/2006/main" noGrp="1"/>
          </p:cNvSpPr>
          <p:nvPr/>
        </p:nvSpPr>
        <p:spPr>
          <a:xfrm xmlns:a="http://schemas.openxmlformats.org/drawingml/2006/main">
            <a:off x="3314700" y="5514975"/>
            <a:ext cx="742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FFFFF"/>
                </a:solidFill>
              </a:defRPr>
            </a:pPr>
            <a:r>
              <a:rPr sz="1800" b="1">
                <a:solidFill>
                  <a:srgbClr val="FFFFFF"/>
                </a:solidFill>
              </a:rPr>
              <a:t>Delete the same amount of information at random from the same patients.</a:t>
            </a:r>
          </a:p>
        </p:txBody>
      </p:sp>
    </p:spTree>
    <p:extLst>
      <p:ext uri="{BB962C8B-B14F-4D97-AF65-F5344CB8AC3E}">
        <p14:creationId xmlns:p14="http://schemas.microsoft.com/office/powerpoint/2010/main" val="1889394191"/>
      </p:ext>
    </p:extLst>
  </p:cSld>
</p:sld>
</file>

<file path=ppt/slides/slide5.xml><?xml version="1.0" encoding="utf-8"?>
<p:sld xmlns:p="http://schemas.openxmlformats.org/presentationml/2006/main">
  <p:cSld>
    <p:bg>
      <p:bgPr>
        <a:solidFill xmlns:a="http://schemas.openxmlformats.org/drawingml/2006/main">
          <a:srgbClr val="F5F9FA"/>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AE4F430D-DADB-4B0A-BAC8-6018F762622B}"/>
              </a:ext>
            </a:extLst>
          </p:cNvPr>
          <p:cNvSpPr>
            <a:spLocks xmlns:a="http://schemas.openxmlformats.org/drawingml/2006/main" noGrp="1"/>
          </p:cNvSpPr>
          <p:nvPr/>
        </p:nvSpPr>
        <p:spPr>
          <a:xfrm xmlns:a="http://schemas.openxmlformats.org/drawingml/2006/main">
            <a:off x="704850" y="2667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0B1D45"/>
                </a:solidFill>
              </a:defRPr>
            </a:pPr>
            <a:r>
              <a:rPr sz="1050" b="1">
                <a:solidFill>
                  <a:srgbClr val="0B1D45"/>
                </a:solidFill>
              </a:rPr>
              <a:t>CLINIVERSE</a:t>
            </a:r>
          </a:p>
        </p:txBody>
      </p:sp>
      <p:sp>
        <p:nvSpPr>
          <p:cNvPr id="2" name="">
            <a:extLst xmlns:a="http://schemas.openxmlformats.org/drawingml/2006/main">
              <a:ext uri="{FF2B5EF4-FFF2-40B4-BE49-F238E27FC236}">
                <a16:creationId xmlns:a16="http://schemas.microsoft.com/office/drawing/2014/main" id="{F04D1AE0-A4E5-4E15-B70C-A27ED797E72D}"/>
              </a:ext>
            </a:extLst>
          </p:cNvPr>
          <p:cNvSpPr>
            <a:spLocks xmlns:a="http://schemas.openxmlformats.org/drawingml/2006/main" noGrp="1"/>
          </p:cNvSpPr>
          <p:nvPr/>
        </p:nvSpPr>
        <p:spPr>
          <a:xfrm xmlns:a="http://schemas.openxmlformats.org/drawingml/2006/main">
            <a:off x="2324100" y="276225"/>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66758F"/>
                </a:solidFill>
              </a:defRPr>
            </a:pPr>
            <a:r>
              <a:rPr sz="1050" b="0">
                <a:solidFill>
                  <a:srgbClr val="66758F"/>
                </a:solidFill>
              </a:rPr>
              <a:t>Healthcare AI Reliability Lab</a:t>
            </a:r>
          </a:p>
        </p:txBody>
      </p:sp>
      <p:sp>
        <p:nvSpPr>
          <p:cNvPr id="3" name="">
            <a:extLst xmlns:a="http://schemas.openxmlformats.org/drawingml/2006/main">
              <a:ext uri="{FF2B5EF4-FFF2-40B4-BE49-F238E27FC236}">
                <a16:creationId xmlns:a16="http://schemas.microsoft.com/office/drawing/2014/main" id="{3173CA9D-9144-4690-B997-F87C4DEBC1B5}"/>
              </a:ext>
            </a:extLst>
          </p:cNvPr>
          <p:cNvSpPr>
            <a:spLocks xmlns:a="http://schemas.openxmlformats.org/drawingml/2006/main" noGrp="1"/>
          </p:cNvSpPr>
          <p:nvPr/>
        </p:nvSpPr>
        <p:spPr>
          <a:xfrm xmlns:a="http://schemas.openxmlformats.org/drawingml/2006/main">
            <a:off x="11239500" y="2667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66758F"/>
                </a:solidFill>
              </a:defRPr>
            </a:pPr>
            <a:r>
              <a:rPr sz="1050" b="1">
                <a:solidFill>
                  <a:srgbClr val="66758F"/>
                </a:solidFill>
              </a:rPr>
              <a:t>05</a:t>
            </a:r>
          </a:p>
        </p:txBody>
      </p:sp>
      <p:sp>
        <p:nvSpPr>
          <p:cNvPr id="4" name="">
            <a:extLst xmlns:a="http://schemas.openxmlformats.org/drawingml/2006/main">
              <a:ext uri="{FF2B5EF4-FFF2-40B4-BE49-F238E27FC236}">
                <a16:creationId xmlns:a16="http://schemas.microsoft.com/office/drawing/2014/main" id="{2E7F2FEC-2C20-47D1-906B-171DB462245F}"/>
              </a:ext>
            </a:extLst>
          </p:cNvPr>
          <p:cNvSpPr>
            <a:spLocks xmlns:a="http://schemas.openxmlformats.org/drawingml/2006/main" noGrp="1"/>
          </p:cNvSpPr>
          <p:nvPr/>
        </p:nvSpPr>
        <p:spPr>
          <a:xfrm xmlns:a="http://schemas.openxmlformats.org/drawingml/2006/main">
            <a:off x="685800" y="6477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0A9F9B"/>
                </a:solidFill>
              </a:defRPr>
            </a:pPr>
            <a:r>
              <a:rPr sz="1050" b="1">
                <a:solidFill>
                  <a:srgbClr val="0A9F9B"/>
                </a:solidFill>
              </a:rPr>
              <a:t>SYSTEM ARCHITECTURE</a:t>
            </a:r>
          </a:p>
        </p:txBody>
      </p:sp>
      <p:sp>
        <p:nvSpPr>
          <p:cNvPr id="5" name="slide-title">
            <a:extLst xmlns:a="http://schemas.openxmlformats.org/drawingml/2006/main">
              <a:ext uri="{FF2B5EF4-FFF2-40B4-BE49-F238E27FC236}">
                <a16:creationId xmlns:a16="http://schemas.microsoft.com/office/drawing/2014/main" id="{C3997112-2469-44AE-8DF9-55763371A829}"/>
              </a:ext>
            </a:extLst>
          </p:cNvPr>
          <p:cNvSpPr>
            <a:spLocks xmlns:a="http://schemas.openxmlformats.org/drawingml/2006/main" noGrp="1"/>
          </p:cNvSpPr>
          <p:nvPr/>
        </p:nvSpPr>
        <p:spPr>
          <a:xfrm xmlns:a="http://schemas.openxmlformats.org/drawingml/2006/main">
            <a:off x="685800" y="9144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1D45"/>
                </a:solidFill>
              </a:defRPr>
            </a:pPr>
            <a:r>
              <a:rPr sz="3000" b="1">
                <a:solidFill>
                  <a:srgbClr val="0B1D45"/>
                </a:solidFill>
              </a:rPr>
              <a:t>The product wraps a frozen model with a reliability engine.</a:t>
            </a:r>
          </a:p>
        </p:txBody>
      </p:sp>
      <p:sp>
        <p:nvSpPr>
          <p:cNvPr id="6" name="">
            <a:extLst xmlns:a="http://schemas.openxmlformats.org/drawingml/2006/main">
              <a:ext uri="{FF2B5EF4-FFF2-40B4-BE49-F238E27FC236}">
                <a16:creationId xmlns:a16="http://schemas.microsoft.com/office/drawing/2014/main" id="{9B9CBFE0-C074-4B8B-985A-4D911A602993}"/>
              </a:ext>
            </a:extLst>
          </p:cNvPr>
          <p:cNvSpPr>
            <a:spLocks xmlns:a="http://schemas.openxmlformats.org/drawingml/2006/main" noGrp="1"/>
          </p:cNvSpPr>
          <p:nvPr/>
        </p:nvSpPr>
        <p:spPr>
          <a:xfrm xmlns:a="http://schemas.openxmlformats.org/drawingml/2006/main">
            <a:off x="2133600" y="3352800"/>
            <a:ext cx="266700" cy="190500"/>
          </a:xfrm>
          <a:prstGeom xmlns:a="http://schemas.openxmlformats.org/drawingml/2006/main" prst="rightArrow">
            <a:avLst/>
          </a:prstGeom>
          <a:solidFill xmlns:a="http://schemas.openxmlformats.org/drawingml/2006/main">
            <a:srgbClr val="20BFB8"/>
          </a:solidFill>
          <a:ln xmlns:a="http://schemas.openxmlformats.org/drawingml/2006/main" w="0">
            <a:solidFill>
              <a:srgbClr val="20BFB8"/>
            </a:solidFill>
            <a:prstDash val="solid"/>
          </a:ln>
        </p:spPr>
      </p:sp>
      <p:sp>
        <p:nvSpPr>
          <p:cNvPr id="7" name="">
            <a:extLst xmlns:a="http://schemas.openxmlformats.org/drawingml/2006/main">
              <a:ext uri="{FF2B5EF4-FFF2-40B4-BE49-F238E27FC236}">
                <a16:creationId xmlns:a16="http://schemas.microsoft.com/office/drawing/2014/main" id="{5215C7C5-F02A-4199-AA50-AFBA2186A5C1}"/>
              </a:ext>
            </a:extLst>
          </p:cNvPr>
          <p:cNvSpPr>
            <a:spLocks xmlns:a="http://schemas.openxmlformats.org/drawingml/2006/main" noGrp="1"/>
          </p:cNvSpPr>
          <p:nvPr/>
        </p:nvSpPr>
        <p:spPr>
          <a:xfrm xmlns:a="http://schemas.openxmlformats.org/drawingml/2006/main">
            <a:off x="4038600" y="3352800"/>
            <a:ext cx="266700" cy="190500"/>
          </a:xfrm>
          <a:prstGeom xmlns:a="http://schemas.openxmlformats.org/drawingml/2006/main" prst="rightArrow">
            <a:avLst/>
          </a:prstGeom>
          <a:solidFill xmlns:a="http://schemas.openxmlformats.org/drawingml/2006/main">
            <a:srgbClr val="20BFB8"/>
          </a:solidFill>
          <a:ln xmlns:a="http://schemas.openxmlformats.org/drawingml/2006/main" w="0">
            <a:solidFill>
              <a:srgbClr val="20BFB8"/>
            </a:solidFill>
            <a:prstDash val="solid"/>
          </a:ln>
        </p:spPr>
      </p:sp>
      <p:sp>
        <p:nvSpPr>
          <p:cNvPr id="8" name="">
            <a:extLst xmlns:a="http://schemas.openxmlformats.org/drawingml/2006/main">
              <a:ext uri="{FF2B5EF4-FFF2-40B4-BE49-F238E27FC236}">
                <a16:creationId xmlns:a16="http://schemas.microsoft.com/office/drawing/2014/main" id="{EFD790D9-1806-4405-8A3B-ABEE914FC476}"/>
              </a:ext>
            </a:extLst>
          </p:cNvPr>
          <p:cNvSpPr>
            <a:spLocks xmlns:a="http://schemas.openxmlformats.org/drawingml/2006/main" noGrp="1"/>
          </p:cNvSpPr>
          <p:nvPr/>
        </p:nvSpPr>
        <p:spPr>
          <a:xfrm xmlns:a="http://schemas.openxmlformats.org/drawingml/2006/main">
            <a:off x="5943600" y="3352800"/>
            <a:ext cx="266700" cy="190500"/>
          </a:xfrm>
          <a:prstGeom xmlns:a="http://schemas.openxmlformats.org/drawingml/2006/main" prst="rightArrow">
            <a:avLst/>
          </a:prstGeom>
          <a:solidFill xmlns:a="http://schemas.openxmlformats.org/drawingml/2006/main">
            <a:srgbClr val="20BFB8"/>
          </a:solidFill>
          <a:ln xmlns:a="http://schemas.openxmlformats.org/drawingml/2006/main" w="0">
            <a:solidFill>
              <a:srgbClr val="20BFB8"/>
            </a:solidFill>
            <a:prstDash val="solid"/>
          </a:ln>
        </p:spPr>
      </p:sp>
      <p:sp>
        <p:nvSpPr>
          <p:cNvPr id="9" name="">
            <a:extLst xmlns:a="http://schemas.openxmlformats.org/drawingml/2006/main">
              <a:ext uri="{FF2B5EF4-FFF2-40B4-BE49-F238E27FC236}">
                <a16:creationId xmlns:a16="http://schemas.microsoft.com/office/drawing/2014/main" id="{2B101068-6F94-4AC0-B3AF-BC37FCFAB88D}"/>
              </a:ext>
            </a:extLst>
          </p:cNvPr>
          <p:cNvSpPr>
            <a:spLocks xmlns:a="http://schemas.openxmlformats.org/drawingml/2006/main" noGrp="1"/>
          </p:cNvSpPr>
          <p:nvPr/>
        </p:nvSpPr>
        <p:spPr>
          <a:xfrm xmlns:a="http://schemas.openxmlformats.org/drawingml/2006/main">
            <a:off x="7848600" y="3352800"/>
            <a:ext cx="266700" cy="190500"/>
          </a:xfrm>
          <a:prstGeom xmlns:a="http://schemas.openxmlformats.org/drawingml/2006/main" prst="rightArrow">
            <a:avLst/>
          </a:prstGeom>
          <a:solidFill xmlns:a="http://schemas.openxmlformats.org/drawingml/2006/main">
            <a:srgbClr val="20BFB8"/>
          </a:solidFill>
          <a:ln xmlns:a="http://schemas.openxmlformats.org/drawingml/2006/main" w="0">
            <a:solidFill>
              <a:srgbClr val="20BFB8"/>
            </a:solidFill>
            <a:prstDash val="solid"/>
          </a:ln>
        </p:spPr>
      </p:sp>
      <p:sp>
        <p:nvSpPr>
          <p:cNvPr id="10" name="">
            <a:extLst xmlns:a="http://schemas.openxmlformats.org/drawingml/2006/main">
              <a:ext uri="{FF2B5EF4-FFF2-40B4-BE49-F238E27FC236}">
                <a16:creationId xmlns:a16="http://schemas.microsoft.com/office/drawing/2014/main" id="{5EC2D779-0470-4B19-87DA-435B2F1B7F29}"/>
              </a:ext>
            </a:extLst>
          </p:cNvPr>
          <p:cNvSpPr>
            <a:spLocks xmlns:a="http://schemas.openxmlformats.org/drawingml/2006/main" noGrp="1"/>
          </p:cNvSpPr>
          <p:nvPr/>
        </p:nvSpPr>
        <p:spPr>
          <a:xfrm xmlns:a="http://schemas.openxmlformats.org/drawingml/2006/main">
            <a:off x="9753600" y="3352800"/>
            <a:ext cx="266700" cy="190500"/>
          </a:xfrm>
          <a:prstGeom xmlns:a="http://schemas.openxmlformats.org/drawingml/2006/main" prst="rightArrow">
            <a:avLst/>
          </a:prstGeom>
          <a:solidFill xmlns:a="http://schemas.openxmlformats.org/drawingml/2006/main">
            <a:srgbClr val="20BFB8"/>
          </a:solidFill>
          <a:ln xmlns:a="http://schemas.openxmlformats.org/drawingml/2006/main" w="0">
            <a:solidFill>
              <a:srgbClr val="20BFB8"/>
            </a:solidFill>
            <a:prstDash val="solid"/>
          </a:ln>
        </p:spPr>
      </p:sp>
      <p:sp>
        <p:nvSpPr>
          <p:cNvPr id="11" name="">
            <a:extLst xmlns:a="http://schemas.openxmlformats.org/drawingml/2006/main">
              <a:ext uri="{FF2B5EF4-FFF2-40B4-BE49-F238E27FC236}">
                <a16:creationId xmlns:a16="http://schemas.microsoft.com/office/drawing/2014/main" id="{5AA270C8-9F37-4FAD-9F52-5F5440AC543B}"/>
              </a:ext>
            </a:extLst>
          </p:cNvPr>
          <p:cNvSpPr>
            <a:spLocks xmlns:a="http://schemas.openxmlformats.org/drawingml/2006/main" noGrp="1"/>
          </p:cNvSpPr>
          <p:nvPr/>
        </p:nvSpPr>
        <p:spPr>
          <a:xfrm xmlns:a="http://schemas.openxmlformats.org/drawingml/2006/main">
            <a:off x="552450" y="1714500"/>
            <a:ext cx="7296150" cy="514350"/>
          </a:xfrm>
          <a:prstGeom xmlns:a="http://schemas.openxmlformats.org/drawingml/2006/main" prst="roundRect">
            <a:avLst>
              <a:gd name="adj" fmla="val 22222"/>
            </a:avLst>
          </a:prstGeom>
          <a:solidFill xmlns:a="http://schemas.openxmlformats.org/drawingml/2006/main">
            <a:srgbClr val="E7F8F5"/>
          </a:solidFill>
          <a:ln xmlns:a="http://schemas.openxmlformats.org/drawingml/2006/main" w="9525">
            <a:solidFill>
              <a:srgbClr val="BFE7E0"/>
            </a:solidFill>
            <a:prstDash val="solid"/>
          </a:ln>
        </p:spPr>
      </p:sp>
      <p:sp>
        <p:nvSpPr>
          <p:cNvPr id="12" name="">
            <a:extLst xmlns:a="http://schemas.openxmlformats.org/drawingml/2006/main">
              <a:ext uri="{FF2B5EF4-FFF2-40B4-BE49-F238E27FC236}">
                <a16:creationId xmlns:a16="http://schemas.microsoft.com/office/drawing/2014/main" id="{3D5D38D1-3953-4208-BCC3-54580DC0F206}"/>
              </a:ext>
            </a:extLst>
          </p:cNvPr>
          <p:cNvSpPr>
            <a:spLocks xmlns:a="http://schemas.openxmlformats.org/drawingml/2006/main" noGrp="1"/>
          </p:cNvSpPr>
          <p:nvPr/>
        </p:nvSpPr>
        <p:spPr>
          <a:xfrm xmlns:a="http://schemas.openxmlformats.org/drawingml/2006/main">
            <a:off x="8020050" y="1714500"/>
            <a:ext cx="3562350" cy="514350"/>
          </a:xfrm>
          <a:prstGeom xmlns:a="http://schemas.openxmlformats.org/drawingml/2006/main" prst="roundRect">
            <a:avLst>
              <a:gd name="adj" fmla="val 22222"/>
            </a:avLst>
          </a:prstGeom>
          <a:solidFill xmlns:a="http://schemas.openxmlformats.org/drawingml/2006/main">
            <a:srgbClr val="0B1D45"/>
          </a:solidFill>
          <a:ln xmlns:a="http://schemas.openxmlformats.org/drawingml/2006/main" w="9525">
            <a:solidFill>
              <a:srgbClr val="0B1D45"/>
            </a:solidFill>
            <a:prstDash val="solid"/>
          </a:ln>
        </p:spPr>
      </p:sp>
      <p:sp>
        <p:nvSpPr>
          <p:cNvPr id="13" name="">
            <a:extLst xmlns:a="http://schemas.openxmlformats.org/drawingml/2006/main">
              <a:ext uri="{FF2B5EF4-FFF2-40B4-BE49-F238E27FC236}">
                <a16:creationId xmlns:a16="http://schemas.microsoft.com/office/drawing/2014/main" id="{191693F6-BD97-4EE4-8A25-87201AAA5D18}"/>
              </a:ext>
            </a:extLst>
          </p:cNvPr>
          <p:cNvSpPr>
            <a:spLocks xmlns:a="http://schemas.openxmlformats.org/drawingml/2006/main" noGrp="1"/>
          </p:cNvSpPr>
          <p:nvPr/>
        </p:nvSpPr>
        <p:spPr>
          <a:xfrm xmlns:a="http://schemas.openxmlformats.org/drawingml/2006/main">
            <a:off x="781050" y="1847850"/>
            <a:ext cx="6838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A9F9B"/>
                </a:solidFill>
              </a:defRPr>
            </a:pPr>
            <a:r>
              <a:rPr sz="1275" b="1">
                <a:solidFill>
                  <a:srgbClr val="0A9F9B"/>
                </a:solidFill>
              </a:rPr>
              <a:t>DEVELOPMENT · 8,000 PATIENTS</a:t>
            </a:r>
          </a:p>
        </p:txBody>
      </p:sp>
      <p:sp>
        <p:nvSpPr>
          <p:cNvPr id="14" name="">
            <a:extLst xmlns:a="http://schemas.openxmlformats.org/drawingml/2006/main">
              <a:ext uri="{FF2B5EF4-FFF2-40B4-BE49-F238E27FC236}">
                <a16:creationId xmlns:a16="http://schemas.microsoft.com/office/drawing/2014/main" id="{D4D06641-CAA8-4A15-BCF2-28FB79BEB8CB}"/>
              </a:ext>
            </a:extLst>
          </p:cNvPr>
          <p:cNvSpPr>
            <a:spLocks xmlns:a="http://schemas.openxmlformats.org/drawingml/2006/main" noGrp="1"/>
          </p:cNvSpPr>
          <p:nvPr/>
        </p:nvSpPr>
        <p:spPr>
          <a:xfrm xmlns:a="http://schemas.openxmlformats.org/drawingml/2006/main">
            <a:off x="8210550" y="1847850"/>
            <a:ext cx="3181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defRPr>
            </a:pPr>
            <a:r>
              <a:rPr sz="1275" b="1">
                <a:solidFill>
                  <a:srgbClr val="FFFFFF"/>
                </a:solidFill>
              </a:rPr>
              <a:t>FROZEN · ONE-SHOT HOLDOUT</a:t>
            </a:r>
          </a:p>
        </p:txBody>
      </p:sp>
      <p:sp>
        <p:nvSpPr>
          <p:cNvPr id="15" name="">
            <a:extLst xmlns:a="http://schemas.openxmlformats.org/drawingml/2006/main">
              <a:ext uri="{FF2B5EF4-FFF2-40B4-BE49-F238E27FC236}">
                <a16:creationId xmlns:a16="http://schemas.microsoft.com/office/drawing/2014/main" id="{9BBDF10A-DBBB-4EE2-AF05-12E67F081027}"/>
              </a:ext>
            </a:extLst>
          </p:cNvPr>
          <p:cNvSpPr>
            <a:spLocks xmlns:a="http://schemas.openxmlformats.org/drawingml/2006/main" noGrp="1"/>
          </p:cNvSpPr>
          <p:nvPr/>
        </p:nvSpPr>
        <p:spPr>
          <a:xfrm xmlns:a="http://schemas.openxmlformats.org/drawingml/2006/main">
            <a:off x="552450" y="2571750"/>
            <a:ext cx="1581150" cy="2076450"/>
          </a:xfrm>
          <a:prstGeom xmlns:a="http://schemas.openxmlformats.org/drawingml/2006/main" prst="roundRect">
            <a:avLst>
              <a:gd name="adj" fmla="val 10843"/>
            </a:avLst>
          </a:prstGeom>
          <a:solidFill xmlns:a="http://schemas.openxmlformats.org/drawingml/2006/main">
            <a:srgbClr val="FFFFFF"/>
          </a:solidFill>
          <a:ln xmlns:a="http://schemas.openxmlformats.org/drawingml/2006/main" w="9525">
            <a:solidFill>
              <a:srgbClr val="D8E4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3342EF3C-AF00-415B-AE86-834B331643C2}"/>
              </a:ext>
            </a:extLst>
          </p:cNvPr>
          <p:cNvSpPr>
            <a:spLocks xmlns:a="http://schemas.openxmlformats.org/drawingml/2006/main" noGrp="1"/>
          </p:cNvSpPr>
          <p:nvPr/>
        </p:nvSpPr>
        <p:spPr>
          <a:xfrm xmlns:a="http://schemas.openxmlformats.org/drawingml/2006/main">
            <a:off x="723900" y="27622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0A9F9B"/>
                </a:solidFill>
              </a:defRPr>
            </a:pPr>
            <a:r>
              <a:rPr sz="1050" b="1">
                <a:solidFill>
                  <a:srgbClr val="0A9F9B"/>
                </a:solidFill>
              </a:rPr>
              <a:t>01</a:t>
            </a:r>
          </a:p>
        </p:txBody>
      </p:sp>
      <p:sp>
        <p:nvSpPr>
          <p:cNvPr id="17" name="">
            <a:extLst xmlns:a="http://schemas.openxmlformats.org/drawingml/2006/main">
              <a:ext uri="{FF2B5EF4-FFF2-40B4-BE49-F238E27FC236}">
                <a16:creationId xmlns:a16="http://schemas.microsoft.com/office/drawing/2014/main" id="{C7C5BDC2-CC9E-43D9-8726-778D1E333369}"/>
              </a:ext>
            </a:extLst>
          </p:cNvPr>
          <p:cNvSpPr>
            <a:spLocks xmlns:a="http://schemas.openxmlformats.org/drawingml/2006/main" noGrp="1"/>
          </p:cNvSpPr>
          <p:nvPr/>
        </p:nvSpPr>
        <p:spPr>
          <a:xfrm xmlns:a="http://schemas.openxmlformats.org/drawingml/2006/main">
            <a:off x="704850" y="3028950"/>
            <a:ext cx="1276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1D45"/>
                </a:solidFill>
              </a:defRPr>
            </a:pPr>
            <a:r>
              <a:rPr sz="1500" b="1">
                <a:solidFill>
                  <a:srgbClr val="0B1D45"/>
                </a:solidFill>
              </a:rPr>
              <a:t>PhysioNet /</a:t>
            </a:r>
          </a:p>
          <a:p xmlns:a="http://schemas.openxmlformats.org/drawingml/2006/main">
            <a:pPr algn="ctr">
              <a:buNone/>
              <a:defRPr sz="1500" b="1">
                <a:solidFill>
                  <a:srgbClr val="0B1D45"/>
                </a:solidFill>
              </a:defRPr>
            </a:pPr>
            <a:r>
              <a:rPr sz="1500" b="1">
                <a:solidFill>
                  <a:srgbClr val="0B1D45"/>
                </a:solidFill>
              </a:rPr>
              <a:t>CinC 2012</a:t>
            </a:r>
          </a:p>
        </p:txBody>
      </p:sp>
      <p:sp>
        <p:nvSpPr>
          <p:cNvPr id="18" name="">
            <a:extLst xmlns:a="http://schemas.openxmlformats.org/drawingml/2006/main">
              <a:ext uri="{FF2B5EF4-FFF2-40B4-BE49-F238E27FC236}">
                <a16:creationId xmlns:a16="http://schemas.microsoft.com/office/drawing/2014/main" id="{B16C31D3-1F29-44B8-A2D7-E765BA4F1E30}"/>
              </a:ext>
            </a:extLst>
          </p:cNvPr>
          <p:cNvSpPr>
            <a:spLocks xmlns:a="http://schemas.openxmlformats.org/drawingml/2006/main" noGrp="1"/>
          </p:cNvSpPr>
          <p:nvPr/>
        </p:nvSpPr>
        <p:spPr>
          <a:xfrm xmlns:a="http://schemas.openxmlformats.org/drawingml/2006/main">
            <a:off x="838200" y="3981450"/>
            <a:ext cx="1009650" cy="0"/>
          </a:xfrm>
          <a:prstGeom xmlns:a="http://schemas.openxmlformats.org/drawingml/2006/main" prst="line">
            <a:avLst/>
          </a:prstGeom>
          <a:noFill xmlns:a="http://schemas.openxmlformats.org/drawingml/2006/main"/>
          <a:ln xmlns:a="http://schemas.openxmlformats.org/drawingml/2006/main" w="9525">
            <a:solidFill>
              <a:srgbClr val="D8E4E8"/>
            </a:solidFill>
            <a:prstDash val="solid"/>
          </a:ln>
        </p:spPr>
      </p:sp>
      <p:sp>
        <p:nvSpPr>
          <p:cNvPr id="19" name="">
            <a:extLst xmlns:a="http://schemas.openxmlformats.org/drawingml/2006/main">
              <a:ext uri="{FF2B5EF4-FFF2-40B4-BE49-F238E27FC236}">
                <a16:creationId xmlns:a16="http://schemas.microsoft.com/office/drawing/2014/main" id="{25E1D73A-D243-47C2-8D85-4479F85926FE}"/>
              </a:ext>
            </a:extLst>
          </p:cNvPr>
          <p:cNvSpPr>
            <a:spLocks xmlns:a="http://schemas.openxmlformats.org/drawingml/2006/main" noGrp="1"/>
          </p:cNvSpPr>
          <p:nvPr/>
        </p:nvSpPr>
        <p:spPr>
          <a:xfrm xmlns:a="http://schemas.openxmlformats.org/drawingml/2006/main">
            <a:off x="685800" y="4095750"/>
            <a:ext cx="1314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66758F"/>
                </a:solidFill>
              </a:defRPr>
            </a:pPr>
            <a:r>
              <a:rPr sz="1125" b="0">
                <a:solidFill>
                  <a:srgbClr val="66758F"/>
                </a:solidFill>
              </a:rPr>
              <a:t>12,000 retrospective</a:t>
            </a:r>
          </a:p>
          <a:p xmlns:a="http://schemas.openxmlformats.org/drawingml/2006/main">
            <a:pPr algn="ctr">
              <a:buNone/>
              <a:defRPr sz="1125" b="0">
                <a:solidFill>
                  <a:srgbClr val="66758F"/>
                </a:solidFill>
              </a:defRPr>
            </a:pPr>
            <a:r>
              <a:rPr sz="1125" b="0">
                <a:solidFill>
                  <a:srgbClr val="66758F"/>
                </a:solidFill>
              </a:rPr>
              <a:t>ICU patients</a:t>
            </a:r>
          </a:p>
        </p:txBody>
      </p:sp>
      <p:sp>
        <p:nvSpPr>
          <p:cNvPr id="20" name="">
            <a:extLst xmlns:a="http://schemas.openxmlformats.org/drawingml/2006/main">
              <a:ext uri="{FF2B5EF4-FFF2-40B4-BE49-F238E27FC236}">
                <a16:creationId xmlns:a16="http://schemas.microsoft.com/office/drawing/2014/main" id="{CEE5C2C9-7378-45A2-8CE9-9A3D61EE117B}"/>
              </a:ext>
            </a:extLst>
          </p:cNvPr>
          <p:cNvSpPr>
            <a:spLocks xmlns:a="http://schemas.openxmlformats.org/drawingml/2006/main" noGrp="1"/>
          </p:cNvSpPr>
          <p:nvPr/>
        </p:nvSpPr>
        <p:spPr>
          <a:xfrm xmlns:a="http://schemas.openxmlformats.org/drawingml/2006/main">
            <a:off x="2457450" y="2571750"/>
            <a:ext cx="1581150" cy="2076450"/>
          </a:xfrm>
          <a:prstGeom xmlns:a="http://schemas.openxmlformats.org/drawingml/2006/main" prst="roundRect">
            <a:avLst>
              <a:gd name="adj" fmla="val 10843"/>
            </a:avLst>
          </a:prstGeom>
          <a:solidFill xmlns:a="http://schemas.openxmlformats.org/drawingml/2006/main">
            <a:srgbClr val="FFFFFF"/>
          </a:solidFill>
          <a:ln xmlns:a="http://schemas.openxmlformats.org/drawingml/2006/main" w="9525">
            <a:solidFill>
              <a:srgbClr val="D8E4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DB7049ED-B1D1-426D-8EF5-060F17613AFC}"/>
              </a:ext>
            </a:extLst>
          </p:cNvPr>
          <p:cNvSpPr>
            <a:spLocks xmlns:a="http://schemas.openxmlformats.org/drawingml/2006/main" noGrp="1"/>
          </p:cNvSpPr>
          <p:nvPr/>
        </p:nvSpPr>
        <p:spPr>
          <a:xfrm xmlns:a="http://schemas.openxmlformats.org/drawingml/2006/main">
            <a:off x="2628900" y="27622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0A9F9B"/>
                </a:solidFill>
              </a:defRPr>
            </a:pPr>
            <a:r>
              <a:rPr sz="1050" b="1">
                <a:solidFill>
                  <a:srgbClr val="0A9F9B"/>
                </a:solidFill>
              </a:rPr>
              <a:t>02</a:t>
            </a:r>
          </a:p>
        </p:txBody>
      </p:sp>
      <p:sp>
        <p:nvSpPr>
          <p:cNvPr id="22" name="">
            <a:extLst xmlns:a="http://schemas.openxmlformats.org/drawingml/2006/main">
              <a:ext uri="{FF2B5EF4-FFF2-40B4-BE49-F238E27FC236}">
                <a16:creationId xmlns:a16="http://schemas.microsoft.com/office/drawing/2014/main" id="{EB2FAD1E-D6D5-4654-B0CA-B40AB02E2B26}"/>
              </a:ext>
            </a:extLst>
          </p:cNvPr>
          <p:cNvSpPr>
            <a:spLocks xmlns:a="http://schemas.openxmlformats.org/drawingml/2006/main" noGrp="1"/>
          </p:cNvSpPr>
          <p:nvPr/>
        </p:nvSpPr>
        <p:spPr>
          <a:xfrm xmlns:a="http://schemas.openxmlformats.org/drawingml/2006/main">
            <a:off x="2609850" y="3028950"/>
            <a:ext cx="1276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1D45"/>
                </a:solidFill>
              </a:defRPr>
            </a:pPr>
            <a:r>
              <a:rPr sz="1500" b="1">
                <a:solidFill>
                  <a:srgbClr val="0B1D45"/>
                </a:solidFill>
              </a:rPr>
              <a:t>Frozen</a:t>
            </a:r>
          </a:p>
          <a:p xmlns:a="http://schemas.openxmlformats.org/drawingml/2006/main">
            <a:pPr algn="ctr">
              <a:buNone/>
              <a:defRPr sz="1500" b="1">
                <a:solidFill>
                  <a:srgbClr val="0B1D45"/>
                </a:solidFill>
              </a:defRPr>
            </a:pPr>
            <a:r>
              <a:rPr sz="1500" b="1">
                <a:solidFill>
                  <a:srgbClr val="0B1D45"/>
                </a:solidFill>
              </a:rPr>
              <a:t>XGBoost</a:t>
            </a:r>
          </a:p>
        </p:txBody>
      </p:sp>
      <p:sp>
        <p:nvSpPr>
          <p:cNvPr id="23" name="">
            <a:extLst xmlns:a="http://schemas.openxmlformats.org/drawingml/2006/main">
              <a:ext uri="{FF2B5EF4-FFF2-40B4-BE49-F238E27FC236}">
                <a16:creationId xmlns:a16="http://schemas.microsoft.com/office/drawing/2014/main" id="{86FF76A1-431B-454D-AD80-D07F356C43F1}"/>
              </a:ext>
            </a:extLst>
          </p:cNvPr>
          <p:cNvSpPr>
            <a:spLocks xmlns:a="http://schemas.openxmlformats.org/drawingml/2006/main" noGrp="1"/>
          </p:cNvSpPr>
          <p:nvPr/>
        </p:nvSpPr>
        <p:spPr>
          <a:xfrm xmlns:a="http://schemas.openxmlformats.org/drawingml/2006/main">
            <a:off x="2743200" y="3981450"/>
            <a:ext cx="1009650" cy="0"/>
          </a:xfrm>
          <a:prstGeom xmlns:a="http://schemas.openxmlformats.org/drawingml/2006/main" prst="line">
            <a:avLst/>
          </a:prstGeom>
          <a:noFill xmlns:a="http://schemas.openxmlformats.org/drawingml/2006/main"/>
          <a:ln xmlns:a="http://schemas.openxmlformats.org/drawingml/2006/main" w="9525">
            <a:solidFill>
              <a:srgbClr val="D8E4E8"/>
            </a:solidFill>
            <a:prstDash val="solid"/>
          </a:ln>
        </p:spPr>
      </p:sp>
      <p:sp>
        <p:nvSpPr>
          <p:cNvPr id="24" name="">
            <a:extLst xmlns:a="http://schemas.openxmlformats.org/drawingml/2006/main">
              <a:ext uri="{FF2B5EF4-FFF2-40B4-BE49-F238E27FC236}">
                <a16:creationId xmlns:a16="http://schemas.microsoft.com/office/drawing/2014/main" id="{E06CBA08-5375-4266-BBE7-41A970AB49FD}"/>
              </a:ext>
            </a:extLst>
          </p:cNvPr>
          <p:cNvSpPr>
            <a:spLocks xmlns:a="http://schemas.openxmlformats.org/drawingml/2006/main" noGrp="1"/>
          </p:cNvSpPr>
          <p:nvPr/>
        </p:nvSpPr>
        <p:spPr>
          <a:xfrm xmlns:a="http://schemas.openxmlformats.org/drawingml/2006/main">
            <a:off x="2590800" y="4095750"/>
            <a:ext cx="1314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66758F"/>
                </a:solidFill>
              </a:defRPr>
            </a:pPr>
            <a:r>
              <a:rPr sz="1125" b="0">
                <a:solidFill>
                  <a:srgbClr val="66758F"/>
                </a:solidFill>
              </a:rPr>
              <a:t>values_mask</a:t>
            </a:r>
          </a:p>
          <a:p xmlns:a="http://schemas.openxmlformats.org/drawingml/2006/main">
            <a:pPr algn="ctr">
              <a:buNone/>
              <a:defRPr sz="1125" b="0">
                <a:solidFill>
                  <a:srgbClr val="66758F"/>
                </a:solidFill>
              </a:defRPr>
            </a:pPr>
            <a:r>
              <a:rPr sz="1125" b="0">
                <a:solidFill>
                  <a:srgbClr val="66758F"/>
                </a:solidFill>
              </a:rPr>
              <a:t>24-hour cutoff</a:t>
            </a:r>
          </a:p>
        </p:txBody>
      </p:sp>
      <p:sp>
        <p:nvSpPr>
          <p:cNvPr id="25" name="">
            <a:extLst xmlns:a="http://schemas.openxmlformats.org/drawingml/2006/main">
              <a:ext uri="{FF2B5EF4-FFF2-40B4-BE49-F238E27FC236}">
                <a16:creationId xmlns:a16="http://schemas.microsoft.com/office/drawing/2014/main" id="{1855D4F3-0B3A-4C10-B34C-739500F7547E}"/>
              </a:ext>
            </a:extLst>
          </p:cNvPr>
          <p:cNvSpPr>
            <a:spLocks xmlns:a="http://schemas.openxmlformats.org/drawingml/2006/main" noGrp="1"/>
          </p:cNvSpPr>
          <p:nvPr/>
        </p:nvSpPr>
        <p:spPr>
          <a:xfrm xmlns:a="http://schemas.openxmlformats.org/drawingml/2006/main">
            <a:off x="4362450" y="2571750"/>
            <a:ext cx="1581150" cy="2076450"/>
          </a:xfrm>
          <a:prstGeom xmlns:a="http://schemas.openxmlformats.org/drawingml/2006/main" prst="roundRect">
            <a:avLst>
              <a:gd name="adj" fmla="val 10843"/>
            </a:avLst>
          </a:prstGeom>
          <a:solidFill xmlns:a="http://schemas.openxmlformats.org/drawingml/2006/main">
            <a:srgbClr val="E7F8F5"/>
          </a:solidFill>
          <a:ln xmlns:a="http://schemas.openxmlformats.org/drawingml/2006/main" w="9525">
            <a:solidFill>
              <a:srgbClr val="D8E4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5C03CD77-E199-41B5-B972-AF8CC3C60F55}"/>
              </a:ext>
            </a:extLst>
          </p:cNvPr>
          <p:cNvSpPr>
            <a:spLocks xmlns:a="http://schemas.openxmlformats.org/drawingml/2006/main" noGrp="1"/>
          </p:cNvSpPr>
          <p:nvPr/>
        </p:nvSpPr>
        <p:spPr>
          <a:xfrm xmlns:a="http://schemas.openxmlformats.org/drawingml/2006/main">
            <a:off x="4533900" y="27622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0A9F9B"/>
                </a:solidFill>
              </a:defRPr>
            </a:pPr>
            <a:r>
              <a:rPr sz="1050" b="1">
                <a:solidFill>
                  <a:srgbClr val="0A9F9B"/>
                </a:solidFill>
              </a:rPr>
              <a:t>03</a:t>
            </a:r>
          </a:p>
        </p:txBody>
      </p:sp>
      <p:sp>
        <p:nvSpPr>
          <p:cNvPr id="27" name="">
            <a:extLst xmlns:a="http://schemas.openxmlformats.org/drawingml/2006/main">
              <a:ext uri="{FF2B5EF4-FFF2-40B4-BE49-F238E27FC236}">
                <a16:creationId xmlns:a16="http://schemas.microsoft.com/office/drawing/2014/main" id="{E677589C-8B51-40BA-88D8-76CC01EA3878}"/>
              </a:ext>
            </a:extLst>
          </p:cNvPr>
          <p:cNvSpPr>
            <a:spLocks xmlns:a="http://schemas.openxmlformats.org/drawingml/2006/main" noGrp="1"/>
          </p:cNvSpPr>
          <p:nvPr/>
        </p:nvSpPr>
        <p:spPr>
          <a:xfrm xmlns:a="http://schemas.openxmlformats.org/drawingml/2006/main">
            <a:off x="4514850" y="3028950"/>
            <a:ext cx="1276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1D45"/>
                </a:solidFill>
              </a:defRPr>
            </a:pPr>
            <a:r>
              <a:rPr sz="1500" b="1">
                <a:solidFill>
                  <a:srgbClr val="0B1D45"/>
                </a:solidFill>
              </a:rPr>
              <a:t>Reliability</a:t>
            </a:r>
          </a:p>
          <a:p xmlns:a="http://schemas.openxmlformats.org/drawingml/2006/main">
            <a:pPr algn="ctr">
              <a:buNone/>
              <a:defRPr sz="1500" b="1">
                <a:solidFill>
                  <a:srgbClr val="0B1D45"/>
                </a:solidFill>
              </a:defRPr>
            </a:pPr>
            <a:r>
              <a:rPr sz="1500" b="1">
                <a:solidFill>
                  <a:srgbClr val="0B1D45"/>
                </a:solidFill>
              </a:rPr>
              <a:t>engine</a:t>
            </a:r>
          </a:p>
        </p:txBody>
      </p:sp>
      <p:sp>
        <p:nvSpPr>
          <p:cNvPr id="28" name="">
            <a:extLst xmlns:a="http://schemas.openxmlformats.org/drawingml/2006/main">
              <a:ext uri="{FF2B5EF4-FFF2-40B4-BE49-F238E27FC236}">
                <a16:creationId xmlns:a16="http://schemas.microsoft.com/office/drawing/2014/main" id="{0627EBAF-5E6D-48D3-9D74-0379426C4523}"/>
              </a:ext>
            </a:extLst>
          </p:cNvPr>
          <p:cNvSpPr>
            <a:spLocks xmlns:a="http://schemas.openxmlformats.org/drawingml/2006/main" noGrp="1"/>
          </p:cNvSpPr>
          <p:nvPr/>
        </p:nvSpPr>
        <p:spPr>
          <a:xfrm xmlns:a="http://schemas.openxmlformats.org/drawingml/2006/main">
            <a:off x="4648200" y="3981450"/>
            <a:ext cx="1009650" cy="0"/>
          </a:xfrm>
          <a:prstGeom xmlns:a="http://schemas.openxmlformats.org/drawingml/2006/main" prst="line">
            <a:avLst/>
          </a:prstGeom>
          <a:noFill xmlns:a="http://schemas.openxmlformats.org/drawingml/2006/main"/>
          <a:ln xmlns:a="http://schemas.openxmlformats.org/drawingml/2006/main" w="9525">
            <a:solidFill>
              <a:srgbClr val="D8E4E8"/>
            </a:solidFill>
            <a:prstDash val="solid"/>
          </a:ln>
        </p:spPr>
      </p:sp>
      <p:sp>
        <p:nvSpPr>
          <p:cNvPr id="29" name="">
            <a:extLst xmlns:a="http://schemas.openxmlformats.org/drawingml/2006/main">
              <a:ext uri="{FF2B5EF4-FFF2-40B4-BE49-F238E27FC236}">
                <a16:creationId xmlns:a16="http://schemas.microsoft.com/office/drawing/2014/main" id="{C4C5C48C-DB99-4A99-A712-BA69E48837EE}"/>
              </a:ext>
            </a:extLst>
          </p:cNvPr>
          <p:cNvSpPr>
            <a:spLocks xmlns:a="http://schemas.openxmlformats.org/drawingml/2006/main" noGrp="1"/>
          </p:cNvSpPr>
          <p:nvPr/>
        </p:nvSpPr>
        <p:spPr>
          <a:xfrm xmlns:a="http://schemas.openxmlformats.org/drawingml/2006/main">
            <a:off x="4495800" y="4095750"/>
            <a:ext cx="1314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66758F"/>
                </a:solidFill>
              </a:defRPr>
            </a:pPr>
            <a:r>
              <a:rPr sz="1125" b="0">
                <a:solidFill>
                  <a:srgbClr val="66758F"/>
                </a:solidFill>
              </a:rPr>
              <a:t>stress + amount-</a:t>
            </a:r>
          </a:p>
          <a:p xmlns:a="http://schemas.openxmlformats.org/drawingml/2006/main">
            <a:pPr algn="ctr">
              <a:buNone/>
              <a:defRPr sz="1125" b="0">
                <a:solidFill>
                  <a:srgbClr val="66758F"/>
                </a:solidFill>
              </a:defRPr>
            </a:pPr>
            <a:r>
              <a:rPr sz="1125" b="0">
                <a:solidFill>
                  <a:srgbClr val="66758F"/>
                </a:solidFill>
              </a:rPr>
              <a:t>matched control</a:t>
            </a:r>
          </a:p>
        </p:txBody>
      </p:sp>
      <p:sp>
        <p:nvSpPr>
          <p:cNvPr id="30" name="">
            <a:extLst xmlns:a="http://schemas.openxmlformats.org/drawingml/2006/main">
              <a:ext uri="{FF2B5EF4-FFF2-40B4-BE49-F238E27FC236}">
                <a16:creationId xmlns:a16="http://schemas.microsoft.com/office/drawing/2014/main" id="{FD07EF10-6FC5-4C8F-97CD-373FB99BFD2E}"/>
              </a:ext>
            </a:extLst>
          </p:cNvPr>
          <p:cNvSpPr>
            <a:spLocks xmlns:a="http://schemas.openxmlformats.org/drawingml/2006/main" noGrp="1"/>
          </p:cNvSpPr>
          <p:nvPr/>
        </p:nvSpPr>
        <p:spPr>
          <a:xfrm xmlns:a="http://schemas.openxmlformats.org/drawingml/2006/main">
            <a:off x="6267450" y="2571750"/>
            <a:ext cx="1581150" cy="2076450"/>
          </a:xfrm>
          <a:prstGeom xmlns:a="http://schemas.openxmlformats.org/drawingml/2006/main" prst="roundRect">
            <a:avLst>
              <a:gd name="adj" fmla="val 10843"/>
            </a:avLst>
          </a:prstGeom>
          <a:solidFill xmlns:a="http://schemas.openxmlformats.org/drawingml/2006/main">
            <a:srgbClr val="FFFFFF"/>
          </a:solidFill>
          <a:ln xmlns:a="http://schemas.openxmlformats.org/drawingml/2006/main" w="9525">
            <a:solidFill>
              <a:srgbClr val="D8E4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A6B208CE-A611-4BF5-862B-F4EA0C2BBD41}"/>
              </a:ext>
            </a:extLst>
          </p:cNvPr>
          <p:cNvSpPr>
            <a:spLocks xmlns:a="http://schemas.openxmlformats.org/drawingml/2006/main" noGrp="1"/>
          </p:cNvSpPr>
          <p:nvPr/>
        </p:nvSpPr>
        <p:spPr>
          <a:xfrm xmlns:a="http://schemas.openxmlformats.org/drawingml/2006/main">
            <a:off x="6438900" y="27622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0A9F9B"/>
                </a:solidFill>
              </a:defRPr>
            </a:pPr>
            <a:r>
              <a:rPr sz="1050" b="1">
                <a:solidFill>
                  <a:srgbClr val="0A9F9B"/>
                </a:solidFill>
              </a:rPr>
              <a:t>04</a:t>
            </a:r>
          </a:p>
        </p:txBody>
      </p:sp>
      <p:sp>
        <p:nvSpPr>
          <p:cNvPr id="32" name="">
            <a:extLst xmlns:a="http://schemas.openxmlformats.org/drawingml/2006/main">
              <a:ext uri="{FF2B5EF4-FFF2-40B4-BE49-F238E27FC236}">
                <a16:creationId xmlns:a16="http://schemas.microsoft.com/office/drawing/2014/main" id="{770FF6E4-7149-41FB-A669-6FA571386AF2}"/>
              </a:ext>
            </a:extLst>
          </p:cNvPr>
          <p:cNvSpPr>
            <a:spLocks xmlns:a="http://schemas.openxmlformats.org/drawingml/2006/main" noGrp="1"/>
          </p:cNvSpPr>
          <p:nvPr/>
        </p:nvSpPr>
        <p:spPr>
          <a:xfrm xmlns:a="http://schemas.openxmlformats.org/drawingml/2006/main">
            <a:off x="6419850" y="3028950"/>
            <a:ext cx="1276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1D45"/>
                </a:solidFill>
              </a:defRPr>
            </a:pPr>
            <a:r>
              <a:rPr sz="1500" b="1">
                <a:solidFill>
                  <a:srgbClr val="0B1D45"/>
                </a:solidFill>
              </a:rPr>
              <a:t>Stability</a:t>
            </a:r>
          </a:p>
          <a:p xmlns:a="http://schemas.openxmlformats.org/drawingml/2006/main">
            <a:pPr algn="ctr">
              <a:buNone/>
              <a:defRPr sz="1500" b="1">
                <a:solidFill>
                  <a:srgbClr val="0B1D45"/>
                </a:solidFill>
              </a:defRPr>
            </a:pPr>
            <a:r>
              <a:rPr sz="1500" b="1">
                <a:solidFill>
                  <a:srgbClr val="0B1D45"/>
                </a:solidFill>
              </a:rPr>
              <a:t>search</a:t>
            </a:r>
          </a:p>
        </p:txBody>
      </p:sp>
      <p:sp>
        <p:nvSpPr>
          <p:cNvPr id="33" name="">
            <a:extLst xmlns:a="http://schemas.openxmlformats.org/drawingml/2006/main">
              <a:ext uri="{FF2B5EF4-FFF2-40B4-BE49-F238E27FC236}">
                <a16:creationId xmlns:a16="http://schemas.microsoft.com/office/drawing/2014/main" id="{56EA0B2B-FD45-4A04-8262-AD1FE439928E}"/>
              </a:ext>
            </a:extLst>
          </p:cNvPr>
          <p:cNvSpPr>
            <a:spLocks xmlns:a="http://schemas.openxmlformats.org/drawingml/2006/main" noGrp="1"/>
          </p:cNvSpPr>
          <p:nvPr/>
        </p:nvSpPr>
        <p:spPr>
          <a:xfrm xmlns:a="http://schemas.openxmlformats.org/drawingml/2006/main">
            <a:off x="6553200" y="3981450"/>
            <a:ext cx="1009650" cy="0"/>
          </a:xfrm>
          <a:prstGeom xmlns:a="http://schemas.openxmlformats.org/drawingml/2006/main" prst="line">
            <a:avLst/>
          </a:prstGeom>
          <a:noFill xmlns:a="http://schemas.openxmlformats.org/drawingml/2006/main"/>
          <a:ln xmlns:a="http://schemas.openxmlformats.org/drawingml/2006/main" w="9525">
            <a:solidFill>
              <a:srgbClr val="D8E4E8"/>
            </a:solidFill>
            <a:prstDash val="solid"/>
          </a:ln>
        </p:spPr>
      </p:sp>
      <p:sp>
        <p:nvSpPr>
          <p:cNvPr id="34" name="">
            <a:extLst xmlns:a="http://schemas.openxmlformats.org/drawingml/2006/main">
              <a:ext uri="{FF2B5EF4-FFF2-40B4-BE49-F238E27FC236}">
                <a16:creationId xmlns:a16="http://schemas.microsoft.com/office/drawing/2014/main" id="{A630FE0D-3A5D-49EA-8E5B-790B32018C82}"/>
              </a:ext>
            </a:extLst>
          </p:cNvPr>
          <p:cNvSpPr>
            <a:spLocks xmlns:a="http://schemas.openxmlformats.org/drawingml/2006/main" noGrp="1"/>
          </p:cNvSpPr>
          <p:nvPr/>
        </p:nvSpPr>
        <p:spPr>
          <a:xfrm xmlns:a="http://schemas.openxmlformats.org/drawingml/2006/main">
            <a:off x="6400800" y="4095750"/>
            <a:ext cx="1314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66758F"/>
                </a:solidFill>
              </a:defRPr>
            </a:pPr>
            <a:r>
              <a:rPr sz="1125" b="0">
                <a:solidFill>
                  <a:srgbClr val="66758F"/>
                </a:solidFill>
              </a:rPr>
              <a:t>141 candidates</a:t>
            </a:r>
          </a:p>
          <a:p xmlns:a="http://schemas.openxmlformats.org/drawingml/2006/main">
            <a:pPr algn="ctr">
              <a:buNone/>
              <a:defRPr sz="1125" b="0">
                <a:solidFill>
                  <a:srgbClr val="66758F"/>
                </a:solidFill>
              </a:defRPr>
            </a:pPr>
            <a:r>
              <a:rPr sz="1125" b="0">
                <a:solidFill>
                  <a:srgbClr val="66758F"/>
                </a:solidFill>
              </a:rPr>
              <a:t>20 resplits · gates</a:t>
            </a:r>
          </a:p>
        </p:txBody>
      </p:sp>
      <p:sp>
        <p:nvSpPr>
          <p:cNvPr id="35" name="">
            <a:extLst xmlns:a="http://schemas.openxmlformats.org/drawingml/2006/main">
              <a:ext uri="{FF2B5EF4-FFF2-40B4-BE49-F238E27FC236}">
                <a16:creationId xmlns:a16="http://schemas.microsoft.com/office/drawing/2014/main" id="{37B036E1-8B8E-473F-8CF3-44207AAF2138}"/>
              </a:ext>
            </a:extLst>
          </p:cNvPr>
          <p:cNvSpPr>
            <a:spLocks xmlns:a="http://schemas.openxmlformats.org/drawingml/2006/main" noGrp="1"/>
          </p:cNvSpPr>
          <p:nvPr/>
        </p:nvSpPr>
        <p:spPr>
          <a:xfrm xmlns:a="http://schemas.openxmlformats.org/drawingml/2006/main">
            <a:off x="8172450" y="2571750"/>
            <a:ext cx="1581150" cy="2076450"/>
          </a:xfrm>
          <a:prstGeom xmlns:a="http://schemas.openxmlformats.org/drawingml/2006/main" prst="roundRect">
            <a:avLst>
              <a:gd name="adj" fmla="val 10843"/>
            </a:avLst>
          </a:prstGeom>
          <a:solidFill xmlns:a="http://schemas.openxmlformats.org/drawingml/2006/main">
            <a:srgbClr val="FFF1E8"/>
          </a:solidFill>
          <a:ln xmlns:a="http://schemas.openxmlformats.org/drawingml/2006/main" w="9525">
            <a:solidFill>
              <a:srgbClr val="D8E4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9EC7DC8E-00FE-406C-91B8-DD425B8105A6}"/>
              </a:ext>
            </a:extLst>
          </p:cNvPr>
          <p:cNvSpPr>
            <a:spLocks xmlns:a="http://schemas.openxmlformats.org/drawingml/2006/main" noGrp="1"/>
          </p:cNvSpPr>
          <p:nvPr/>
        </p:nvSpPr>
        <p:spPr>
          <a:xfrm xmlns:a="http://schemas.openxmlformats.org/drawingml/2006/main">
            <a:off x="8343900" y="27622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0A9F9B"/>
                </a:solidFill>
              </a:defRPr>
            </a:pPr>
            <a:r>
              <a:rPr sz="1050" b="1">
                <a:solidFill>
                  <a:srgbClr val="0A9F9B"/>
                </a:solidFill>
              </a:rPr>
              <a:t>05</a:t>
            </a:r>
          </a:p>
        </p:txBody>
      </p:sp>
      <p:sp>
        <p:nvSpPr>
          <p:cNvPr id="37" name="">
            <a:extLst xmlns:a="http://schemas.openxmlformats.org/drawingml/2006/main">
              <a:ext uri="{FF2B5EF4-FFF2-40B4-BE49-F238E27FC236}">
                <a16:creationId xmlns:a16="http://schemas.microsoft.com/office/drawing/2014/main" id="{CEAB1593-47C9-47B2-BC92-38C7696CE955}"/>
              </a:ext>
            </a:extLst>
          </p:cNvPr>
          <p:cNvSpPr>
            <a:spLocks xmlns:a="http://schemas.openxmlformats.org/drawingml/2006/main" noGrp="1"/>
          </p:cNvSpPr>
          <p:nvPr/>
        </p:nvSpPr>
        <p:spPr>
          <a:xfrm xmlns:a="http://schemas.openxmlformats.org/drawingml/2006/main">
            <a:off x="8324850" y="3028950"/>
            <a:ext cx="1276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1D45"/>
                </a:solidFill>
              </a:defRPr>
            </a:pPr>
            <a:r>
              <a:rPr sz="1500" b="1">
                <a:solidFill>
                  <a:srgbClr val="0B1D45"/>
                </a:solidFill>
              </a:rPr>
              <a:t>Set-C</a:t>
            </a:r>
          </a:p>
          <a:p xmlns:a="http://schemas.openxmlformats.org/drawingml/2006/main">
            <a:pPr algn="ctr">
              <a:buNone/>
              <a:defRPr sz="1500" b="1">
                <a:solidFill>
                  <a:srgbClr val="0B1D45"/>
                </a:solidFill>
              </a:defRPr>
            </a:pPr>
            <a:r>
              <a:rPr sz="1500" b="1">
                <a:solidFill>
                  <a:srgbClr val="0B1D45"/>
                </a:solidFill>
              </a:rPr>
              <a:t>confirmation</a:t>
            </a:r>
          </a:p>
        </p:txBody>
      </p:sp>
      <p:sp>
        <p:nvSpPr>
          <p:cNvPr id="38" name="">
            <a:extLst xmlns:a="http://schemas.openxmlformats.org/drawingml/2006/main">
              <a:ext uri="{FF2B5EF4-FFF2-40B4-BE49-F238E27FC236}">
                <a16:creationId xmlns:a16="http://schemas.microsoft.com/office/drawing/2014/main" id="{02734811-81A0-474A-8070-4100207329E9}"/>
              </a:ext>
            </a:extLst>
          </p:cNvPr>
          <p:cNvSpPr>
            <a:spLocks xmlns:a="http://schemas.openxmlformats.org/drawingml/2006/main" noGrp="1"/>
          </p:cNvSpPr>
          <p:nvPr/>
        </p:nvSpPr>
        <p:spPr>
          <a:xfrm xmlns:a="http://schemas.openxmlformats.org/drawingml/2006/main">
            <a:off x="8458200" y="3981450"/>
            <a:ext cx="1009650" cy="0"/>
          </a:xfrm>
          <a:prstGeom xmlns:a="http://schemas.openxmlformats.org/drawingml/2006/main" prst="line">
            <a:avLst/>
          </a:prstGeom>
          <a:noFill xmlns:a="http://schemas.openxmlformats.org/drawingml/2006/main"/>
          <a:ln xmlns:a="http://schemas.openxmlformats.org/drawingml/2006/main" w="9525">
            <a:solidFill>
              <a:srgbClr val="D8E4E8"/>
            </a:solidFill>
            <a:prstDash val="solid"/>
          </a:ln>
        </p:spPr>
      </p:sp>
      <p:sp>
        <p:nvSpPr>
          <p:cNvPr id="39" name="">
            <a:extLst xmlns:a="http://schemas.openxmlformats.org/drawingml/2006/main">
              <a:ext uri="{FF2B5EF4-FFF2-40B4-BE49-F238E27FC236}">
                <a16:creationId xmlns:a16="http://schemas.microsoft.com/office/drawing/2014/main" id="{09BD698E-B652-45E1-83CC-EFB310DEA1FE}"/>
              </a:ext>
            </a:extLst>
          </p:cNvPr>
          <p:cNvSpPr>
            <a:spLocks xmlns:a="http://schemas.openxmlformats.org/drawingml/2006/main" noGrp="1"/>
          </p:cNvSpPr>
          <p:nvPr/>
        </p:nvSpPr>
        <p:spPr>
          <a:xfrm xmlns:a="http://schemas.openxmlformats.org/drawingml/2006/main">
            <a:off x="8305800" y="4095750"/>
            <a:ext cx="1314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66758F"/>
                </a:solidFill>
              </a:defRPr>
            </a:pPr>
            <a:r>
              <a:rPr sz="1125" b="0">
                <a:solidFill>
                  <a:srgbClr val="66758F"/>
                </a:solidFill>
              </a:rPr>
              <a:t>4,000 patients</a:t>
            </a:r>
          </a:p>
          <a:p xmlns:a="http://schemas.openxmlformats.org/drawingml/2006/main">
            <a:pPr algn="ctr">
              <a:buNone/>
              <a:defRPr sz="1125" b="0">
                <a:solidFill>
                  <a:srgbClr val="66758F"/>
                </a:solidFill>
              </a:defRPr>
            </a:pPr>
            <a:r>
              <a:rPr sz="1125" b="0">
                <a:solidFill>
                  <a:srgbClr val="66758F"/>
                </a:solidFill>
              </a:rPr>
              <a:t>executed once</a:t>
            </a:r>
          </a:p>
        </p:txBody>
      </p:sp>
      <p:sp>
        <p:nvSpPr>
          <p:cNvPr id="40" name="">
            <a:extLst xmlns:a="http://schemas.openxmlformats.org/drawingml/2006/main">
              <a:ext uri="{FF2B5EF4-FFF2-40B4-BE49-F238E27FC236}">
                <a16:creationId xmlns:a16="http://schemas.microsoft.com/office/drawing/2014/main" id="{A7329E7F-A10B-4354-91C3-4E673D379069}"/>
              </a:ext>
            </a:extLst>
          </p:cNvPr>
          <p:cNvSpPr>
            <a:spLocks xmlns:a="http://schemas.openxmlformats.org/drawingml/2006/main" noGrp="1"/>
          </p:cNvSpPr>
          <p:nvPr/>
        </p:nvSpPr>
        <p:spPr>
          <a:xfrm xmlns:a="http://schemas.openxmlformats.org/drawingml/2006/main">
            <a:off x="10077450" y="2571750"/>
            <a:ext cx="1581150" cy="2076450"/>
          </a:xfrm>
          <a:prstGeom xmlns:a="http://schemas.openxmlformats.org/drawingml/2006/main" prst="roundRect">
            <a:avLst>
              <a:gd name="adj" fmla="val 10843"/>
            </a:avLst>
          </a:prstGeom>
          <a:solidFill xmlns:a="http://schemas.openxmlformats.org/drawingml/2006/main">
            <a:srgbClr val="0B1D45"/>
          </a:solidFill>
          <a:ln xmlns:a="http://schemas.openxmlformats.org/drawingml/2006/main" w="9525">
            <a:solidFill>
              <a:srgbClr val="0B1D4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A0CC19BE-A1AE-4E27-8861-324A8193E694}"/>
              </a:ext>
            </a:extLst>
          </p:cNvPr>
          <p:cNvSpPr>
            <a:spLocks xmlns:a="http://schemas.openxmlformats.org/drawingml/2006/main" noGrp="1"/>
          </p:cNvSpPr>
          <p:nvPr/>
        </p:nvSpPr>
        <p:spPr>
          <a:xfrm xmlns:a="http://schemas.openxmlformats.org/drawingml/2006/main">
            <a:off x="10248900" y="27622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9DED7"/>
                </a:solidFill>
              </a:defRPr>
            </a:pPr>
            <a:r>
              <a:rPr sz="1050" b="1">
                <a:solidFill>
                  <a:srgbClr val="69DED7"/>
                </a:solidFill>
              </a:rPr>
              <a:t>06</a:t>
            </a:r>
          </a:p>
        </p:txBody>
      </p:sp>
      <p:sp>
        <p:nvSpPr>
          <p:cNvPr id="42" name="">
            <a:extLst xmlns:a="http://schemas.openxmlformats.org/drawingml/2006/main">
              <a:ext uri="{FF2B5EF4-FFF2-40B4-BE49-F238E27FC236}">
                <a16:creationId xmlns:a16="http://schemas.microsoft.com/office/drawing/2014/main" id="{92D4E1B4-0563-41DE-BA82-AAF783B3EE18}"/>
              </a:ext>
            </a:extLst>
          </p:cNvPr>
          <p:cNvSpPr>
            <a:spLocks xmlns:a="http://schemas.openxmlformats.org/drawingml/2006/main" noGrp="1"/>
          </p:cNvSpPr>
          <p:nvPr/>
        </p:nvSpPr>
        <p:spPr>
          <a:xfrm xmlns:a="http://schemas.openxmlformats.org/drawingml/2006/main">
            <a:off x="10229850" y="3028950"/>
            <a:ext cx="1276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FFFFF"/>
                </a:solidFill>
              </a:defRPr>
            </a:pPr>
            <a:r>
              <a:rPr sz="1500" b="1">
                <a:solidFill>
                  <a:srgbClr val="FFFFFF"/>
                </a:solidFill>
              </a:rPr>
              <a:t>Evidence</a:t>
            </a:r>
          </a:p>
          <a:p xmlns:a="http://schemas.openxmlformats.org/drawingml/2006/main">
            <a:pPr algn="ctr">
              <a:buNone/>
              <a:defRPr sz="1500" b="1">
                <a:solidFill>
                  <a:srgbClr val="FFFFFF"/>
                </a:solidFill>
              </a:defRPr>
            </a:pPr>
            <a:r>
              <a:rPr sz="1500" b="1">
                <a:solidFill>
                  <a:srgbClr val="FFFFFF"/>
                </a:solidFill>
              </a:rPr>
              <a:t>UI</a:t>
            </a:r>
          </a:p>
        </p:txBody>
      </p:sp>
      <p:sp>
        <p:nvSpPr>
          <p:cNvPr id="43" name="">
            <a:extLst xmlns:a="http://schemas.openxmlformats.org/drawingml/2006/main">
              <a:ext uri="{FF2B5EF4-FFF2-40B4-BE49-F238E27FC236}">
                <a16:creationId xmlns:a16="http://schemas.microsoft.com/office/drawing/2014/main" id="{B494B5ED-DECD-48B2-9479-629392DD09AC}"/>
              </a:ext>
            </a:extLst>
          </p:cNvPr>
          <p:cNvSpPr>
            <a:spLocks xmlns:a="http://schemas.openxmlformats.org/drawingml/2006/main" noGrp="1"/>
          </p:cNvSpPr>
          <p:nvPr/>
        </p:nvSpPr>
        <p:spPr>
          <a:xfrm xmlns:a="http://schemas.openxmlformats.org/drawingml/2006/main">
            <a:off x="10363200" y="3981450"/>
            <a:ext cx="1009650" cy="0"/>
          </a:xfrm>
          <a:prstGeom xmlns:a="http://schemas.openxmlformats.org/drawingml/2006/main" prst="line">
            <a:avLst/>
          </a:prstGeom>
          <a:noFill xmlns:a="http://schemas.openxmlformats.org/drawingml/2006/main"/>
          <a:ln xmlns:a="http://schemas.openxmlformats.org/drawingml/2006/main" w="9525">
            <a:solidFill>
              <a:srgbClr val="36566B"/>
            </a:solidFill>
            <a:prstDash val="solid"/>
          </a:ln>
        </p:spPr>
      </p:sp>
      <p:sp>
        <p:nvSpPr>
          <p:cNvPr id="44" name="">
            <a:extLst xmlns:a="http://schemas.openxmlformats.org/drawingml/2006/main">
              <a:ext uri="{FF2B5EF4-FFF2-40B4-BE49-F238E27FC236}">
                <a16:creationId xmlns:a16="http://schemas.microsoft.com/office/drawing/2014/main" id="{BA4373F7-EAB7-4AE4-8AC8-392FE8BF1C14}"/>
              </a:ext>
            </a:extLst>
          </p:cNvPr>
          <p:cNvSpPr>
            <a:spLocks xmlns:a="http://schemas.openxmlformats.org/drawingml/2006/main" noGrp="1"/>
          </p:cNvSpPr>
          <p:nvPr/>
        </p:nvSpPr>
        <p:spPr>
          <a:xfrm xmlns:a="http://schemas.openxmlformats.org/drawingml/2006/main">
            <a:off x="10210800" y="4095750"/>
            <a:ext cx="1314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B9D8D5"/>
                </a:solidFill>
              </a:defRPr>
            </a:pPr>
            <a:r>
              <a:rPr sz="1125" b="0">
                <a:solidFill>
                  <a:srgbClr val="B9D8D5"/>
                </a:solidFill>
              </a:rPr>
              <a:t>committed artifacts</a:t>
            </a:r>
          </a:p>
          <a:p xmlns:a="http://schemas.openxmlformats.org/drawingml/2006/main">
            <a:pPr algn="ctr">
              <a:buNone/>
              <a:defRPr sz="1125" b="0">
                <a:solidFill>
                  <a:srgbClr val="B9D8D5"/>
                </a:solidFill>
              </a:defRPr>
            </a:pPr>
            <a:r>
              <a:rPr sz="1125" b="0">
                <a:solidFill>
                  <a:srgbClr val="B9D8D5"/>
                </a:solidFill>
              </a:rPr>
              <a:t>React + Firebase</a:t>
            </a:r>
          </a:p>
        </p:txBody>
      </p:sp>
      <p:sp>
        <p:nvSpPr>
          <p:cNvPr id="45" name="">
            <a:extLst xmlns:a="http://schemas.openxmlformats.org/drawingml/2006/main">
              <a:ext uri="{FF2B5EF4-FFF2-40B4-BE49-F238E27FC236}">
                <a16:creationId xmlns:a16="http://schemas.microsoft.com/office/drawing/2014/main" id="{9A66D118-C697-4848-B706-AC60050925F2}"/>
              </a:ext>
            </a:extLst>
          </p:cNvPr>
          <p:cNvSpPr>
            <a:spLocks xmlns:a="http://schemas.openxmlformats.org/drawingml/2006/main" noGrp="1"/>
          </p:cNvSpPr>
          <p:nvPr/>
        </p:nvSpPr>
        <p:spPr>
          <a:xfrm xmlns:a="http://schemas.openxmlformats.org/drawingml/2006/main">
            <a:off x="895350" y="5048250"/>
            <a:ext cx="2724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1D45"/>
                </a:solidFill>
              </a:defRPr>
            </a:pPr>
            <a:r>
              <a:rPr sz="1350" b="1">
                <a:solidFill>
                  <a:srgbClr val="0B1D45"/>
                </a:solidFill>
              </a:rPr>
              <a:t>Python science pipeline</a:t>
            </a:r>
          </a:p>
        </p:txBody>
      </p:sp>
      <p:sp>
        <p:nvSpPr>
          <p:cNvPr id="46" name="">
            <a:extLst xmlns:a="http://schemas.openxmlformats.org/drawingml/2006/main">
              <a:ext uri="{FF2B5EF4-FFF2-40B4-BE49-F238E27FC236}">
                <a16:creationId xmlns:a16="http://schemas.microsoft.com/office/drawing/2014/main" id="{439F0FAC-F538-4A90-BACD-B66ECC9AA720}"/>
              </a:ext>
            </a:extLst>
          </p:cNvPr>
          <p:cNvSpPr>
            <a:spLocks xmlns:a="http://schemas.openxmlformats.org/drawingml/2006/main" noGrp="1"/>
          </p:cNvSpPr>
          <p:nvPr/>
        </p:nvSpPr>
        <p:spPr>
          <a:xfrm xmlns:a="http://schemas.openxmlformats.org/drawingml/2006/main">
            <a:off x="4324350" y="5048250"/>
            <a:ext cx="3524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1D45"/>
                </a:solidFill>
              </a:defRPr>
            </a:pPr>
            <a:r>
              <a:rPr sz="1350" b="1">
                <a:solidFill>
                  <a:srgbClr val="0B1D45"/>
                </a:solidFill>
              </a:rPr>
              <a:t>Frozen contract and committed evidence</a:t>
            </a:r>
          </a:p>
        </p:txBody>
      </p:sp>
      <p:sp>
        <p:nvSpPr>
          <p:cNvPr id="47" name="">
            <a:extLst xmlns:a="http://schemas.openxmlformats.org/drawingml/2006/main">
              <a:ext uri="{FF2B5EF4-FFF2-40B4-BE49-F238E27FC236}">
                <a16:creationId xmlns:a16="http://schemas.microsoft.com/office/drawing/2014/main" id="{FEFAA03A-6451-408B-8DC8-476B71537D67}"/>
              </a:ext>
            </a:extLst>
          </p:cNvPr>
          <p:cNvSpPr>
            <a:spLocks xmlns:a="http://schemas.openxmlformats.org/drawingml/2006/main" noGrp="1"/>
          </p:cNvSpPr>
          <p:nvPr/>
        </p:nvSpPr>
        <p:spPr>
          <a:xfrm xmlns:a="http://schemas.openxmlformats.org/drawingml/2006/main">
            <a:off x="8401050" y="50482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1D45"/>
                </a:solidFill>
              </a:defRPr>
            </a:pPr>
            <a:r>
              <a:rPr sz="1350" b="1">
                <a:solidFill>
                  <a:srgbClr val="0B1D45"/>
                </a:solidFill>
              </a:rPr>
              <a:t>Read-only product surfaces</a:t>
            </a:r>
          </a:p>
        </p:txBody>
      </p:sp>
      <p:sp>
        <p:nvSpPr>
          <p:cNvPr id="48" name="">
            <a:extLst xmlns:a="http://schemas.openxmlformats.org/drawingml/2006/main">
              <a:ext uri="{FF2B5EF4-FFF2-40B4-BE49-F238E27FC236}">
                <a16:creationId xmlns:a16="http://schemas.microsoft.com/office/drawing/2014/main" id="{BFBEEAC9-762E-4401-8447-DC56E5C9E4DC}"/>
              </a:ext>
            </a:extLst>
          </p:cNvPr>
          <p:cNvSpPr>
            <a:spLocks xmlns:a="http://schemas.openxmlformats.org/drawingml/2006/main" noGrp="1"/>
          </p:cNvSpPr>
          <p:nvPr/>
        </p:nvSpPr>
        <p:spPr>
          <a:xfrm xmlns:a="http://schemas.openxmlformats.org/drawingml/2006/main">
            <a:off x="685800" y="5562600"/>
            <a:ext cx="10820400" cy="0"/>
          </a:xfrm>
          <a:prstGeom xmlns:a="http://schemas.openxmlformats.org/drawingml/2006/main" prst="line">
            <a:avLst/>
          </a:prstGeom>
          <a:noFill xmlns:a="http://schemas.openxmlformats.org/drawingml/2006/main"/>
          <a:ln xmlns:a="http://schemas.openxmlformats.org/drawingml/2006/main" w="9525">
            <a:solidFill>
              <a:srgbClr val="D8E4E8"/>
            </a:solidFill>
            <a:prstDash val="solid"/>
          </a:ln>
        </p:spPr>
      </p:sp>
      <p:sp>
        <p:nvSpPr>
          <p:cNvPr id="49" name="">
            <a:extLst xmlns:a="http://schemas.openxmlformats.org/drawingml/2006/main">
              <a:ext uri="{FF2B5EF4-FFF2-40B4-BE49-F238E27FC236}">
                <a16:creationId xmlns:a16="http://schemas.microsoft.com/office/drawing/2014/main" id="{04CEBD93-56BD-4311-A28C-11D9CF75C72C}"/>
              </a:ext>
            </a:extLst>
          </p:cNvPr>
          <p:cNvSpPr>
            <a:spLocks xmlns:a="http://schemas.openxmlformats.org/drawingml/2006/main" noGrp="1"/>
          </p:cNvSpPr>
          <p:nvPr/>
        </p:nvSpPr>
        <p:spPr>
          <a:xfrm xmlns:a="http://schemas.openxmlformats.org/drawingml/2006/main">
            <a:off x="952500" y="58483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0A9F9B"/>
                </a:solidFill>
              </a:defRPr>
            </a:pPr>
            <a:r>
              <a:rPr sz="1725" b="1">
                <a:solidFill>
                  <a:srgbClr val="0A9F9B"/>
                </a:solidFill>
              </a:rPr>
              <a:t>8,000 development patients</a:t>
            </a:r>
          </a:p>
        </p:txBody>
      </p:sp>
      <p:sp>
        <p:nvSpPr>
          <p:cNvPr id="50" name="">
            <a:extLst xmlns:a="http://schemas.openxmlformats.org/drawingml/2006/main">
              <a:ext uri="{FF2B5EF4-FFF2-40B4-BE49-F238E27FC236}">
                <a16:creationId xmlns:a16="http://schemas.microsoft.com/office/drawing/2014/main" id="{E5F7F4A1-3BA6-44B7-97E2-925B64741048}"/>
              </a:ext>
            </a:extLst>
          </p:cNvPr>
          <p:cNvSpPr>
            <a:spLocks xmlns:a="http://schemas.openxmlformats.org/drawingml/2006/main" noGrp="1"/>
          </p:cNvSpPr>
          <p:nvPr/>
        </p:nvSpPr>
        <p:spPr>
          <a:xfrm xmlns:a="http://schemas.openxmlformats.org/drawingml/2006/main">
            <a:off x="4495800" y="5905500"/>
            <a:ext cx="685800" cy="209550"/>
          </a:xfrm>
          <a:prstGeom xmlns:a="http://schemas.openxmlformats.org/drawingml/2006/main" prst="rightArrow">
            <a:avLst/>
          </a:prstGeom>
          <a:solidFill xmlns:a="http://schemas.openxmlformats.org/drawingml/2006/main">
            <a:srgbClr val="69DED7"/>
          </a:solidFill>
          <a:ln xmlns:a="http://schemas.openxmlformats.org/drawingml/2006/main" w="0">
            <a:solidFill>
              <a:srgbClr val="69DED7"/>
            </a:solidFill>
            <a:prstDash val="solid"/>
          </a:ln>
        </p:spPr>
      </p:sp>
      <p:sp>
        <p:nvSpPr>
          <p:cNvPr id="51" name="">
            <a:extLst xmlns:a="http://schemas.openxmlformats.org/drawingml/2006/main">
              <a:ext uri="{FF2B5EF4-FFF2-40B4-BE49-F238E27FC236}">
                <a16:creationId xmlns:a16="http://schemas.microsoft.com/office/drawing/2014/main" id="{78C823E5-4AA5-4A2E-B646-91B8EFDB54A7}"/>
              </a:ext>
            </a:extLst>
          </p:cNvPr>
          <p:cNvSpPr>
            <a:spLocks xmlns:a="http://schemas.openxmlformats.org/drawingml/2006/main" noGrp="1"/>
          </p:cNvSpPr>
          <p:nvPr/>
        </p:nvSpPr>
        <p:spPr>
          <a:xfrm xmlns:a="http://schemas.openxmlformats.org/drawingml/2006/main">
            <a:off x="5486400" y="58483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0B1D45"/>
                </a:solidFill>
              </a:defRPr>
            </a:pPr>
            <a:r>
              <a:rPr sz="1725" b="1">
                <a:solidFill>
                  <a:srgbClr val="0B1D45"/>
                </a:solidFill>
              </a:rPr>
              <a:t>4,000-patient holdout</a:t>
            </a:r>
          </a:p>
        </p:txBody>
      </p:sp>
      <p:sp>
        <p:nvSpPr>
          <p:cNvPr id="52" name="">
            <a:extLst xmlns:a="http://schemas.openxmlformats.org/drawingml/2006/main">
              <a:ext uri="{FF2B5EF4-FFF2-40B4-BE49-F238E27FC236}">
                <a16:creationId xmlns:a16="http://schemas.microsoft.com/office/drawing/2014/main" id="{F84F2417-7F88-4FA1-9EE6-2DC278AE4014}"/>
              </a:ext>
            </a:extLst>
          </p:cNvPr>
          <p:cNvSpPr>
            <a:spLocks xmlns:a="http://schemas.openxmlformats.org/drawingml/2006/main" noGrp="1"/>
          </p:cNvSpPr>
          <p:nvPr/>
        </p:nvSpPr>
        <p:spPr>
          <a:xfrm xmlns:a="http://schemas.openxmlformats.org/drawingml/2006/main">
            <a:off x="8705850" y="58483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350" b="1">
                <a:solidFill>
                  <a:srgbClr val="66758F"/>
                </a:solidFill>
              </a:defRPr>
            </a:pPr>
            <a:r>
              <a:rPr sz="1350" b="1">
                <a:solidFill>
                  <a:srgbClr val="66758F"/>
                </a:solidFill>
              </a:rPr>
              <a:t>Evidence, not live inference</a:t>
            </a:r>
          </a:p>
        </p:txBody>
      </p:sp>
    </p:spTree>
    <p:extLst>
      <p:ext uri="{BB962C8B-B14F-4D97-AF65-F5344CB8AC3E}">
        <p14:creationId xmlns:p14="http://schemas.microsoft.com/office/powerpoint/2010/main" val="8718383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C29EB2B-4E9C-4CBE-B4D7-48C5D03E8EDF}"/>
              </a:ext>
            </a:extLst>
          </p:cNvPr>
          <p:cNvSpPr>
            <a:spLocks xmlns:a="http://schemas.openxmlformats.org/drawingml/2006/main" noGrp="1"/>
          </p:cNvSpPr>
          <p:nvPr/>
        </p:nvSpPr>
        <p:spPr>
          <a:xfrm xmlns:a="http://schemas.openxmlformats.org/drawingml/2006/main">
            <a:off x="704850" y="2667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0B1D45"/>
                </a:solidFill>
              </a:defRPr>
            </a:pPr>
            <a:r>
              <a:rPr sz="1050" b="1">
                <a:solidFill>
                  <a:srgbClr val="0B1D45"/>
                </a:solidFill>
              </a:rPr>
              <a:t>CLINIVERSE</a:t>
            </a:r>
          </a:p>
        </p:txBody>
      </p:sp>
      <p:sp>
        <p:nvSpPr>
          <p:cNvPr id="2" name="">
            <a:extLst xmlns:a="http://schemas.openxmlformats.org/drawingml/2006/main">
              <a:ext uri="{FF2B5EF4-FFF2-40B4-BE49-F238E27FC236}">
                <a16:creationId xmlns:a16="http://schemas.microsoft.com/office/drawing/2014/main" id="{BA79EF3F-A422-448F-8BB6-808EF968F66C}"/>
              </a:ext>
            </a:extLst>
          </p:cNvPr>
          <p:cNvSpPr>
            <a:spLocks xmlns:a="http://schemas.openxmlformats.org/drawingml/2006/main" noGrp="1"/>
          </p:cNvSpPr>
          <p:nvPr/>
        </p:nvSpPr>
        <p:spPr>
          <a:xfrm xmlns:a="http://schemas.openxmlformats.org/drawingml/2006/main">
            <a:off x="2324100" y="276225"/>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66758F"/>
                </a:solidFill>
              </a:defRPr>
            </a:pPr>
            <a:r>
              <a:rPr sz="1050" b="0">
                <a:solidFill>
                  <a:srgbClr val="66758F"/>
                </a:solidFill>
              </a:rPr>
              <a:t>Healthcare AI Reliability Lab</a:t>
            </a:r>
          </a:p>
        </p:txBody>
      </p:sp>
      <p:sp>
        <p:nvSpPr>
          <p:cNvPr id="3" name="">
            <a:extLst xmlns:a="http://schemas.openxmlformats.org/drawingml/2006/main">
              <a:ext uri="{FF2B5EF4-FFF2-40B4-BE49-F238E27FC236}">
                <a16:creationId xmlns:a16="http://schemas.microsoft.com/office/drawing/2014/main" id="{FB0F213F-988C-45F8-9013-20664FA900AF}"/>
              </a:ext>
            </a:extLst>
          </p:cNvPr>
          <p:cNvSpPr>
            <a:spLocks xmlns:a="http://schemas.openxmlformats.org/drawingml/2006/main" noGrp="1"/>
          </p:cNvSpPr>
          <p:nvPr/>
        </p:nvSpPr>
        <p:spPr>
          <a:xfrm xmlns:a="http://schemas.openxmlformats.org/drawingml/2006/main">
            <a:off x="11239500" y="2667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66758F"/>
                </a:solidFill>
              </a:defRPr>
            </a:pPr>
            <a:r>
              <a:rPr sz="1050" b="1">
                <a:solidFill>
                  <a:srgbClr val="66758F"/>
                </a:solidFill>
              </a:rPr>
              <a:t>06</a:t>
            </a:r>
          </a:p>
        </p:txBody>
      </p:sp>
      <p:sp>
        <p:nvSpPr>
          <p:cNvPr id="4" name="slide-title">
            <a:extLst xmlns:a="http://schemas.openxmlformats.org/drawingml/2006/main">
              <a:ext uri="{FF2B5EF4-FFF2-40B4-BE49-F238E27FC236}">
                <a16:creationId xmlns:a16="http://schemas.microsoft.com/office/drawing/2014/main" id="{0F7AD646-C5C6-4135-BD1D-6F7ACD175CB8}"/>
              </a:ext>
            </a:extLst>
          </p:cNvPr>
          <p:cNvSpPr>
            <a:spLocks xmlns:a="http://schemas.openxmlformats.org/drawingml/2006/main" noGrp="1"/>
          </p:cNvSpPr>
          <p:nvPr/>
        </p:nvSpPr>
        <p:spPr>
          <a:xfrm xmlns:a="http://schemas.openxmlformats.org/drawingml/2006/main">
            <a:off x="685800" y="7239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1D45"/>
                </a:solidFill>
              </a:defRPr>
            </a:pPr>
            <a:r>
              <a:rPr sz="3000" b="1">
                <a:solidFill>
                  <a:srgbClr val="0B1D45"/>
                </a:solidFill>
              </a:rPr>
              <a:t>How do we know it is not just ‘less data = worse model’?</a:t>
            </a:r>
          </a:p>
        </p:txBody>
      </p:sp>
      <p:sp>
        <p:nvSpPr>
          <p:cNvPr id="5" name="">
            <a:extLst xmlns:a="http://schemas.openxmlformats.org/drawingml/2006/main">
              <a:ext uri="{FF2B5EF4-FFF2-40B4-BE49-F238E27FC236}">
                <a16:creationId xmlns:a16="http://schemas.microsoft.com/office/drawing/2014/main" id="{9EE56DD2-EA67-4036-9800-1A346EC71495}"/>
              </a:ext>
            </a:extLst>
          </p:cNvPr>
          <p:cNvSpPr>
            <a:spLocks xmlns:a="http://schemas.openxmlformats.org/drawingml/2006/main" noGrp="1"/>
          </p:cNvSpPr>
          <p:nvPr/>
        </p:nvSpPr>
        <p:spPr>
          <a:xfrm xmlns:a="http://schemas.openxmlformats.org/drawingml/2006/main">
            <a:off x="685800" y="1409700"/>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66758F"/>
                </a:solidFill>
              </a:defRPr>
            </a:pPr>
            <a:r>
              <a:rPr sz="1500" b="0">
                <a:solidFill>
                  <a:srgbClr val="66758F"/>
                </a:solidFill>
              </a:rPr>
              <a:t>The control removes quantity as the explanation.</a:t>
            </a:r>
          </a:p>
        </p:txBody>
      </p:sp>
      <p:sp>
        <p:nvSpPr>
          <p:cNvPr id="6" name="">
            <a:extLst xmlns:a="http://schemas.openxmlformats.org/drawingml/2006/main">
              <a:ext uri="{FF2B5EF4-FFF2-40B4-BE49-F238E27FC236}">
                <a16:creationId xmlns:a16="http://schemas.microsoft.com/office/drawing/2014/main" id="{F8463283-9DF0-4CEB-8A13-A711143F33DF}"/>
              </a:ext>
            </a:extLst>
          </p:cNvPr>
          <p:cNvSpPr>
            <a:spLocks xmlns:a="http://schemas.openxmlformats.org/drawingml/2006/main" noGrp="1"/>
          </p:cNvSpPr>
          <p:nvPr/>
        </p:nvSpPr>
        <p:spPr>
          <a:xfrm xmlns:a="http://schemas.openxmlformats.org/drawingml/2006/main">
            <a:off x="685800" y="2076450"/>
            <a:ext cx="4476750" cy="2819400"/>
          </a:xfrm>
          <a:prstGeom xmlns:a="http://schemas.openxmlformats.org/drawingml/2006/main" prst="roundRect">
            <a:avLst>
              <a:gd name="adj" fmla="val 7432"/>
            </a:avLst>
          </a:prstGeom>
          <a:solidFill xmlns:a="http://schemas.openxmlformats.org/drawingml/2006/main">
            <a:srgbClr val="FFF1E8"/>
          </a:solidFill>
          <a:ln xmlns:a="http://schemas.openxmlformats.org/drawingml/2006/main" w="9525">
            <a:solidFill>
              <a:srgbClr val="FFD6BF"/>
            </a:solidFill>
            <a:prstDash val="solid"/>
          </a:ln>
        </p:spPr>
      </p:sp>
      <p:sp>
        <p:nvSpPr>
          <p:cNvPr id="7" name="">
            <a:extLst xmlns:a="http://schemas.openxmlformats.org/drawingml/2006/main">
              <a:ext uri="{FF2B5EF4-FFF2-40B4-BE49-F238E27FC236}">
                <a16:creationId xmlns:a16="http://schemas.microsoft.com/office/drawing/2014/main" id="{A646E6B3-90D6-4985-AC9D-7DB915382CA7}"/>
              </a:ext>
            </a:extLst>
          </p:cNvPr>
          <p:cNvSpPr>
            <a:spLocks xmlns:a="http://schemas.openxmlformats.org/drawingml/2006/main" noGrp="1"/>
          </p:cNvSpPr>
          <p:nvPr/>
        </p:nvSpPr>
        <p:spPr>
          <a:xfrm xmlns:a="http://schemas.openxmlformats.org/drawingml/2006/main">
            <a:off x="7029450" y="2076450"/>
            <a:ext cx="4476750" cy="2819400"/>
          </a:xfrm>
          <a:prstGeom xmlns:a="http://schemas.openxmlformats.org/drawingml/2006/main" prst="roundRect">
            <a:avLst>
              <a:gd name="adj" fmla="val 7432"/>
            </a:avLst>
          </a:prstGeom>
          <a:solidFill xmlns:a="http://schemas.openxmlformats.org/drawingml/2006/main">
            <a:srgbClr val="F5F9FA"/>
          </a:solidFill>
          <a:ln xmlns:a="http://schemas.openxmlformats.org/drawingml/2006/main" w="9525">
            <a:solidFill>
              <a:srgbClr val="D8E4E8"/>
            </a:solidFill>
            <a:prstDash val="solid"/>
          </a:ln>
        </p:spPr>
      </p:sp>
      <p:sp>
        <p:nvSpPr>
          <p:cNvPr id="8" name="">
            <a:extLst xmlns:a="http://schemas.openxmlformats.org/drawingml/2006/main">
              <a:ext uri="{FF2B5EF4-FFF2-40B4-BE49-F238E27FC236}">
                <a16:creationId xmlns:a16="http://schemas.microsoft.com/office/drawing/2014/main" id="{031F33A6-5B37-4C8E-BCE3-D4AC50BAACCF}"/>
              </a:ext>
            </a:extLst>
          </p:cNvPr>
          <p:cNvSpPr>
            <a:spLocks xmlns:a="http://schemas.openxmlformats.org/drawingml/2006/main" noGrp="1"/>
          </p:cNvSpPr>
          <p:nvPr/>
        </p:nvSpPr>
        <p:spPr>
          <a:xfrm xmlns:a="http://schemas.openxmlformats.org/drawingml/2006/main">
            <a:off x="933450" y="23050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E95B19"/>
                </a:solidFill>
              </a:defRPr>
            </a:pPr>
            <a:r>
              <a:rPr sz="1275" b="1">
                <a:solidFill>
                  <a:srgbClr val="E95B19"/>
                </a:solidFill>
              </a:rPr>
              <a:t>CANDIDATE DELETION</a:t>
            </a:r>
          </a:p>
        </p:txBody>
      </p:sp>
      <p:sp>
        <p:nvSpPr>
          <p:cNvPr id="9" name="">
            <a:extLst xmlns:a="http://schemas.openxmlformats.org/drawingml/2006/main">
              <a:ext uri="{FF2B5EF4-FFF2-40B4-BE49-F238E27FC236}">
                <a16:creationId xmlns:a16="http://schemas.microsoft.com/office/drawing/2014/main" id="{C9BC960D-C4E9-45F1-B421-479C398F8B87}"/>
              </a:ext>
            </a:extLst>
          </p:cNvPr>
          <p:cNvSpPr>
            <a:spLocks xmlns:a="http://schemas.openxmlformats.org/drawingml/2006/main" noGrp="1"/>
          </p:cNvSpPr>
          <p:nvPr/>
        </p:nvSpPr>
        <p:spPr>
          <a:xfrm xmlns:a="http://schemas.openxmlformats.org/drawingml/2006/main">
            <a:off x="933450" y="2762250"/>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25" b="1">
                <a:solidFill>
                  <a:srgbClr val="0B1D45"/>
                </a:solidFill>
              </a:defRPr>
            </a:pPr>
            <a:r>
              <a:rPr sz="2325" b="1">
                <a:solidFill>
                  <a:srgbClr val="0B1D45"/>
                </a:solidFill>
              </a:rPr>
              <a:t>BUN + Glucose + Na</a:t>
            </a:r>
          </a:p>
        </p:txBody>
      </p:sp>
      <p:sp>
        <p:nvSpPr>
          <p:cNvPr id="10" name="">
            <a:extLst xmlns:a="http://schemas.openxmlformats.org/drawingml/2006/main">
              <a:ext uri="{FF2B5EF4-FFF2-40B4-BE49-F238E27FC236}">
                <a16:creationId xmlns:a16="http://schemas.microsoft.com/office/drawing/2014/main" id="{CEDA9695-B578-49ED-A2FF-9818C014E0DB}"/>
              </a:ext>
            </a:extLst>
          </p:cNvPr>
          <p:cNvSpPr>
            <a:spLocks xmlns:a="http://schemas.openxmlformats.org/drawingml/2006/main" noGrp="1"/>
          </p:cNvSpPr>
          <p:nvPr/>
        </p:nvSpPr>
        <p:spPr>
          <a:xfrm xmlns:a="http://schemas.openxmlformats.org/drawingml/2006/main">
            <a:off x="1123950" y="3429000"/>
            <a:ext cx="3619500" cy="0"/>
          </a:xfrm>
          <a:prstGeom xmlns:a="http://schemas.openxmlformats.org/drawingml/2006/main" prst="line">
            <a:avLst/>
          </a:prstGeom>
          <a:noFill xmlns:a="http://schemas.openxmlformats.org/drawingml/2006/main"/>
          <a:ln xmlns:a="http://schemas.openxmlformats.org/drawingml/2006/main" w="9525">
            <a:solidFill>
              <a:srgbClr val="FFD0B6"/>
            </a:solidFill>
            <a:prstDash val="solid"/>
          </a:ln>
        </p:spPr>
      </p:sp>
      <p:sp>
        <p:nvSpPr>
          <p:cNvPr id="11" name="">
            <a:extLst xmlns:a="http://schemas.openxmlformats.org/drawingml/2006/main">
              <a:ext uri="{FF2B5EF4-FFF2-40B4-BE49-F238E27FC236}">
                <a16:creationId xmlns:a16="http://schemas.microsoft.com/office/drawing/2014/main" id="{FAE46F51-DC11-4D48-AD56-71CE1FF9888B}"/>
              </a:ext>
            </a:extLst>
          </p:cNvPr>
          <p:cNvSpPr>
            <a:spLocks xmlns:a="http://schemas.openxmlformats.org/drawingml/2006/main" noGrp="1"/>
          </p:cNvSpPr>
          <p:nvPr/>
        </p:nvSpPr>
        <p:spPr>
          <a:xfrm xmlns:a="http://schemas.openxmlformats.org/drawingml/2006/main">
            <a:off x="933450" y="37147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1D45"/>
                </a:solidFill>
              </a:defRPr>
            </a:pPr>
            <a:r>
              <a:rPr sz="1650" b="1">
                <a:solidFill>
                  <a:srgbClr val="0B1D45"/>
                </a:solidFill>
              </a:rPr>
              <a:t>same patients</a:t>
            </a:r>
          </a:p>
        </p:txBody>
      </p:sp>
      <p:sp>
        <p:nvSpPr>
          <p:cNvPr id="12" name="">
            <a:extLst xmlns:a="http://schemas.openxmlformats.org/drawingml/2006/main">
              <a:ext uri="{FF2B5EF4-FFF2-40B4-BE49-F238E27FC236}">
                <a16:creationId xmlns:a16="http://schemas.microsoft.com/office/drawing/2014/main" id="{41653126-2146-4AE1-9D18-479459F464BF}"/>
              </a:ext>
            </a:extLst>
          </p:cNvPr>
          <p:cNvSpPr>
            <a:spLocks xmlns:a="http://schemas.openxmlformats.org/drawingml/2006/main" noGrp="1"/>
          </p:cNvSpPr>
          <p:nvPr/>
        </p:nvSpPr>
        <p:spPr>
          <a:xfrm xmlns:a="http://schemas.openxmlformats.org/drawingml/2006/main">
            <a:off x="933450" y="413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1D45"/>
                </a:solidFill>
              </a:defRPr>
            </a:pPr>
            <a:r>
              <a:rPr sz="1650" b="1">
                <a:solidFill>
                  <a:srgbClr val="0B1D45"/>
                </a:solidFill>
              </a:rPr>
              <a:t>same number of removed cells</a:t>
            </a:r>
          </a:p>
        </p:txBody>
      </p:sp>
      <p:sp>
        <p:nvSpPr>
          <p:cNvPr id="13" name="">
            <a:extLst xmlns:a="http://schemas.openxmlformats.org/drawingml/2006/main">
              <a:ext uri="{FF2B5EF4-FFF2-40B4-BE49-F238E27FC236}">
                <a16:creationId xmlns:a16="http://schemas.microsoft.com/office/drawing/2014/main" id="{5B89FA4F-1CD1-4BEA-AF79-B54364430CDD}"/>
              </a:ext>
            </a:extLst>
          </p:cNvPr>
          <p:cNvSpPr>
            <a:spLocks xmlns:a="http://schemas.openxmlformats.org/drawingml/2006/main" noGrp="1"/>
          </p:cNvSpPr>
          <p:nvPr/>
        </p:nvSpPr>
        <p:spPr>
          <a:xfrm xmlns:a="http://schemas.openxmlformats.org/drawingml/2006/main">
            <a:off x="5562600" y="2990850"/>
            <a:ext cx="1066800" cy="1066800"/>
          </a:xfrm>
          <a:prstGeom xmlns:a="http://schemas.openxmlformats.org/drawingml/2006/main" prst="ellipse">
            <a:avLst/>
          </a:prstGeom>
          <a:solidFill xmlns:a="http://schemas.openxmlformats.org/drawingml/2006/main">
            <a:srgbClr val="0B1D45"/>
          </a:solidFill>
          <a:ln xmlns:a="http://schemas.openxmlformats.org/drawingml/2006/main" w="0">
            <a:solidFill>
              <a:srgbClr val="0B1D45"/>
            </a:solidFill>
            <a:prstDash val="solid"/>
          </a:ln>
        </p:spPr>
        <p:txBody>
          <a:bodyPr xmlns:a="http://schemas.openxmlformats.org/drawingml/2006/main"/>
          <a:lstStyle xmlns:a="http://schemas.openxmlformats.org/drawingml/2006/main"/>
          <a:p xmlns:a="http://schemas.openxmlformats.org/drawingml/2006/main">
            <a:pPr algn="ctr">
              <a:buNone/>
              <a:defRPr sz="3600" b="1">
                <a:solidFill>
                  <a:srgbClr val="FFFFFF"/>
                </a:solidFill>
              </a:defRPr>
            </a:pPr>
            <a:r>
              <a:rPr sz="3600" b="1">
                <a:solidFill>
                  <a:srgbClr val="FFFFFF"/>
                </a:solidFill>
              </a:rPr>
              <a:t>=</a:t>
            </a:r>
          </a:p>
        </p:txBody>
      </p:sp>
      <p:sp>
        <p:nvSpPr>
          <p:cNvPr id="14" name="">
            <a:extLst xmlns:a="http://schemas.openxmlformats.org/drawingml/2006/main">
              <a:ext uri="{FF2B5EF4-FFF2-40B4-BE49-F238E27FC236}">
                <a16:creationId xmlns:a16="http://schemas.microsoft.com/office/drawing/2014/main" id="{099F1CE9-F9E9-4B75-B0F4-E0F78C408CEE}"/>
              </a:ext>
            </a:extLst>
          </p:cNvPr>
          <p:cNvSpPr>
            <a:spLocks xmlns:a="http://schemas.openxmlformats.org/drawingml/2006/main" noGrp="1"/>
          </p:cNvSpPr>
          <p:nvPr/>
        </p:nvSpPr>
        <p:spPr>
          <a:xfrm xmlns:a="http://schemas.openxmlformats.org/drawingml/2006/main">
            <a:off x="7277100" y="2305050"/>
            <a:ext cx="398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A9F9B"/>
                </a:solidFill>
              </a:defRPr>
            </a:pPr>
            <a:r>
              <a:rPr sz="1275" b="1">
                <a:solidFill>
                  <a:srgbClr val="0A9F9B"/>
                </a:solidFill>
              </a:rPr>
              <a:t>AMOUNT-MATCHED CONTROL</a:t>
            </a:r>
          </a:p>
        </p:txBody>
      </p:sp>
      <p:sp>
        <p:nvSpPr>
          <p:cNvPr id="15" name="">
            <a:extLst xmlns:a="http://schemas.openxmlformats.org/drawingml/2006/main">
              <a:ext uri="{FF2B5EF4-FFF2-40B4-BE49-F238E27FC236}">
                <a16:creationId xmlns:a16="http://schemas.microsoft.com/office/drawing/2014/main" id="{40887127-1B91-4C61-8C2D-1916966BE63B}"/>
              </a:ext>
            </a:extLst>
          </p:cNvPr>
          <p:cNvSpPr>
            <a:spLocks xmlns:a="http://schemas.openxmlformats.org/drawingml/2006/main" noGrp="1"/>
          </p:cNvSpPr>
          <p:nvPr/>
        </p:nvSpPr>
        <p:spPr>
          <a:xfrm xmlns:a="http://schemas.openxmlformats.org/drawingml/2006/main">
            <a:off x="7277100" y="2762250"/>
            <a:ext cx="3981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25" b="1">
                <a:solidFill>
                  <a:srgbClr val="0B1D45"/>
                </a:solidFill>
              </a:defRPr>
            </a:pPr>
            <a:r>
              <a:rPr sz="2325" b="1">
                <a:solidFill>
                  <a:srgbClr val="0B1D45"/>
                </a:solidFill>
              </a:rPr>
              <a:t>Random cell deletion</a:t>
            </a:r>
          </a:p>
        </p:txBody>
      </p:sp>
      <p:sp>
        <p:nvSpPr>
          <p:cNvPr id="16" name="">
            <a:extLst xmlns:a="http://schemas.openxmlformats.org/drawingml/2006/main">
              <a:ext uri="{FF2B5EF4-FFF2-40B4-BE49-F238E27FC236}">
                <a16:creationId xmlns:a16="http://schemas.microsoft.com/office/drawing/2014/main" id="{DD57E2A6-3709-4AA7-8D5C-3E65DDA6380D}"/>
              </a:ext>
            </a:extLst>
          </p:cNvPr>
          <p:cNvSpPr>
            <a:spLocks xmlns:a="http://schemas.openxmlformats.org/drawingml/2006/main" noGrp="1"/>
          </p:cNvSpPr>
          <p:nvPr/>
        </p:nvSpPr>
        <p:spPr>
          <a:xfrm xmlns:a="http://schemas.openxmlformats.org/drawingml/2006/main">
            <a:off x="7467600" y="3429000"/>
            <a:ext cx="3600450" cy="0"/>
          </a:xfrm>
          <a:prstGeom xmlns:a="http://schemas.openxmlformats.org/drawingml/2006/main" prst="line">
            <a:avLst/>
          </a:prstGeom>
          <a:noFill xmlns:a="http://schemas.openxmlformats.org/drawingml/2006/main"/>
          <a:ln xmlns:a="http://schemas.openxmlformats.org/drawingml/2006/main" w="9525">
            <a:solidFill>
              <a:srgbClr val="D8E4E8"/>
            </a:solidFill>
            <a:prstDash val="solid"/>
          </a:ln>
        </p:spPr>
      </p:sp>
      <p:sp>
        <p:nvSpPr>
          <p:cNvPr id="17" name="">
            <a:extLst xmlns:a="http://schemas.openxmlformats.org/drawingml/2006/main">
              <a:ext uri="{FF2B5EF4-FFF2-40B4-BE49-F238E27FC236}">
                <a16:creationId xmlns:a16="http://schemas.microsoft.com/office/drawing/2014/main" id="{5C7D0F67-3A3A-41B0-9298-D87C418F7244}"/>
              </a:ext>
            </a:extLst>
          </p:cNvPr>
          <p:cNvSpPr>
            <a:spLocks xmlns:a="http://schemas.openxmlformats.org/drawingml/2006/main" noGrp="1"/>
          </p:cNvSpPr>
          <p:nvPr/>
        </p:nvSpPr>
        <p:spPr>
          <a:xfrm xmlns:a="http://schemas.openxmlformats.org/drawingml/2006/main">
            <a:off x="7277100" y="3714750"/>
            <a:ext cx="3981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1D45"/>
                </a:solidFill>
              </a:defRPr>
            </a:pPr>
            <a:r>
              <a:rPr sz="1650" b="1">
                <a:solidFill>
                  <a:srgbClr val="0B1D45"/>
                </a:solidFill>
              </a:rPr>
              <a:t>same patients</a:t>
            </a:r>
          </a:p>
        </p:txBody>
      </p:sp>
      <p:sp>
        <p:nvSpPr>
          <p:cNvPr id="18" name="">
            <a:extLst xmlns:a="http://schemas.openxmlformats.org/drawingml/2006/main">
              <a:ext uri="{FF2B5EF4-FFF2-40B4-BE49-F238E27FC236}">
                <a16:creationId xmlns:a16="http://schemas.microsoft.com/office/drawing/2014/main" id="{2337F2DC-A8DC-4200-AD5F-12B67CB6BC30}"/>
              </a:ext>
            </a:extLst>
          </p:cNvPr>
          <p:cNvSpPr>
            <a:spLocks xmlns:a="http://schemas.openxmlformats.org/drawingml/2006/main" noGrp="1"/>
          </p:cNvSpPr>
          <p:nvPr/>
        </p:nvSpPr>
        <p:spPr>
          <a:xfrm xmlns:a="http://schemas.openxmlformats.org/drawingml/2006/main">
            <a:off x="7277100" y="4133850"/>
            <a:ext cx="3981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1D45"/>
                </a:solidFill>
              </a:defRPr>
            </a:pPr>
            <a:r>
              <a:rPr sz="1650" b="1">
                <a:solidFill>
                  <a:srgbClr val="0B1D45"/>
                </a:solidFill>
              </a:rPr>
              <a:t>same number of removed cells</a:t>
            </a:r>
          </a:p>
        </p:txBody>
      </p:sp>
      <p:sp>
        <p:nvSpPr>
          <p:cNvPr id="19" name="">
            <a:extLst xmlns:a="http://schemas.openxmlformats.org/drawingml/2006/main">
              <a:ext uri="{FF2B5EF4-FFF2-40B4-BE49-F238E27FC236}">
                <a16:creationId xmlns:a16="http://schemas.microsoft.com/office/drawing/2014/main" id="{93E28CF5-607A-4E43-A758-BCC3B4D41438}"/>
              </a:ext>
            </a:extLst>
          </p:cNvPr>
          <p:cNvSpPr>
            <a:spLocks xmlns:a="http://schemas.openxmlformats.org/drawingml/2006/main" noGrp="1"/>
          </p:cNvSpPr>
          <p:nvPr/>
        </p:nvSpPr>
        <p:spPr>
          <a:xfrm xmlns:a="http://schemas.openxmlformats.org/drawingml/2006/main">
            <a:off x="685800" y="5181600"/>
            <a:ext cx="581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0B1D45"/>
                </a:solidFill>
              </a:defRPr>
            </a:pPr>
            <a:r>
              <a:rPr sz="2025" b="1">
                <a:solidFill>
                  <a:srgbClr val="0B1D45"/>
                </a:solidFill>
              </a:rPr>
              <a:t>Measure the excess probability loss</a:t>
            </a:r>
          </a:p>
        </p:txBody>
      </p:sp>
      <p:sp>
        <p:nvSpPr>
          <p:cNvPr id="20" name="">
            <a:extLst xmlns:a="http://schemas.openxmlformats.org/drawingml/2006/main">
              <a:ext uri="{FF2B5EF4-FFF2-40B4-BE49-F238E27FC236}">
                <a16:creationId xmlns:a16="http://schemas.microsoft.com/office/drawing/2014/main" id="{AD0D17A2-6C22-41B7-A8CC-0F11339C99B7}"/>
              </a:ext>
            </a:extLst>
          </p:cNvPr>
          <p:cNvSpPr>
            <a:spLocks xmlns:a="http://schemas.openxmlformats.org/drawingml/2006/main" noGrp="1"/>
          </p:cNvSpPr>
          <p:nvPr/>
        </p:nvSpPr>
        <p:spPr>
          <a:xfrm xmlns:a="http://schemas.openxmlformats.org/drawingml/2006/main">
            <a:off x="685800" y="5581650"/>
            <a:ext cx="581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66758F"/>
                </a:solidFill>
              </a:defRPr>
            </a:pPr>
            <a:r>
              <a:rPr sz="1425" b="0">
                <a:solidFill>
                  <a:srgbClr val="66758F"/>
                </a:solidFill>
              </a:rPr>
              <a:t>candidate loss − matched-control loss</a:t>
            </a:r>
          </a:p>
        </p:txBody>
      </p:sp>
      <p:sp>
        <p:nvSpPr>
          <p:cNvPr id="21" name="">
            <a:extLst xmlns:a="http://schemas.openxmlformats.org/drawingml/2006/main">
              <a:ext uri="{FF2B5EF4-FFF2-40B4-BE49-F238E27FC236}">
                <a16:creationId xmlns:a16="http://schemas.microsoft.com/office/drawing/2014/main" id="{9ECE1D81-55C0-4BB9-9AFF-C5E41CB953FC}"/>
              </a:ext>
            </a:extLst>
          </p:cNvPr>
          <p:cNvSpPr>
            <a:spLocks xmlns:a="http://schemas.openxmlformats.org/drawingml/2006/main" noGrp="1"/>
          </p:cNvSpPr>
          <p:nvPr/>
        </p:nvSpPr>
        <p:spPr>
          <a:xfrm xmlns:a="http://schemas.openxmlformats.org/drawingml/2006/main">
            <a:off x="6858000" y="5162550"/>
            <a:ext cx="419100" cy="0"/>
          </a:xfrm>
          <a:prstGeom xmlns:a="http://schemas.openxmlformats.org/drawingml/2006/main" prst="line">
            <a:avLst/>
          </a:prstGeom>
          <a:noFill xmlns:a="http://schemas.openxmlformats.org/drawingml/2006/main"/>
          <a:ln xmlns:a="http://schemas.openxmlformats.org/drawingml/2006/main" w="38100">
            <a:solidFill>
              <a:srgbClr val="0A9F9B"/>
            </a:solidFill>
            <a:prstDash val="solid"/>
          </a:ln>
        </p:spPr>
      </p:sp>
      <p:sp>
        <p:nvSpPr>
          <p:cNvPr id="22" name="">
            <a:extLst xmlns:a="http://schemas.openxmlformats.org/drawingml/2006/main">
              <a:ext uri="{FF2B5EF4-FFF2-40B4-BE49-F238E27FC236}">
                <a16:creationId xmlns:a16="http://schemas.microsoft.com/office/drawing/2014/main" id="{38FE01F0-5607-4601-927D-8DB88464E298}"/>
              </a:ext>
            </a:extLst>
          </p:cNvPr>
          <p:cNvSpPr>
            <a:spLocks xmlns:a="http://schemas.openxmlformats.org/drawingml/2006/main" noGrp="1"/>
          </p:cNvSpPr>
          <p:nvPr/>
        </p:nvSpPr>
        <p:spPr>
          <a:xfrm xmlns:a="http://schemas.openxmlformats.org/drawingml/2006/main">
            <a:off x="6858000" y="53149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66758F"/>
                </a:solidFill>
              </a:defRPr>
            </a:pPr>
            <a:r>
              <a:rPr sz="1200" b="0">
                <a:solidFill>
                  <a:srgbClr val="66758F"/>
                </a:solidFill>
              </a:rPr>
              <a:t>Candidates</a:t>
            </a:r>
          </a:p>
        </p:txBody>
      </p:sp>
      <p:sp>
        <p:nvSpPr>
          <p:cNvPr id="23" name="">
            <a:extLst xmlns:a="http://schemas.openxmlformats.org/drawingml/2006/main">
              <a:ext uri="{FF2B5EF4-FFF2-40B4-BE49-F238E27FC236}">
                <a16:creationId xmlns:a16="http://schemas.microsoft.com/office/drawing/2014/main" id="{FFEE7EA7-1EDA-4880-B66E-CC708255D5A8}"/>
              </a:ext>
            </a:extLst>
          </p:cNvPr>
          <p:cNvSpPr>
            <a:spLocks xmlns:a="http://schemas.openxmlformats.org/drawingml/2006/main" noGrp="1"/>
          </p:cNvSpPr>
          <p:nvPr/>
        </p:nvSpPr>
        <p:spPr>
          <a:xfrm xmlns:a="http://schemas.openxmlformats.org/drawingml/2006/main">
            <a:off x="6858000" y="560070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0A9F9B"/>
                </a:solidFill>
              </a:defRPr>
            </a:pPr>
            <a:r>
              <a:rPr sz="2325" b="1">
                <a:solidFill>
                  <a:srgbClr val="0A9F9B"/>
                </a:solidFill>
              </a:rPr>
              <a:t>141</a:t>
            </a:r>
          </a:p>
        </p:txBody>
      </p:sp>
      <p:sp>
        <p:nvSpPr>
          <p:cNvPr id="24" name="">
            <a:extLst xmlns:a="http://schemas.openxmlformats.org/drawingml/2006/main">
              <a:ext uri="{FF2B5EF4-FFF2-40B4-BE49-F238E27FC236}">
                <a16:creationId xmlns:a16="http://schemas.microsoft.com/office/drawing/2014/main" id="{B82834E5-1F1C-4067-B160-EFF4B66041A6}"/>
              </a:ext>
            </a:extLst>
          </p:cNvPr>
          <p:cNvSpPr>
            <a:spLocks xmlns:a="http://schemas.openxmlformats.org/drawingml/2006/main" noGrp="1"/>
          </p:cNvSpPr>
          <p:nvPr/>
        </p:nvSpPr>
        <p:spPr>
          <a:xfrm xmlns:a="http://schemas.openxmlformats.org/drawingml/2006/main">
            <a:off x="8439150" y="5162550"/>
            <a:ext cx="419100" cy="0"/>
          </a:xfrm>
          <a:prstGeom xmlns:a="http://schemas.openxmlformats.org/drawingml/2006/main" prst="line">
            <a:avLst/>
          </a:prstGeom>
          <a:noFill xmlns:a="http://schemas.openxmlformats.org/drawingml/2006/main"/>
          <a:ln xmlns:a="http://schemas.openxmlformats.org/drawingml/2006/main" w="38100">
            <a:solidFill>
              <a:srgbClr val="0A9F9B"/>
            </a:solidFill>
            <a:prstDash val="solid"/>
          </a:ln>
        </p:spPr>
      </p:sp>
      <p:sp>
        <p:nvSpPr>
          <p:cNvPr id="25" name="">
            <a:extLst xmlns:a="http://schemas.openxmlformats.org/drawingml/2006/main">
              <a:ext uri="{FF2B5EF4-FFF2-40B4-BE49-F238E27FC236}">
                <a16:creationId xmlns:a16="http://schemas.microsoft.com/office/drawing/2014/main" id="{F95BB2D3-9E04-481C-BF6C-C8DE62D17CA5}"/>
              </a:ext>
            </a:extLst>
          </p:cNvPr>
          <p:cNvSpPr>
            <a:spLocks xmlns:a="http://schemas.openxmlformats.org/drawingml/2006/main" noGrp="1"/>
          </p:cNvSpPr>
          <p:nvPr/>
        </p:nvSpPr>
        <p:spPr>
          <a:xfrm xmlns:a="http://schemas.openxmlformats.org/drawingml/2006/main">
            <a:off x="8439150" y="53149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66758F"/>
                </a:solidFill>
              </a:defRPr>
            </a:pPr>
            <a:r>
              <a:rPr sz="1200" b="0">
                <a:solidFill>
                  <a:srgbClr val="66758F"/>
                </a:solidFill>
              </a:rPr>
              <a:t>Dev resplits</a:t>
            </a:r>
          </a:p>
        </p:txBody>
      </p:sp>
      <p:sp>
        <p:nvSpPr>
          <p:cNvPr id="26" name="">
            <a:extLst xmlns:a="http://schemas.openxmlformats.org/drawingml/2006/main">
              <a:ext uri="{FF2B5EF4-FFF2-40B4-BE49-F238E27FC236}">
                <a16:creationId xmlns:a16="http://schemas.microsoft.com/office/drawing/2014/main" id="{2991306E-AF74-4C49-B481-68E2278809C0}"/>
              </a:ext>
            </a:extLst>
          </p:cNvPr>
          <p:cNvSpPr>
            <a:spLocks xmlns:a="http://schemas.openxmlformats.org/drawingml/2006/main" noGrp="1"/>
          </p:cNvSpPr>
          <p:nvPr/>
        </p:nvSpPr>
        <p:spPr>
          <a:xfrm xmlns:a="http://schemas.openxmlformats.org/drawingml/2006/main">
            <a:off x="8439150" y="560070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0A9F9B"/>
                </a:solidFill>
              </a:defRPr>
            </a:pPr>
            <a:r>
              <a:rPr sz="2325" b="1">
                <a:solidFill>
                  <a:srgbClr val="0A9F9B"/>
                </a:solidFill>
              </a:rPr>
              <a:t>20</a:t>
            </a:r>
          </a:p>
        </p:txBody>
      </p:sp>
      <p:sp>
        <p:nvSpPr>
          <p:cNvPr id="27" name="">
            <a:extLst xmlns:a="http://schemas.openxmlformats.org/drawingml/2006/main">
              <a:ext uri="{FF2B5EF4-FFF2-40B4-BE49-F238E27FC236}">
                <a16:creationId xmlns:a16="http://schemas.microsoft.com/office/drawing/2014/main" id="{B7F29D52-1578-45EC-91B7-9955284E0F47}"/>
              </a:ext>
            </a:extLst>
          </p:cNvPr>
          <p:cNvSpPr>
            <a:spLocks xmlns:a="http://schemas.openxmlformats.org/drawingml/2006/main" noGrp="1"/>
          </p:cNvSpPr>
          <p:nvPr/>
        </p:nvSpPr>
        <p:spPr>
          <a:xfrm xmlns:a="http://schemas.openxmlformats.org/drawingml/2006/main">
            <a:off x="9944100" y="5162550"/>
            <a:ext cx="419100" cy="0"/>
          </a:xfrm>
          <a:prstGeom xmlns:a="http://schemas.openxmlformats.org/drawingml/2006/main" prst="line">
            <a:avLst/>
          </a:prstGeom>
          <a:noFill xmlns:a="http://schemas.openxmlformats.org/drawingml/2006/main"/>
          <a:ln xmlns:a="http://schemas.openxmlformats.org/drawingml/2006/main" w="38100">
            <a:solidFill>
              <a:srgbClr val="0A9F9B"/>
            </a:solidFill>
            <a:prstDash val="solid"/>
          </a:ln>
        </p:spPr>
      </p:sp>
      <p:sp>
        <p:nvSpPr>
          <p:cNvPr id="28" name="">
            <a:extLst xmlns:a="http://schemas.openxmlformats.org/drawingml/2006/main">
              <a:ext uri="{FF2B5EF4-FFF2-40B4-BE49-F238E27FC236}">
                <a16:creationId xmlns:a16="http://schemas.microsoft.com/office/drawing/2014/main" id="{FD9650A9-9756-45CD-8A12-0261CE02F99B}"/>
              </a:ext>
            </a:extLst>
          </p:cNvPr>
          <p:cNvSpPr>
            <a:spLocks xmlns:a="http://schemas.openxmlformats.org/drawingml/2006/main" noGrp="1"/>
          </p:cNvSpPr>
          <p:nvPr/>
        </p:nvSpPr>
        <p:spPr>
          <a:xfrm xmlns:a="http://schemas.openxmlformats.org/drawingml/2006/main">
            <a:off x="9944100" y="53149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66758F"/>
                </a:solidFill>
              </a:defRPr>
            </a:pPr>
            <a:r>
              <a:rPr sz="1200" b="0">
                <a:solidFill>
                  <a:srgbClr val="66758F"/>
                </a:solidFill>
              </a:rPr>
              <a:t>Exact stability</a:t>
            </a:r>
          </a:p>
        </p:txBody>
      </p:sp>
      <p:sp>
        <p:nvSpPr>
          <p:cNvPr id="29" name="">
            <a:extLst xmlns:a="http://schemas.openxmlformats.org/drawingml/2006/main">
              <a:ext uri="{FF2B5EF4-FFF2-40B4-BE49-F238E27FC236}">
                <a16:creationId xmlns:a16="http://schemas.microsoft.com/office/drawing/2014/main" id="{E82FE3E7-B3E7-4EB1-835D-045B9A80F9AC}"/>
              </a:ext>
            </a:extLst>
          </p:cNvPr>
          <p:cNvSpPr>
            <a:spLocks xmlns:a="http://schemas.openxmlformats.org/drawingml/2006/main" noGrp="1"/>
          </p:cNvSpPr>
          <p:nvPr/>
        </p:nvSpPr>
        <p:spPr>
          <a:xfrm xmlns:a="http://schemas.openxmlformats.org/drawingml/2006/main">
            <a:off x="9944100" y="560070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E95B19"/>
                </a:solidFill>
              </a:defRPr>
            </a:pPr>
            <a:r>
              <a:rPr sz="2325" b="1">
                <a:solidFill>
                  <a:srgbClr val="E95B19"/>
                </a:solidFill>
              </a:rPr>
              <a:t>11 / 20</a:t>
            </a:r>
          </a:p>
        </p:txBody>
      </p:sp>
      <p:sp>
        <p:nvSpPr>
          <p:cNvPr id="30" name="">
            <a:extLst xmlns:a="http://schemas.openxmlformats.org/drawingml/2006/main">
              <a:ext uri="{FF2B5EF4-FFF2-40B4-BE49-F238E27FC236}">
                <a16:creationId xmlns:a16="http://schemas.microsoft.com/office/drawing/2014/main" id="{7E388BF1-9610-4743-8597-DAC8B3292AA2}"/>
              </a:ext>
            </a:extLst>
          </p:cNvPr>
          <p:cNvSpPr>
            <a:spLocks xmlns:a="http://schemas.openxmlformats.org/drawingml/2006/main" noGrp="1"/>
          </p:cNvSpPr>
          <p:nvPr/>
        </p:nvSpPr>
        <p:spPr>
          <a:xfrm xmlns:a="http://schemas.openxmlformats.org/drawingml/2006/main">
            <a:off x="9944100" y="60769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66758F"/>
                </a:solidFill>
              </a:defRPr>
            </a:pPr>
            <a:r>
              <a:rPr sz="1125" b="0">
                <a:solidFill>
                  <a:srgbClr val="66758F"/>
                </a:solidFill>
              </a:rPr>
              <a:t>minimum majority threshold</a:t>
            </a:r>
          </a:p>
        </p:txBody>
      </p:sp>
    </p:spTree>
    <p:extLst>
      <p:ext uri="{BB962C8B-B14F-4D97-AF65-F5344CB8AC3E}">
        <p14:creationId xmlns:p14="http://schemas.microsoft.com/office/powerpoint/2010/main" val="143144599"/>
      </p:ext>
    </p:extLst>
  </p:cSld>
</p:sld>
</file>

<file path=ppt/slides/slide7.xml><?xml version="1.0" encoding="utf-8"?>
<p:sld xmlns:p="http://schemas.openxmlformats.org/presentationml/2006/main">
  <p:cSld>
    <p:bg>
      <p:bgPr>
        <a:solidFill xmlns:a="http://schemas.openxmlformats.org/drawingml/2006/main">
          <a:srgbClr val="0B1D45"/>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8d638ae415e142a6"/>
          <a:stretch xmlns:a="http://schemas.openxmlformats.org/drawingml/2006/main"/>
        </p:blipFill>
        <p:spPr>
          <a:xfrm xmlns:a="http://schemas.openxmlformats.org/drawingml/2006/main">
            <a:off x="971550" y="12700"/>
            <a:ext cx="10248900" cy="68326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31AFFF0-0F67-4A70-8444-64196DBBC1D9}"/>
              </a:ext>
            </a:extLst>
          </p:cNvPr>
          <p:cNvSpPr>
            <a:spLocks xmlns:a="http://schemas.openxmlformats.org/drawingml/2006/main" noGrp="1"/>
          </p:cNvSpPr>
          <p:nvPr/>
        </p:nvSpPr>
        <p:spPr>
          <a:xfrm xmlns:a="http://schemas.openxmlformats.org/drawingml/2006/main">
            <a:off x="11430000" y="64770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1">
                <a:solidFill>
                  <a:srgbClr val="9AC7C5"/>
                </a:solidFill>
              </a:defRPr>
            </a:pPr>
            <a:r>
              <a:rPr sz="975" b="1">
                <a:solidFill>
                  <a:srgbClr val="9AC7C5"/>
                </a:solidFill>
              </a:rPr>
              <a:t>07</a:t>
            </a:r>
          </a:p>
        </p:txBody>
      </p:sp>
    </p:spTree>
    <p:extLst>
      <p:ext uri="{BB962C8B-B14F-4D97-AF65-F5344CB8AC3E}">
        <p14:creationId xmlns:p14="http://schemas.microsoft.com/office/powerpoint/2010/main" val="1994289306"/>
      </p:ext>
    </p:extLst>
  </p:cSld>
</p:sld>
</file>

<file path=ppt/slides/slide8.xml><?xml version="1.0" encoding="utf-8"?>
<p:sld xmlns:p="http://schemas.openxmlformats.org/presentationml/2006/main">
  <p:cSld>
    <p:bg>
      <p:bgPr>
        <a:solidFill xmlns:a="http://schemas.openxmlformats.org/drawingml/2006/main">
          <a:srgbClr val="F5F9FA"/>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D63750C-CA70-4E69-B66B-74A17B4C26BB}"/>
              </a:ext>
            </a:extLst>
          </p:cNvPr>
          <p:cNvSpPr>
            <a:spLocks xmlns:a="http://schemas.openxmlformats.org/drawingml/2006/main" noGrp="1"/>
          </p:cNvSpPr>
          <p:nvPr/>
        </p:nvSpPr>
        <p:spPr>
          <a:xfrm xmlns:a="http://schemas.openxmlformats.org/drawingml/2006/main">
            <a:off x="704850" y="2667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0B1D45"/>
                </a:solidFill>
              </a:defRPr>
            </a:pPr>
            <a:r>
              <a:rPr sz="1050" b="1">
                <a:solidFill>
                  <a:srgbClr val="0B1D45"/>
                </a:solidFill>
              </a:rPr>
              <a:t>CLINIVERSE</a:t>
            </a:r>
          </a:p>
        </p:txBody>
      </p:sp>
      <p:sp>
        <p:nvSpPr>
          <p:cNvPr id="2" name="">
            <a:extLst xmlns:a="http://schemas.openxmlformats.org/drawingml/2006/main">
              <a:ext uri="{FF2B5EF4-FFF2-40B4-BE49-F238E27FC236}">
                <a16:creationId xmlns:a16="http://schemas.microsoft.com/office/drawing/2014/main" id="{E8BC7D3E-A287-4BB2-B7DC-096CEA9EA972}"/>
              </a:ext>
            </a:extLst>
          </p:cNvPr>
          <p:cNvSpPr>
            <a:spLocks xmlns:a="http://schemas.openxmlformats.org/drawingml/2006/main" noGrp="1"/>
          </p:cNvSpPr>
          <p:nvPr/>
        </p:nvSpPr>
        <p:spPr>
          <a:xfrm xmlns:a="http://schemas.openxmlformats.org/drawingml/2006/main">
            <a:off x="2324100" y="276225"/>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66758F"/>
                </a:solidFill>
              </a:defRPr>
            </a:pPr>
            <a:r>
              <a:rPr sz="1050" b="0">
                <a:solidFill>
                  <a:srgbClr val="66758F"/>
                </a:solidFill>
              </a:rPr>
              <a:t>Healthcare AI Reliability Lab</a:t>
            </a:r>
          </a:p>
        </p:txBody>
      </p:sp>
      <p:sp>
        <p:nvSpPr>
          <p:cNvPr id="3" name="">
            <a:extLst xmlns:a="http://schemas.openxmlformats.org/drawingml/2006/main">
              <a:ext uri="{FF2B5EF4-FFF2-40B4-BE49-F238E27FC236}">
                <a16:creationId xmlns:a16="http://schemas.microsoft.com/office/drawing/2014/main" id="{38375BA8-97CB-4701-A48E-FE838EC06D47}"/>
              </a:ext>
            </a:extLst>
          </p:cNvPr>
          <p:cNvSpPr>
            <a:spLocks xmlns:a="http://schemas.openxmlformats.org/drawingml/2006/main" noGrp="1"/>
          </p:cNvSpPr>
          <p:nvPr/>
        </p:nvSpPr>
        <p:spPr>
          <a:xfrm xmlns:a="http://schemas.openxmlformats.org/drawingml/2006/main">
            <a:off x="11239500" y="2667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66758F"/>
                </a:solidFill>
              </a:defRPr>
            </a:pPr>
            <a:r>
              <a:rPr sz="1050" b="1">
                <a:solidFill>
                  <a:srgbClr val="66758F"/>
                </a:solidFill>
              </a:rPr>
              <a:t>08</a:t>
            </a:r>
          </a:p>
        </p:txBody>
      </p:sp>
      <p:sp>
        <p:nvSpPr>
          <p:cNvPr id="4" name="">
            <a:extLst xmlns:a="http://schemas.openxmlformats.org/drawingml/2006/main">
              <a:ext uri="{FF2B5EF4-FFF2-40B4-BE49-F238E27FC236}">
                <a16:creationId xmlns:a16="http://schemas.microsoft.com/office/drawing/2014/main" id="{D5ED3AA8-AC04-47F7-880B-2EA965BC69A4}"/>
              </a:ext>
            </a:extLst>
          </p:cNvPr>
          <p:cNvSpPr>
            <a:spLocks xmlns:a="http://schemas.openxmlformats.org/drawingml/2006/main" noGrp="1"/>
          </p:cNvSpPr>
          <p:nvPr/>
        </p:nvSpPr>
        <p:spPr>
          <a:xfrm xmlns:a="http://schemas.openxmlformats.org/drawingml/2006/main">
            <a:off x="685800" y="6477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0A9F9B"/>
                </a:solidFill>
              </a:defRPr>
            </a:pPr>
            <a:r>
              <a:rPr sz="1050" b="1">
                <a:solidFill>
                  <a:srgbClr val="0A9F9B"/>
                </a:solidFill>
              </a:rPr>
              <a:t>LIVE PRODUCT DEMO</a:t>
            </a:r>
          </a:p>
        </p:txBody>
      </p:sp>
      <p:sp>
        <p:nvSpPr>
          <p:cNvPr id="5" name="slide-title">
            <a:extLst xmlns:a="http://schemas.openxmlformats.org/drawingml/2006/main">
              <a:ext uri="{FF2B5EF4-FFF2-40B4-BE49-F238E27FC236}">
                <a16:creationId xmlns:a16="http://schemas.microsoft.com/office/drawing/2014/main" id="{C3E6ABC2-2030-48C0-8122-47A38BDF136F}"/>
              </a:ext>
            </a:extLst>
          </p:cNvPr>
          <p:cNvSpPr>
            <a:spLocks xmlns:a="http://schemas.openxmlformats.org/drawingml/2006/main" noGrp="1"/>
          </p:cNvSpPr>
          <p:nvPr/>
        </p:nvSpPr>
        <p:spPr>
          <a:xfrm xmlns:a="http://schemas.openxmlformats.org/drawingml/2006/main">
            <a:off x="685800" y="9144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1D45"/>
                </a:solidFill>
              </a:defRPr>
            </a:pPr>
            <a:r>
              <a:rPr sz="3000" b="1">
                <a:solidFill>
                  <a:srgbClr val="0B1D45"/>
                </a:solidFill>
              </a:rPr>
              <a:t>The evidence is interactive.</a:t>
            </a:r>
          </a:p>
        </p:txBody>
      </p:sp>
      <p:sp>
        <p:nvSpPr>
          <p:cNvPr id="6" name="">
            <a:extLst xmlns:a="http://schemas.openxmlformats.org/drawingml/2006/main">
              <a:ext uri="{FF2B5EF4-FFF2-40B4-BE49-F238E27FC236}">
                <a16:creationId xmlns:a16="http://schemas.microsoft.com/office/drawing/2014/main" id="{A0294DE2-F07B-47DD-A51B-7B8D1A5C7C59}"/>
              </a:ext>
            </a:extLst>
          </p:cNvPr>
          <p:cNvSpPr>
            <a:spLocks xmlns:a="http://schemas.openxmlformats.org/drawingml/2006/main" noGrp="1"/>
          </p:cNvSpPr>
          <p:nvPr/>
        </p:nvSpPr>
        <p:spPr>
          <a:xfrm xmlns:a="http://schemas.openxmlformats.org/drawingml/2006/main">
            <a:off x="685800" y="1524000"/>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A9F9B"/>
                </a:solidFill>
              </a:defRPr>
            </a:pPr>
            <a:r>
              <a:rPr sz="1800" b="1">
                <a:solidFill>
                  <a:srgbClr val="0A9F9B"/>
                </a:solidFill>
              </a:rPr>
              <a:t>Overview → Stress Lab → Reliability Report → Artifacts → Experiments</a:t>
            </a:r>
          </a:p>
        </p:txBody>
      </p:sp>
      <p:sp>
        <p:nvSpPr>
          <p:cNvPr id="7" name="">
            <a:extLst xmlns:a="http://schemas.openxmlformats.org/drawingml/2006/main">
              <a:ext uri="{FF2B5EF4-FFF2-40B4-BE49-F238E27FC236}">
                <a16:creationId xmlns:a16="http://schemas.microsoft.com/office/drawing/2014/main" id="{82D25E6C-3392-4CF9-B556-321C600A2D23}"/>
              </a:ext>
            </a:extLst>
          </p:cNvPr>
          <p:cNvSpPr>
            <a:spLocks xmlns:a="http://schemas.openxmlformats.org/drawingml/2006/main" noGrp="1"/>
          </p:cNvSpPr>
          <p:nvPr/>
        </p:nvSpPr>
        <p:spPr>
          <a:xfrm xmlns:a="http://schemas.openxmlformats.org/drawingml/2006/main">
            <a:off x="685800" y="20002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0B1D45"/>
                </a:solidFill>
              </a:defRPr>
            </a:pPr>
            <a:r>
              <a:rPr sz="2100" b="1">
                <a:solidFill>
                  <a:srgbClr val="0B1D45"/>
                </a:solidFill>
              </a:rPr>
              <a:t>cliniverse-lab.web.app</a:t>
            </a:r>
          </a:p>
        </p:txBody>
      </p:sp>
      <p:sp>
        <p:nvSpPr>
          <p:cNvPr id="8" name="">
            <a:extLst xmlns:a="http://schemas.openxmlformats.org/drawingml/2006/main">
              <a:ext uri="{FF2B5EF4-FFF2-40B4-BE49-F238E27FC236}">
                <a16:creationId xmlns:a16="http://schemas.microsoft.com/office/drawing/2014/main" id="{65314E23-47D4-429B-95FC-7BD7CE41CE63}"/>
              </a:ext>
            </a:extLst>
          </p:cNvPr>
          <p:cNvSpPr>
            <a:spLocks xmlns:a="http://schemas.openxmlformats.org/drawingml/2006/main" noGrp="1"/>
          </p:cNvSpPr>
          <p:nvPr/>
        </p:nvSpPr>
        <p:spPr>
          <a:xfrm xmlns:a="http://schemas.openxmlformats.org/drawingml/2006/main">
            <a:off x="8439150" y="2076450"/>
            <a:ext cx="3067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200" b="0">
                <a:solidFill>
                  <a:srgbClr val="66758F"/>
                </a:solidFill>
              </a:defRPr>
            </a:pPr>
            <a:r>
              <a:rPr sz="1200" b="0">
                <a:solidFill>
                  <a:srgbClr val="66758F"/>
                </a:solidFill>
              </a:rPr>
              <a:t>Switch to browser after this slide</a:t>
            </a:r>
          </a:p>
        </p:txBody>
      </p:sp>
      <p:sp>
        <p:nvSpPr>
          <p:cNvPr id="9" name="">
            <a:extLst xmlns:a="http://schemas.openxmlformats.org/drawingml/2006/main">
              <a:ext uri="{FF2B5EF4-FFF2-40B4-BE49-F238E27FC236}">
                <a16:creationId xmlns:a16="http://schemas.microsoft.com/office/drawing/2014/main" id="{53BF4291-F5A5-4D69-A925-9ED124660384}"/>
              </a:ext>
            </a:extLst>
          </p:cNvPr>
          <p:cNvSpPr>
            <a:spLocks xmlns:a="http://schemas.openxmlformats.org/drawingml/2006/main" noGrp="1"/>
          </p:cNvSpPr>
          <p:nvPr/>
        </p:nvSpPr>
        <p:spPr>
          <a:xfrm xmlns:a="http://schemas.openxmlformats.org/drawingml/2006/main">
            <a:off x="685800" y="2876550"/>
            <a:ext cx="1685925" cy="2457450"/>
          </a:xfrm>
          <a:prstGeom xmlns:a="http://schemas.openxmlformats.org/drawingml/2006/main" prst="roundRect">
            <a:avLst>
              <a:gd name="adj" fmla="val 7910"/>
            </a:avLst>
          </a:prstGeom>
          <a:solidFill xmlns:a="http://schemas.openxmlformats.org/drawingml/2006/main">
            <a:srgbClr val="FFFFFF"/>
          </a:solidFill>
          <a:ln xmlns:a="http://schemas.openxmlformats.org/drawingml/2006/main" w="9525">
            <a:solidFill>
              <a:srgbClr val="A9DD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b4c3acb4bb1d4082"/>
          <a:srcRect xmlns:a="http://schemas.openxmlformats.org/drawingml/2006/main" l="25104" t="0" r="25104" b="0"/>
          <a:stretch xmlns:a="http://schemas.openxmlformats.org/drawingml/2006/main">
            <a:fillRect l="0" t="0" r="0" b="0"/>
          </a:stretch>
        </p:blipFill>
        <p:spPr>
          <a:xfrm xmlns:a="http://schemas.openxmlformats.org/drawingml/2006/main">
            <a:off x="762000" y="2952750"/>
            <a:ext cx="1533525" cy="1733550"/>
          </a:xfrm>
          <a:prstGeom xmlns:a="http://schemas.openxmlformats.org/drawingml/2006/main" prst="roundRect">
            <a:avLst>
              <a:gd name="adj" fmla="val 4969"/>
            </a:avLst>
          </a:prstGeom>
        </p:spPr>
      </p:pic>
      <p:sp>
        <p:nvSpPr>
          <p:cNvPr id="11" name="">
            <a:extLst xmlns:a="http://schemas.openxmlformats.org/drawingml/2006/main">
              <a:ext uri="{FF2B5EF4-FFF2-40B4-BE49-F238E27FC236}">
                <a16:creationId xmlns:a16="http://schemas.microsoft.com/office/drawing/2014/main" id="{C4AD35A2-A568-4764-B949-D0F7A27B7335}"/>
              </a:ext>
            </a:extLst>
          </p:cNvPr>
          <p:cNvSpPr>
            <a:spLocks xmlns:a="http://schemas.openxmlformats.org/drawingml/2006/main" noGrp="1"/>
          </p:cNvSpPr>
          <p:nvPr/>
        </p:nvSpPr>
        <p:spPr>
          <a:xfrm xmlns:a="http://schemas.openxmlformats.org/drawingml/2006/main">
            <a:off x="781050" y="4838700"/>
            <a:ext cx="1495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B1D45"/>
                </a:solidFill>
              </a:defRPr>
            </a:pPr>
            <a:r>
              <a:rPr sz="1275" b="1">
                <a:solidFill>
                  <a:srgbClr val="0B1D45"/>
                </a:solidFill>
              </a:rPr>
              <a:t>Overview</a:t>
            </a:r>
          </a:p>
        </p:txBody>
      </p:sp>
      <p:sp>
        <p:nvSpPr>
          <p:cNvPr id="12" name="">
            <a:extLst xmlns:a="http://schemas.openxmlformats.org/drawingml/2006/main">
              <a:ext uri="{FF2B5EF4-FFF2-40B4-BE49-F238E27FC236}">
                <a16:creationId xmlns:a16="http://schemas.microsoft.com/office/drawing/2014/main" id="{5555234E-2A0F-4CEC-9A1F-35C3B63B223A}"/>
              </a:ext>
            </a:extLst>
          </p:cNvPr>
          <p:cNvSpPr>
            <a:spLocks xmlns:a="http://schemas.openxmlformats.org/drawingml/2006/main" noGrp="1"/>
          </p:cNvSpPr>
          <p:nvPr/>
        </p:nvSpPr>
        <p:spPr>
          <a:xfrm xmlns:a="http://schemas.openxmlformats.org/drawingml/2006/main">
            <a:off x="2505075" y="2876550"/>
            <a:ext cx="1685925" cy="2457450"/>
          </a:xfrm>
          <a:prstGeom xmlns:a="http://schemas.openxmlformats.org/drawingml/2006/main" prst="roundRect">
            <a:avLst>
              <a:gd name="adj" fmla="val 7910"/>
            </a:avLst>
          </a:prstGeom>
          <a:solidFill xmlns:a="http://schemas.openxmlformats.org/drawingml/2006/main">
            <a:srgbClr val="FFFFFF"/>
          </a:solidFill>
          <a:ln xmlns:a="http://schemas.openxmlformats.org/drawingml/2006/main" w="9525">
            <a:solidFill>
              <a:srgbClr val="D8E4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e7b44adb335b4e3f"/>
          <a:srcRect xmlns:a="http://schemas.openxmlformats.org/drawingml/2006/main" l="25120" t="0" r="25120" b="0"/>
          <a:stretch xmlns:a="http://schemas.openxmlformats.org/drawingml/2006/main">
            <a:fillRect l="0" t="0" r="0" b="0"/>
          </a:stretch>
        </p:blipFill>
        <p:spPr>
          <a:xfrm xmlns:a="http://schemas.openxmlformats.org/drawingml/2006/main">
            <a:off x="2581275" y="2952750"/>
            <a:ext cx="1533525" cy="1733550"/>
          </a:xfrm>
          <a:prstGeom xmlns:a="http://schemas.openxmlformats.org/drawingml/2006/main" prst="roundRect">
            <a:avLst>
              <a:gd name="adj" fmla="val 4969"/>
            </a:avLst>
          </a:prstGeom>
        </p:spPr>
      </p:pic>
      <p:sp>
        <p:nvSpPr>
          <p:cNvPr id="14" name="">
            <a:extLst xmlns:a="http://schemas.openxmlformats.org/drawingml/2006/main">
              <a:ext uri="{FF2B5EF4-FFF2-40B4-BE49-F238E27FC236}">
                <a16:creationId xmlns:a16="http://schemas.microsoft.com/office/drawing/2014/main" id="{1A935B4C-36E7-4DC8-B81C-6F1CDD78156B}"/>
              </a:ext>
            </a:extLst>
          </p:cNvPr>
          <p:cNvSpPr>
            <a:spLocks xmlns:a="http://schemas.openxmlformats.org/drawingml/2006/main" noGrp="1"/>
          </p:cNvSpPr>
          <p:nvPr/>
        </p:nvSpPr>
        <p:spPr>
          <a:xfrm xmlns:a="http://schemas.openxmlformats.org/drawingml/2006/main">
            <a:off x="2600325" y="4838700"/>
            <a:ext cx="1495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B1D45"/>
                </a:solidFill>
              </a:defRPr>
            </a:pPr>
            <a:r>
              <a:rPr sz="1275" b="1">
                <a:solidFill>
                  <a:srgbClr val="0B1D45"/>
                </a:solidFill>
              </a:rPr>
              <a:t>Model Lab</a:t>
            </a:r>
          </a:p>
        </p:txBody>
      </p:sp>
      <p:sp>
        <p:nvSpPr>
          <p:cNvPr id="15" name="">
            <a:extLst xmlns:a="http://schemas.openxmlformats.org/drawingml/2006/main">
              <a:ext uri="{FF2B5EF4-FFF2-40B4-BE49-F238E27FC236}">
                <a16:creationId xmlns:a16="http://schemas.microsoft.com/office/drawing/2014/main" id="{AFF84723-28A9-4F98-AC67-49DE43D3EFD0}"/>
              </a:ext>
            </a:extLst>
          </p:cNvPr>
          <p:cNvSpPr>
            <a:spLocks xmlns:a="http://schemas.openxmlformats.org/drawingml/2006/main" noGrp="1"/>
          </p:cNvSpPr>
          <p:nvPr/>
        </p:nvSpPr>
        <p:spPr>
          <a:xfrm xmlns:a="http://schemas.openxmlformats.org/drawingml/2006/main">
            <a:off x="4324350" y="2876550"/>
            <a:ext cx="1685925" cy="2457450"/>
          </a:xfrm>
          <a:prstGeom xmlns:a="http://schemas.openxmlformats.org/drawingml/2006/main" prst="roundRect">
            <a:avLst>
              <a:gd name="adj" fmla="val 7910"/>
            </a:avLst>
          </a:prstGeom>
          <a:solidFill xmlns:a="http://schemas.openxmlformats.org/drawingml/2006/main">
            <a:srgbClr val="FFFFFF"/>
          </a:solidFill>
          <a:ln xmlns:a="http://schemas.openxmlformats.org/drawingml/2006/main" w="9525">
            <a:solidFill>
              <a:srgbClr val="A9DD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9c44ffe73f2243ae"/>
          <a:srcRect xmlns:a="http://schemas.openxmlformats.org/drawingml/2006/main" l="25120" t="0" r="25120" b="0"/>
          <a:stretch xmlns:a="http://schemas.openxmlformats.org/drawingml/2006/main">
            <a:fillRect l="0" t="0" r="0" b="0"/>
          </a:stretch>
        </p:blipFill>
        <p:spPr>
          <a:xfrm xmlns:a="http://schemas.openxmlformats.org/drawingml/2006/main" flipH="0" flipV="0">
            <a:off x="4400550" y="2952750"/>
            <a:ext cx="1533525" cy="1733550"/>
          </a:xfrm>
          <a:prstGeom xmlns:a="http://schemas.openxmlformats.org/drawingml/2006/main" prst="roundRect">
            <a:avLst/>
          </a:prstGeom>
        </p:spPr>
      </p:pic>
      <p:sp>
        <p:nvSpPr>
          <p:cNvPr id="17" name="">
            <a:extLst xmlns:a="http://schemas.openxmlformats.org/drawingml/2006/main">
              <a:ext uri="{FF2B5EF4-FFF2-40B4-BE49-F238E27FC236}">
                <a16:creationId xmlns:a16="http://schemas.microsoft.com/office/drawing/2014/main" id="{94BA411F-A26F-4808-849A-4A5871C0CF1F}"/>
              </a:ext>
            </a:extLst>
          </p:cNvPr>
          <p:cNvSpPr>
            <a:spLocks xmlns:a="http://schemas.openxmlformats.org/drawingml/2006/main" noGrp="1"/>
          </p:cNvSpPr>
          <p:nvPr/>
        </p:nvSpPr>
        <p:spPr>
          <a:xfrm xmlns:a="http://schemas.openxmlformats.org/drawingml/2006/main">
            <a:off x="4419600" y="4838700"/>
            <a:ext cx="1495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B1D45"/>
                </a:solidFill>
              </a:defRPr>
            </a:pPr>
            <a:r>
              <a:rPr sz="1275" b="1">
                <a:solidFill>
                  <a:srgbClr val="0B1D45"/>
                </a:solidFill>
              </a:rPr>
              <a:t>Stress Lab</a:t>
            </a:r>
          </a:p>
        </p:txBody>
      </p:sp>
      <p:sp>
        <p:nvSpPr>
          <p:cNvPr id="18" name="">
            <a:extLst xmlns:a="http://schemas.openxmlformats.org/drawingml/2006/main">
              <a:ext uri="{FF2B5EF4-FFF2-40B4-BE49-F238E27FC236}">
                <a16:creationId xmlns:a16="http://schemas.microsoft.com/office/drawing/2014/main" id="{79A1AC42-1036-4CC6-A609-63B2D4B2642F}"/>
              </a:ext>
            </a:extLst>
          </p:cNvPr>
          <p:cNvSpPr>
            <a:spLocks xmlns:a="http://schemas.openxmlformats.org/drawingml/2006/main" noGrp="1"/>
          </p:cNvSpPr>
          <p:nvPr/>
        </p:nvSpPr>
        <p:spPr>
          <a:xfrm xmlns:a="http://schemas.openxmlformats.org/drawingml/2006/main">
            <a:off x="6143625" y="2876550"/>
            <a:ext cx="1685925" cy="2457450"/>
          </a:xfrm>
          <a:prstGeom xmlns:a="http://schemas.openxmlformats.org/drawingml/2006/main" prst="roundRect">
            <a:avLst>
              <a:gd name="adj" fmla="val 7910"/>
            </a:avLst>
          </a:prstGeom>
          <a:solidFill xmlns:a="http://schemas.openxmlformats.org/drawingml/2006/main">
            <a:srgbClr val="FFFFFF"/>
          </a:solidFill>
          <a:ln xmlns:a="http://schemas.openxmlformats.org/drawingml/2006/main" w="9525">
            <a:solidFill>
              <a:srgbClr val="A9DD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7e6db2e313274b15"/>
          <a:srcRect xmlns:a="http://schemas.openxmlformats.org/drawingml/2006/main" l="25120" t="0" r="25120" b="0"/>
          <a:stretch xmlns:a="http://schemas.openxmlformats.org/drawingml/2006/main">
            <a:fillRect l="0" t="0" r="0" b="0"/>
          </a:stretch>
        </p:blipFill>
        <p:spPr>
          <a:xfrm xmlns:a="http://schemas.openxmlformats.org/drawingml/2006/main">
            <a:off x="6219825" y="2952750"/>
            <a:ext cx="1533525" cy="1733550"/>
          </a:xfrm>
          <a:prstGeom xmlns:a="http://schemas.openxmlformats.org/drawingml/2006/main" prst="roundRect">
            <a:avLst>
              <a:gd name="adj" fmla="val 4969"/>
            </a:avLst>
          </a:prstGeom>
        </p:spPr>
      </p:pic>
      <p:sp>
        <p:nvSpPr>
          <p:cNvPr id="20" name="">
            <a:extLst xmlns:a="http://schemas.openxmlformats.org/drawingml/2006/main">
              <a:ext uri="{FF2B5EF4-FFF2-40B4-BE49-F238E27FC236}">
                <a16:creationId xmlns:a16="http://schemas.microsoft.com/office/drawing/2014/main" id="{E6E44745-294A-4B82-88C4-9DB762122873}"/>
              </a:ext>
            </a:extLst>
          </p:cNvPr>
          <p:cNvSpPr>
            <a:spLocks xmlns:a="http://schemas.openxmlformats.org/drawingml/2006/main" noGrp="1"/>
          </p:cNvSpPr>
          <p:nvPr/>
        </p:nvSpPr>
        <p:spPr>
          <a:xfrm xmlns:a="http://schemas.openxmlformats.org/drawingml/2006/main">
            <a:off x="6238875" y="4838700"/>
            <a:ext cx="1495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B1D45"/>
                </a:solidFill>
              </a:defRPr>
            </a:pPr>
            <a:r>
              <a:rPr sz="1275" b="1">
                <a:solidFill>
                  <a:srgbClr val="0B1D45"/>
                </a:solidFill>
              </a:rPr>
              <a:t>Reliability Report</a:t>
            </a:r>
          </a:p>
        </p:txBody>
      </p:sp>
      <p:sp>
        <p:nvSpPr>
          <p:cNvPr id="21" name="">
            <a:extLst xmlns:a="http://schemas.openxmlformats.org/drawingml/2006/main">
              <a:ext uri="{FF2B5EF4-FFF2-40B4-BE49-F238E27FC236}">
                <a16:creationId xmlns:a16="http://schemas.microsoft.com/office/drawing/2014/main" id="{ED81F99C-1D99-4DA3-8DA2-F431261CCCA2}"/>
              </a:ext>
            </a:extLst>
          </p:cNvPr>
          <p:cNvSpPr>
            <a:spLocks xmlns:a="http://schemas.openxmlformats.org/drawingml/2006/main" noGrp="1"/>
          </p:cNvSpPr>
          <p:nvPr/>
        </p:nvSpPr>
        <p:spPr>
          <a:xfrm xmlns:a="http://schemas.openxmlformats.org/drawingml/2006/main">
            <a:off x="7962900" y="2876550"/>
            <a:ext cx="1685925" cy="2457450"/>
          </a:xfrm>
          <a:prstGeom xmlns:a="http://schemas.openxmlformats.org/drawingml/2006/main" prst="roundRect">
            <a:avLst>
              <a:gd name="adj" fmla="val 7910"/>
            </a:avLst>
          </a:prstGeom>
          <a:solidFill xmlns:a="http://schemas.openxmlformats.org/drawingml/2006/main">
            <a:srgbClr val="FFFFFF"/>
          </a:solidFill>
          <a:ln xmlns:a="http://schemas.openxmlformats.org/drawingml/2006/main" w="9525">
            <a:solidFill>
              <a:srgbClr val="A9DD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cbdd0a1169914955"/>
          <a:srcRect xmlns:a="http://schemas.openxmlformats.org/drawingml/2006/main" l="25120" t="0" r="25120" b="0"/>
          <a:stretch xmlns:a="http://schemas.openxmlformats.org/drawingml/2006/main">
            <a:fillRect l="0" t="0" r="0" b="0"/>
          </a:stretch>
        </p:blipFill>
        <p:spPr>
          <a:xfrm xmlns:a="http://schemas.openxmlformats.org/drawingml/2006/main">
            <a:off x="8039100" y="2952750"/>
            <a:ext cx="1533525" cy="1733550"/>
          </a:xfrm>
          <a:prstGeom xmlns:a="http://schemas.openxmlformats.org/drawingml/2006/main" prst="roundRect">
            <a:avLst>
              <a:gd name="adj" fmla="val 4969"/>
            </a:avLst>
          </a:prstGeom>
        </p:spPr>
      </p:pic>
      <p:sp>
        <p:nvSpPr>
          <p:cNvPr id="23" name="">
            <a:extLst xmlns:a="http://schemas.openxmlformats.org/drawingml/2006/main">
              <a:ext uri="{FF2B5EF4-FFF2-40B4-BE49-F238E27FC236}">
                <a16:creationId xmlns:a16="http://schemas.microsoft.com/office/drawing/2014/main" id="{9E1B8E5C-143D-4778-A38A-7190B9829E09}"/>
              </a:ext>
            </a:extLst>
          </p:cNvPr>
          <p:cNvSpPr>
            <a:spLocks xmlns:a="http://schemas.openxmlformats.org/drawingml/2006/main" noGrp="1"/>
          </p:cNvSpPr>
          <p:nvPr/>
        </p:nvSpPr>
        <p:spPr>
          <a:xfrm xmlns:a="http://schemas.openxmlformats.org/drawingml/2006/main">
            <a:off x="8058150" y="4838700"/>
            <a:ext cx="1495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B1D45"/>
                </a:solidFill>
              </a:defRPr>
            </a:pPr>
            <a:r>
              <a:rPr sz="1275" b="1">
                <a:solidFill>
                  <a:srgbClr val="0B1D45"/>
                </a:solidFill>
              </a:rPr>
              <a:t>Experiments</a:t>
            </a:r>
          </a:p>
        </p:txBody>
      </p:sp>
      <p:sp>
        <p:nvSpPr>
          <p:cNvPr id="24" name="">
            <a:extLst xmlns:a="http://schemas.openxmlformats.org/drawingml/2006/main">
              <a:ext uri="{FF2B5EF4-FFF2-40B4-BE49-F238E27FC236}">
                <a16:creationId xmlns:a16="http://schemas.microsoft.com/office/drawing/2014/main" id="{BF305EA1-AEA7-4F33-8E36-E55EB9C15E4C}"/>
              </a:ext>
            </a:extLst>
          </p:cNvPr>
          <p:cNvSpPr>
            <a:spLocks xmlns:a="http://schemas.openxmlformats.org/drawingml/2006/main" noGrp="1"/>
          </p:cNvSpPr>
          <p:nvPr/>
        </p:nvSpPr>
        <p:spPr>
          <a:xfrm xmlns:a="http://schemas.openxmlformats.org/drawingml/2006/main">
            <a:off x="9782175" y="2876550"/>
            <a:ext cx="1685925" cy="2457450"/>
          </a:xfrm>
          <a:prstGeom xmlns:a="http://schemas.openxmlformats.org/drawingml/2006/main" prst="roundRect">
            <a:avLst>
              <a:gd name="adj" fmla="val 7910"/>
            </a:avLst>
          </a:prstGeom>
          <a:solidFill xmlns:a="http://schemas.openxmlformats.org/drawingml/2006/main">
            <a:srgbClr val="FFFFFF"/>
          </a:solidFill>
          <a:ln xmlns:a="http://schemas.openxmlformats.org/drawingml/2006/main" w="9525">
            <a:solidFill>
              <a:srgbClr val="A9DD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0ae6846842bc4dc0"/>
          <a:srcRect xmlns:a="http://schemas.openxmlformats.org/drawingml/2006/main" l="25104" t="0" r="25104" b="0"/>
          <a:stretch xmlns:a="http://schemas.openxmlformats.org/drawingml/2006/main">
            <a:fillRect l="0" t="0" r="0" b="0"/>
          </a:stretch>
        </p:blipFill>
        <p:spPr>
          <a:xfrm xmlns:a="http://schemas.openxmlformats.org/drawingml/2006/main">
            <a:off x="9858375" y="2952750"/>
            <a:ext cx="1533525" cy="1733550"/>
          </a:xfrm>
          <a:prstGeom xmlns:a="http://schemas.openxmlformats.org/drawingml/2006/main" prst="roundRect">
            <a:avLst>
              <a:gd name="adj" fmla="val 4969"/>
            </a:avLst>
          </a:prstGeom>
        </p:spPr>
      </p:pic>
      <p:sp>
        <p:nvSpPr>
          <p:cNvPr id="26" name="">
            <a:extLst xmlns:a="http://schemas.openxmlformats.org/drawingml/2006/main">
              <a:ext uri="{FF2B5EF4-FFF2-40B4-BE49-F238E27FC236}">
                <a16:creationId xmlns:a16="http://schemas.microsoft.com/office/drawing/2014/main" id="{52C42D5C-720A-45AF-ACAA-6C76BC8F0136}"/>
              </a:ext>
            </a:extLst>
          </p:cNvPr>
          <p:cNvSpPr>
            <a:spLocks xmlns:a="http://schemas.openxmlformats.org/drawingml/2006/main" noGrp="1"/>
          </p:cNvSpPr>
          <p:nvPr/>
        </p:nvSpPr>
        <p:spPr>
          <a:xfrm xmlns:a="http://schemas.openxmlformats.org/drawingml/2006/main">
            <a:off x="9877425" y="4838700"/>
            <a:ext cx="1495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B1D45"/>
                </a:solidFill>
              </a:defRPr>
            </a:pPr>
            <a:r>
              <a:rPr sz="1275" b="1">
                <a:solidFill>
                  <a:srgbClr val="0B1D45"/>
                </a:solidFill>
              </a:rPr>
              <a:t>Artifacts</a:t>
            </a:r>
          </a:p>
        </p:txBody>
      </p:sp>
      <p:sp>
        <p:nvSpPr>
          <p:cNvPr id="27" name="">
            <a:extLst xmlns:a="http://schemas.openxmlformats.org/drawingml/2006/main">
              <a:ext uri="{FF2B5EF4-FFF2-40B4-BE49-F238E27FC236}">
                <a16:creationId xmlns:a16="http://schemas.microsoft.com/office/drawing/2014/main" id="{3173F2F7-ADEE-45F3-A5CC-DFFEC643763B}"/>
              </a:ext>
            </a:extLst>
          </p:cNvPr>
          <p:cNvSpPr>
            <a:spLocks xmlns:a="http://schemas.openxmlformats.org/drawingml/2006/main" noGrp="1"/>
          </p:cNvSpPr>
          <p:nvPr/>
        </p:nvSpPr>
        <p:spPr>
          <a:xfrm xmlns:a="http://schemas.openxmlformats.org/drawingml/2006/main">
            <a:off x="685800" y="5676900"/>
            <a:ext cx="10820400" cy="628650"/>
          </a:xfrm>
          <a:prstGeom xmlns:a="http://schemas.openxmlformats.org/drawingml/2006/main" prst="roundRect">
            <a:avLst>
              <a:gd name="adj" fmla="val 24242"/>
            </a:avLst>
          </a:prstGeom>
          <a:solidFill xmlns:a="http://schemas.openxmlformats.org/drawingml/2006/main">
            <a:srgbClr val="0B1D45"/>
          </a:solidFill>
          <a:ln xmlns:a="http://schemas.openxmlformats.org/drawingml/2006/main" w="9525">
            <a:solidFill>
              <a:srgbClr val="0B1D45"/>
            </a:solidFill>
            <a:prstDash val="solid"/>
          </a:ln>
        </p:spPr>
      </p:sp>
      <p:sp>
        <p:nvSpPr>
          <p:cNvPr id="28" name="">
            <a:extLst xmlns:a="http://schemas.openxmlformats.org/drawingml/2006/main">
              <a:ext uri="{FF2B5EF4-FFF2-40B4-BE49-F238E27FC236}">
                <a16:creationId xmlns:a16="http://schemas.microsoft.com/office/drawing/2014/main" id="{AE47E499-23AB-4A83-9627-0E82370354F4}"/>
              </a:ext>
            </a:extLst>
          </p:cNvPr>
          <p:cNvSpPr>
            <a:spLocks xmlns:a="http://schemas.openxmlformats.org/drawingml/2006/main" noGrp="1"/>
          </p:cNvSpPr>
          <p:nvPr/>
        </p:nvSpPr>
        <p:spPr>
          <a:xfrm xmlns:a="http://schemas.openxmlformats.org/drawingml/2006/main">
            <a:off x="933450" y="58674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69DED7"/>
                </a:solidFill>
              </a:defRPr>
            </a:pPr>
            <a:r>
              <a:rPr sz="1200" b="1">
                <a:solidFill>
                  <a:srgbClr val="69DED7"/>
                </a:solidFill>
              </a:rPr>
              <a:t>LIVE DEMO</a:t>
            </a:r>
          </a:p>
        </p:txBody>
      </p:sp>
      <p:sp>
        <p:nvSpPr>
          <p:cNvPr id="29" name="">
            <a:extLst xmlns:a="http://schemas.openxmlformats.org/drawingml/2006/main">
              <a:ext uri="{FF2B5EF4-FFF2-40B4-BE49-F238E27FC236}">
                <a16:creationId xmlns:a16="http://schemas.microsoft.com/office/drawing/2014/main" id="{515E3D2B-0A7A-4C3D-B2C4-BFAAE55D00C2}"/>
              </a:ext>
            </a:extLst>
          </p:cNvPr>
          <p:cNvSpPr>
            <a:spLocks xmlns:a="http://schemas.openxmlformats.org/drawingml/2006/main" noGrp="1"/>
          </p:cNvSpPr>
          <p:nvPr/>
        </p:nvSpPr>
        <p:spPr>
          <a:xfrm xmlns:a="http://schemas.openxmlformats.org/drawingml/2006/main">
            <a:off x="2266950" y="5829300"/>
            <a:ext cx="862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FFFFF"/>
                </a:solidFill>
              </a:defRPr>
            </a:pPr>
            <a:r>
              <a:rPr sz="1650" b="1">
                <a:solidFill>
                  <a:srgbClr val="FFFFFF"/>
                </a:solidFill>
              </a:rPr>
              <a:t>Committed evidence · replay-only controls · Set C spent</a:t>
            </a:r>
          </a:p>
        </p:txBody>
      </p:sp>
    </p:spTree>
    <p:extLst>
      <p:ext uri="{BB962C8B-B14F-4D97-AF65-F5344CB8AC3E}">
        <p14:creationId xmlns:p14="http://schemas.microsoft.com/office/powerpoint/2010/main" val="182504118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99523A1-9F84-4197-89C5-084B72AB06CA}"/>
              </a:ext>
            </a:extLst>
          </p:cNvPr>
          <p:cNvSpPr>
            <a:spLocks xmlns:a="http://schemas.openxmlformats.org/drawingml/2006/main" noGrp="1"/>
          </p:cNvSpPr>
          <p:nvPr/>
        </p:nvSpPr>
        <p:spPr>
          <a:xfrm xmlns:a="http://schemas.openxmlformats.org/drawingml/2006/main">
            <a:off x="704850" y="2667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0B1D45"/>
                </a:solidFill>
              </a:defRPr>
            </a:pPr>
            <a:r>
              <a:rPr sz="1050" b="1">
                <a:solidFill>
                  <a:srgbClr val="0B1D45"/>
                </a:solidFill>
              </a:rPr>
              <a:t>CLINIVERSE</a:t>
            </a:r>
          </a:p>
        </p:txBody>
      </p:sp>
      <p:sp>
        <p:nvSpPr>
          <p:cNvPr id="2" name="">
            <a:extLst xmlns:a="http://schemas.openxmlformats.org/drawingml/2006/main">
              <a:ext uri="{FF2B5EF4-FFF2-40B4-BE49-F238E27FC236}">
                <a16:creationId xmlns:a16="http://schemas.microsoft.com/office/drawing/2014/main" id="{E56770DC-30DD-441E-8C63-866FCBA24CBF}"/>
              </a:ext>
            </a:extLst>
          </p:cNvPr>
          <p:cNvSpPr>
            <a:spLocks xmlns:a="http://schemas.openxmlformats.org/drawingml/2006/main" noGrp="1"/>
          </p:cNvSpPr>
          <p:nvPr/>
        </p:nvSpPr>
        <p:spPr>
          <a:xfrm xmlns:a="http://schemas.openxmlformats.org/drawingml/2006/main">
            <a:off x="2324100" y="276225"/>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66758F"/>
                </a:solidFill>
              </a:defRPr>
            </a:pPr>
            <a:r>
              <a:rPr sz="1050" b="0">
                <a:solidFill>
                  <a:srgbClr val="66758F"/>
                </a:solidFill>
              </a:rPr>
              <a:t>Healthcare AI Reliability Lab</a:t>
            </a:r>
          </a:p>
        </p:txBody>
      </p:sp>
      <p:sp>
        <p:nvSpPr>
          <p:cNvPr id="3" name="">
            <a:extLst xmlns:a="http://schemas.openxmlformats.org/drawingml/2006/main">
              <a:ext uri="{FF2B5EF4-FFF2-40B4-BE49-F238E27FC236}">
                <a16:creationId xmlns:a16="http://schemas.microsoft.com/office/drawing/2014/main" id="{C1D6ACC1-57EA-4E95-9D28-19F5E8417F42}"/>
              </a:ext>
            </a:extLst>
          </p:cNvPr>
          <p:cNvSpPr>
            <a:spLocks xmlns:a="http://schemas.openxmlformats.org/drawingml/2006/main" noGrp="1"/>
          </p:cNvSpPr>
          <p:nvPr/>
        </p:nvSpPr>
        <p:spPr>
          <a:xfrm xmlns:a="http://schemas.openxmlformats.org/drawingml/2006/main">
            <a:off x="11239500" y="2667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66758F"/>
                </a:solidFill>
              </a:defRPr>
            </a:pPr>
            <a:r>
              <a:rPr sz="1050" b="1">
                <a:solidFill>
                  <a:srgbClr val="66758F"/>
                </a:solidFill>
              </a:rPr>
              <a:t>09</a:t>
            </a:r>
          </a:p>
        </p:txBody>
      </p:sp>
      <p:sp>
        <p:nvSpPr>
          <p:cNvPr id="4" name="">
            <a:extLst xmlns:a="http://schemas.openxmlformats.org/drawingml/2006/main">
              <a:ext uri="{FF2B5EF4-FFF2-40B4-BE49-F238E27FC236}">
                <a16:creationId xmlns:a16="http://schemas.microsoft.com/office/drawing/2014/main" id="{BD7ED551-9732-433D-AF78-677B247501EB}"/>
              </a:ext>
            </a:extLst>
          </p:cNvPr>
          <p:cNvSpPr>
            <a:spLocks xmlns:a="http://schemas.openxmlformats.org/drawingml/2006/main" noGrp="1"/>
          </p:cNvSpPr>
          <p:nvPr/>
        </p:nvSpPr>
        <p:spPr>
          <a:xfrm xmlns:a="http://schemas.openxmlformats.org/drawingml/2006/main">
            <a:off x="685800" y="6477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0A9F9B"/>
                </a:solidFill>
              </a:defRPr>
            </a:pPr>
            <a:r>
              <a:rPr sz="1050" b="1">
                <a:solidFill>
                  <a:srgbClr val="0A9F9B"/>
                </a:solidFill>
              </a:rPr>
              <a:t>WHY THIS MATTERS</a:t>
            </a:r>
          </a:p>
        </p:txBody>
      </p:sp>
      <p:sp>
        <p:nvSpPr>
          <p:cNvPr id="5" name="slide-title">
            <a:extLst xmlns:a="http://schemas.openxmlformats.org/drawingml/2006/main">
              <a:ext uri="{FF2B5EF4-FFF2-40B4-BE49-F238E27FC236}">
                <a16:creationId xmlns:a16="http://schemas.microsoft.com/office/drawing/2014/main" id="{8CCA87F2-1122-4448-BB31-C5D54CAA04E5}"/>
              </a:ext>
            </a:extLst>
          </p:cNvPr>
          <p:cNvSpPr>
            <a:spLocks xmlns:a="http://schemas.openxmlformats.org/drawingml/2006/main" noGrp="1"/>
          </p:cNvSpPr>
          <p:nvPr/>
        </p:nvSpPr>
        <p:spPr>
          <a:xfrm xmlns:a="http://schemas.openxmlformats.org/drawingml/2006/main">
            <a:off x="685800" y="9144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1D45"/>
                </a:solidFill>
              </a:defRPr>
            </a:pPr>
            <a:r>
              <a:rPr sz="3000" b="1">
                <a:solidFill>
                  <a:srgbClr val="0B1D45"/>
                </a:solidFill>
              </a:rPr>
              <a:t>Reliability should be tested before high-stakes use.</a:t>
            </a:r>
          </a:p>
        </p:txBody>
      </p:sp>
      <p:sp>
        <p:nvSpPr>
          <p:cNvPr id="6" name="">
            <a:extLst xmlns:a="http://schemas.openxmlformats.org/drawingml/2006/main">
              <a:ext uri="{FF2B5EF4-FFF2-40B4-BE49-F238E27FC236}">
                <a16:creationId xmlns:a16="http://schemas.microsoft.com/office/drawing/2014/main" id="{C8D7D992-A1CF-4D82-9C1D-B3C38F8EEE58}"/>
              </a:ext>
            </a:extLst>
          </p:cNvPr>
          <p:cNvSpPr>
            <a:spLocks xmlns:a="http://schemas.openxmlformats.org/drawingml/2006/main" noGrp="1"/>
          </p:cNvSpPr>
          <p:nvPr/>
        </p:nvSpPr>
        <p:spPr>
          <a:xfrm xmlns:a="http://schemas.openxmlformats.org/drawingml/2006/main">
            <a:off x="685800" y="1485900"/>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66758F"/>
                </a:solidFill>
              </a:defRPr>
            </a:pPr>
            <a:r>
              <a:rPr sz="1500" b="0">
                <a:solidFill>
                  <a:srgbClr val="66758F"/>
                </a:solidFill>
              </a:rPr>
              <a:t>A disciplined reliability lab does three jobs.</a:t>
            </a:r>
          </a:p>
        </p:txBody>
      </p:sp>
      <p:sp>
        <p:nvSpPr>
          <p:cNvPr id="7" name="">
            <a:extLst xmlns:a="http://schemas.openxmlformats.org/drawingml/2006/main">
              <a:ext uri="{FF2B5EF4-FFF2-40B4-BE49-F238E27FC236}">
                <a16:creationId xmlns:a16="http://schemas.microsoft.com/office/drawing/2014/main" id="{C73CE927-A9A4-4CB1-9C83-6854CC0911ED}"/>
              </a:ext>
            </a:extLst>
          </p:cNvPr>
          <p:cNvSpPr>
            <a:spLocks xmlns:a="http://schemas.openxmlformats.org/drawingml/2006/main" noGrp="1"/>
          </p:cNvSpPr>
          <p:nvPr/>
        </p:nvSpPr>
        <p:spPr>
          <a:xfrm xmlns:a="http://schemas.openxmlformats.org/drawingml/2006/main">
            <a:off x="685800" y="2324100"/>
            <a:ext cx="704850" cy="704850"/>
          </a:xfrm>
          <a:prstGeom xmlns:a="http://schemas.openxmlformats.org/drawingml/2006/main" prst="ellipse">
            <a:avLst/>
          </a:prstGeom>
          <a:solidFill xmlns:a="http://schemas.openxmlformats.org/drawingml/2006/main">
            <a:srgbClr val="E7F8F5"/>
          </a:solidFill>
          <a:ln xmlns:a="http://schemas.openxmlformats.org/drawingml/2006/main" w="9525">
            <a:solidFill>
              <a:srgbClr val="BFE7E0"/>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A9F9B"/>
                </a:solidFill>
              </a:defRPr>
            </a:pPr>
            <a:r>
              <a:rPr sz="1950" b="1">
                <a:solidFill>
                  <a:srgbClr val="0A9F9B"/>
                </a:solidFill>
              </a:rPr>
              <a:t>1</a:t>
            </a:r>
          </a:p>
        </p:txBody>
      </p:sp>
      <p:sp>
        <p:nvSpPr>
          <p:cNvPr id="8" name="">
            <a:extLst xmlns:a="http://schemas.openxmlformats.org/drawingml/2006/main">
              <a:ext uri="{FF2B5EF4-FFF2-40B4-BE49-F238E27FC236}">
                <a16:creationId xmlns:a16="http://schemas.microsoft.com/office/drawing/2014/main" id="{EB96A838-6068-4726-BAE4-60B066E182E3}"/>
              </a:ext>
            </a:extLst>
          </p:cNvPr>
          <p:cNvSpPr>
            <a:spLocks xmlns:a="http://schemas.openxmlformats.org/drawingml/2006/main" noGrp="1"/>
          </p:cNvSpPr>
          <p:nvPr/>
        </p:nvSpPr>
        <p:spPr>
          <a:xfrm xmlns:a="http://schemas.openxmlformats.org/drawingml/2006/main">
            <a:off x="685800" y="32385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75" b="1">
                <a:solidFill>
                  <a:srgbClr val="0B1D45"/>
                </a:solidFill>
              </a:defRPr>
            </a:pPr>
            <a:r>
              <a:rPr sz="2175" b="1">
                <a:solidFill>
                  <a:srgbClr val="0B1D45"/>
                </a:solidFill>
              </a:rPr>
              <a:t>Discover</a:t>
            </a:r>
          </a:p>
        </p:txBody>
      </p:sp>
      <p:sp>
        <p:nvSpPr>
          <p:cNvPr id="9" name="">
            <a:extLst xmlns:a="http://schemas.openxmlformats.org/drawingml/2006/main">
              <a:ext uri="{FF2B5EF4-FFF2-40B4-BE49-F238E27FC236}">
                <a16:creationId xmlns:a16="http://schemas.microsoft.com/office/drawing/2014/main" id="{FB00BD12-E61A-42A2-8527-8BE089BAD9B0}"/>
              </a:ext>
            </a:extLst>
          </p:cNvPr>
          <p:cNvSpPr>
            <a:spLocks xmlns:a="http://schemas.openxmlformats.org/drawingml/2006/main" noGrp="1"/>
          </p:cNvSpPr>
          <p:nvPr/>
        </p:nvSpPr>
        <p:spPr>
          <a:xfrm xmlns:a="http://schemas.openxmlformats.org/drawingml/2006/main">
            <a:off x="685800" y="3714750"/>
            <a:ext cx="285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66758F"/>
                </a:solidFill>
              </a:defRPr>
            </a:pPr>
            <a:r>
              <a:rPr sz="1650" b="0">
                <a:solidFill>
                  <a:srgbClr val="66758F"/>
                </a:solidFill>
              </a:rPr>
              <a:t>fragile information</a:t>
            </a:r>
          </a:p>
          <a:p xmlns:a="http://schemas.openxmlformats.org/drawingml/2006/main">
            <a:pPr algn="l">
              <a:buNone/>
              <a:defRPr sz="1650" b="0">
                <a:solidFill>
                  <a:srgbClr val="66758F"/>
                </a:solidFill>
              </a:defRPr>
            </a:pPr>
            <a:r>
              <a:rPr sz="1650" b="0">
                <a:solidFill>
                  <a:srgbClr val="66758F"/>
                </a:solidFill>
              </a:rPr>
              <a:t>dependencies</a:t>
            </a:r>
          </a:p>
        </p:txBody>
      </p:sp>
      <p:sp>
        <p:nvSpPr>
          <p:cNvPr id="10" name="">
            <a:extLst xmlns:a="http://schemas.openxmlformats.org/drawingml/2006/main">
              <a:ext uri="{FF2B5EF4-FFF2-40B4-BE49-F238E27FC236}">
                <a16:creationId xmlns:a16="http://schemas.microsoft.com/office/drawing/2014/main" id="{AC8A51DC-F183-4689-8D42-98BC59398E58}"/>
              </a:ext>
            </a:extLst>
          </p:cNvPr>
          <p:cNvSpPr>
            <a:spLocks xmlns:a="http://schemas.openxmlformats.org/drawingml/2006/main" noGrp="1"/>
          </p:cNvSpPr>
          <p:nvPr/>
        </p:nvSpPr>
        <p:spPr>
          <a:xfrm xmlns:a="http://schemas.openxmlformats.org/drawingml/2006/main">
            <a:off x="685800" y="4629150"/>
            <a:ext cx="2743200" cy="0"/>
          </a:xfrm>
          <a:prstGeom xmlns:a="http://schemas.openxmlformats.org/drawingml/2006/main" prst="line">
            <a:avLst/>
          </a:prstGeom>
          <a:noFill xmlns:a="http://schemas.openxmlformats.org/drawingml/2006/main"/>
          <a:ln xmlns:a="http://schemas.openxmlformats.org/drawingml/2006/main" w="9525">
            <a:solidFill>
              <a:srgbClr val="D8E4E8"/>
            </a:solidFill>
            <a:prstDash val="solid"/>
          </a:ln>
        </p:spPr>
      </p:sp>
      <p:sp>
        <p:nvSpPr>
          <p:cNvPr id="11" name="">
            <a:extLst xmlns:a="http://schemas.openxmlformats.org/drawingml/2006/main">
              <a:ext uri="{FF2B5EF4-FFF2-40B4-BE49-F238E27FC236}">
                <a16:creationId xmlns:a16="http://schemas.microsoft.com/office/drawing/2014/main" id="{3023C625-6A22-4B7B-BA60-73D47FF1D12F}"/>
              </a:ext>
            </a:extLst>
          </p:cNvPr>
          <p:cNvSpPr>
            <a:spLocks xmlns:a="http://schemas.openxmlformats.org/drawingml/2006/main" noGrp="1"/>
          </p:cNvSpPr>
          <p:nvPr/>
        </p:nvSpPr>
        <p:spPr>
          <a:xfrm xmlns:a="http://schemas.openxmlformats.org/drawingml/2006/main">
            <a:off x="4114800" y="2324100"/>
            <a:ext cx="704850" cy="704850"/>
          </a:xfrm>
          <a:prstGeom xmlns:a="http://schemas.openxmlformats.org/drawingml/2006/main" prst="ellipse">
            <a:avLst/>
          </a:prstGeom>
          <a:solidFill xmlns:a="http://schemas.openxmlformats.org/drawingml/2006/main">
            <a:srgbClr val="0B1D45"/>
          </a:solidFill>
          <a:ln xmlns:a="http://schemas.openxmlformats.org/drawingml/2006/main" w="9525">
            <a:solidFill>
              <a:srgbClr val="0B1D45"/>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FFFFF"/>
                </a:solidFill>
              </a:defRPr>
            </a:pPr>
            <a:r>
              <a:rPr sz="1950" b="1">
                <a:solidFill>
                  <a:srgbClr val="FFFFFF"/>
                </a:solidFill>
              </a:rPr>
              <a:t>2</a:t>
            </a:r>
          </a:p>
        </p:txBody>
      </p:sp>
      <p:sp>
        <p:nvSpPr>
          <p:cNvPr id="12" name="">
            <a:extLst xmlns:a="http://schemas.openxmlformats.org/drawingml/2006/main">
              <a:ext uri="{FF2B5EF4-FFF2-40B4-BE49-F238E27FC236}">
                <a16:creationId xmlns:a16="http://schemas.microsoft.com/office/drawing/2014/main" id="{34B530D1-9CDC-4F1E-AA04-3F4B0B12E174}"/>
              </a:ext>
            </a:extLst>
          </p:cNvPr>
          <p:cNvSpPr>
            <a:spLocks xmlns:a="http://schemas.openxmlformats.org/drawingml/2006/main" noGrp="1"/>
          </p:cNvSpPr>
          <p:nvPr/>
        </p:nvSpPr>
        <p:spPr>
          <a:xfrm xmlns:a="http://schemas.openxmlformats.org/drawingml/2006/main">
            <a:off x="4114800" y="32385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75" b="1">
                <a:solidFill>
                  <a:srgbClr val="0B1D45"/>
                </a:solidFill>
              </a:defRPr>
            </a:pPr>
            <a:r>
              <a:rPr sz="2175" b="1">
                <a:solidFill>
                  <a:srgbClr val="0B1D45"/>
                </a:solidFill>
              </a:rPr>
              <a:t>Verify</a:t>
            </a:r>
          </a:p>
        </p:txBody>
      </p:sp>
      <p:sp>
        <p:nvSpPr>
          <p:cNvPr id="13" name="">
            <a:extLst xmlns:a="http://schemas.openxmlformats.org/drawingml/2006/main">
              <a:ext uri="{FF2B5EF4-FFF2-40B4-BE49-F238E27FC236}">
                <a16:creationId xmlns:a16="http://schemas.microsoft.com/office/drawing/2014/main" id="{AAAE04C1-41E3-4DCF-9BAE-2A041697A62B}"/>
              </a:ext>
            </a:extLst>
          </p:cNvPr>
          <p:cNvSpPr>
            <a:spLocks xmlns:a="http://schemas.openxmlformats.org/drawingml/2006/main" noGrp="1"/>
          </p:cNvSpPr>
          <p:nvPr/>
        </p:nvSpPr>
        <p:spPr>
          <a:xfrm xmlns:a="http://schemas.openxmlformats.org/drawingml/2006/main">
            <a:off x="4114800" y="3714750"/>
            <a:ext cx="285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66758F"/>
                </a:solidFill>
              </a:defRPr>
            </a:pPr>
            <a:r>
              <a:rPr sz="1650" b="0">
                <a:solidFill>
                  <a:srgbClr val="66758F"/>
                </a:solidFill>
              </a:rPr>
              <a:t>under a frozen</a:t>
            </a:r>
          </a:p>
          <a:p xmlns:a="http://schemas.openxmlformats.org/drawingml/2006/main">
            <a:pPr algn="l">
              <a:buNone/>
              <a:defRPr sz="1650" b="0">
                <a:solidFill>
                  <a:srgbClr val="66758F"/>
                </a:solidFill>
              </a:defRPr>
            </a:pPr>
            <a:r>
              <a:rPr sz="1650" b="0">
                <a:solidFill>
                  <a:srgbClr val="66758F"/>
                </a:solidFill>
              </a:rPr>
              <a:t>evaluation contract</a:t>
            </a:r>
          </a:p>
        </p:txBody>
      </p:sp>
      <p:sp>
        <p:nvSpPr>
          <p:cNvPr id="14" name="">
            <a:extLst xmlns:a="http://schemas.openxmlformats.org/drawingml/2006/main">
              <a:ext uri="{FF2B5EF4-FFF2-40B4-BE49-F238E27FC236}">
                <a16:creationId xmlns:a16="http://schemas.microsoft.com/office/drawing/2014/main" id="{9E264581-472C-4F37-BD40-8CD8B8570B0F}"/>
              </a:ext>
            </a:extLst>
          </p:cNvPr>
          <p:cNvSpPr>
            <a:spLocks xmlns:a="http://schemas.openxmlformats.org/drawingml/2006/main" noGrp="1"/>
          </p:cNvSpPr>
          <p:nvPr/>
        </p:nvSpPr>
        <p:spPr>
          <a:xfrm xmlns:a="http://schemas.openxmlformats.org/drawingml/2006/main">
            <a:off x="4114800" y="4629150"/>
            <a:ext cx="2743200" cy="0"/>
          </a:xfrm>
          <a:prstGeom xmlns:a="http://schemas.openxmlformats.org/drawingml/2006/main" prst="line">
            <a:avLst/>
          </a:prstGeom>
          <a:noFill xmlns:a="http://schemas.openxmlformats.org/drawingml/2006/main"/>
          <a:ln xmlns:a="http://schemas.openxmlformats.org/drawingml/2006/main" w="9525">
            <a:solidFill>
              <a:srgbClr val="D8E4E8"/>
            </a:solidFill>
            <a:prstDash val="solid"/>
          </a:ln>
        </p:spPr>
      </p:sp>
      <p:sp>
        <p:nvSpPr>
          <p:cNvPr id="15" name="">
            <a:extLst xmlns:a="http://schemas.openxmlformats.org/drawingml/2006/main">
              <a:ext uri="{FF2B5EF4-FFF2-40B4-BE49-F238E27FC236}">
                <a16:creationId xmlns:a16="http://schemas.microsoft.com/office/drawing/2014/main" id="{E15DA02B-7A0A-4CE4-9BD8-66F3AC99F68C}"/>
              </a:ext>
            </a:extLst>
          </p:cNvPr>
          <p:cNvSpPr>
            <a:spLocks xmlns:a="http://schemas.openxmlformats.org/drawingml/2006/main" noGrp="1"/>
          </p:cNvSpPr>
          <p:nvPr/>
        </p:nvSpPr>
        <p:spPr>
          <a:xfrm xmlns:a="http://schemas.openxmlformats.org/drawingml/2006/main">
            <a:off x="7543800" y="2324100"/>
            <a:ext cx="704850" cy="704850"/>
          </a:xfrm>
          <a:prstGeom xmlns:a="http://schemas.openxmlformats.org/drawingml/2006/main" prst="ellipse">
            <a:avLst/>
          </a:prstGeom>
          <a:solidFill xmlns:a="http://schemas.openxmlformats.org/drawingml/2006/main">
            <a:srgbClr val="E7F8F5"/>
          </a:solidFill>
          <a:ln xmlns:a="http://schemas.openxmlformats.org/drawingml/2006/main" w="9525">
            <a:solidFill>
              <a:srgbClr val="BFE7E0"/>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A9F9B"/>
                </a:solidFill>
              </a:defRPr>
            </a:pPr>
            <a:r>
              <a:rPr sz="1950" b="1">
                <a:solidFill>
                  <a:srgbClr val="0A9F9B"/>
                </a:solidFill>
              </a:rPr>
              <a:t>3</a:t>
            </a:r>
          </a:p>
        </p:txBody>
      </p:sp>
      <p:sp>
        <p:nvSpPr>
          <p:cNvPr id="16" name="">
            <a:extLst xmlns:a="http://schemas.openxmlformats.org/drawingml/2006/main">
              <a:ext uri="{FF2B5EF4-FFF2-40B4-BE49-F238E27FC236}">
                <a16:creationId xmlns:a16="http://schemas.microsoft.com/office/drawing/2014/main" id="{AB039159-308F-4F2A-B8B7-9DACEC0CCCAC}"/>
              </a:ext>
            </a:extLst>
          </p:cNvPr>
          <p:cNvSpPr>
            <a:spLocks xmlns:a="http://schemas.openxmlformats.org/drawingml/2006/main" noGrp="1"/>
          </p:cNvSpPr>
          <p:nvPr/>
        </p:nvSpPr>
        <p:spPr>
          <a:xfrm xmlns:a="http://schemas.openxmlformats.org/drawingml/2006/main">
            <a:off x="7543800" y="32385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75" b="1">
                <a:solidFill>
                  <a:srgbClr val="0B1D45"/>
                </a:solidFill>
              </a:defRPr>
            </a:pPr>
            <a:r>
              <a:rPr sz="2175" b="1">
                <a:solidFill>
                  <a:srgbClr val="0B1D45"/>
                </a:solidFill>
              </a:rPr>
              <a:t>Inspect</a:t>
            </a:r>
          </a:p>
        </p:txBody>
      </p:sp>
      <p:sp>
        <p:nvSpPr>
          <p:cNvPr id="17" name="">
            <a:extLst xmlns:a="http://schemas.openxmlformats.org/drawingml/2006/main">
              <a:ext uri="{FF2B5EF4-FFF2-40B4-BE49-F238E27FC236}">
                <a16:creationId xmlns:a16="http://schemas.microsoft.com/office/drawing/2014/main" id="{8D6B813D-66A8-436A-AD0A-D20F95D3A40B}"/>
              </a:ext>
            </a:extLst>
          </p:cNvPr>
          <p:cNvSpPr>
            <a:spLocks xmlns:a="http://schemas.openxmlformats.org/drawingml/2006/main" noGrp="1"/>
          </p:cNvSpPr>
          <p:nvPr/>
        </p:nvSpPr>
        <p:spPr>
          <a:xfrm xmlns:a="http://schemas.openxmlformats.org/drawingml/2006/main">
            <a:off x="7543800" y="3714750"/>
            <a:ext cx="285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66758F"/>
                </a:solidFill>
              </a:defRPr>
            </a:pPr>
            <a:r>
              <a:rPr sz="1650" b="0">
                <a:solidFill>
                  <a:srgbClr val="66758F"/>
                </a:solidFill>
              </a:rPr>
              <a:t>evidence and</a:t>
            </a:r>
          </a:p>
          <a:p xmlns:a="http://schemas.openxmlformats.org/drawingml/2006/main">
            <a:pPr algn="l">
              <a:buNone/>
              <a:defRPr sz="1650" b="0">
                <a:solidFill>
                  <a:srgbClr val="66758F"/>
                </a:solidFill>
              </a:defRPr>
            </a:pPr>
            <a:r>
              <a:rPr sz="1650" b="0">
                <a:solidFill>
                  <a:srgbClr val="66758F"/>
                </a:solidFill>
              </a:rPr>
              <a:t>provenance</a:t>
            </a:r>
          </a:p>
        </p:txBody>
      </p:sp>
      <p:sp>
        <p:nvSpPr>
          <p:cNvPr id="18" name="">
            <a:extLst xmlns:a="http://schemas.openxmlformats.org/drawingml/2006/main">
              <a:ext uri="{FF2B5EF4-FFF2-40B4-BE49-F238E27FC236}">
                <a16:creationId xmlns:a16="http://schemas.microsoft.com/office/drawing/2014/main" id="{1D68322E-22D9-4C22-850C-393EBD9B1AC7}"/>
              </a:ext>
            </a:extLst>
          </p:cNvPr>
          <p:cNvSpPr>
            <a:spLocks xmlns:a="http://schemas.openxmlformats.org/drawingml/2006/main" noGrp="1"/>
          </p:cNvSpPr>
          <p:nvPr/>
        </p:nvSpPr>
        <p:spPr>
          <a:xfrm xmlns:a="http://schemas.openxmlformats.org/drawingml/2006/main">
            <a:off x="7543800" y="4629150"/>
            <a:ext cx="2743200" cy="0"/>
          </a:xfrm>
          <a:prstGeom xmlns:a="http://schemas.openxmlformats.org/drawingml/2006/main" prst="line">
            <a:avLst/>
          </a:prstGeom>
          <a:noFill xmlns:a="http://schemas.openxmlformats.org/drawingml/2006/main"/>
          <a:ln xmlns:a="http://schemas.openxmlformats.org/drawingml/2006/main" w="9525">
            <a:solidFill>
              <a:srgbClr val="D8E4E8"/>
            </a:solidFill>
            <a:prstDash val="solid"/>
          </a:ln>
        </p:spPr>
      </p:sp>
      <p:sp>
        <p:nvSpPr>
          <p:cNvPr id="19" name="">
            <a:extLst xmlns:a="http://schemas.openxmlformats.org/drawingml/2006/main">
              <a:ext uri="{FF2B5EF4-FFF2-40B4-BE49-F238E27FC236}">
                <a16:creationId xmlns:a16="http://schemas.microsoft.com/office/drawing/2014/main" id="{A2FB8C53-CED2-44E1-9F44-ADBFA23DAF67}"/>
              </a:ext>
            </a:extLst>
          </p:cNvPr>
          <p:cNvSpPr>
            <a:spLocks xmlns:a="http://schemas.openxmlformats.org/drawingml/2006/main" noGrp="1"/>
          </p:cNvSpPr>
          <p:nvPr/>
        </p:nvSpPr>
        <p:spPr>
          <a:xfrm xmlns:a="http://schemas.openxmlformats.org/drawingml/2006/main">
            <a:off x="685800" y="5181600"/>
            <a:ext cx="10820400" cy="1085850"/>
          </a:xfrm>
          <a:prstGeom xmlns:a="http://schemas.openxmlformats.org/drawingml/2006/main" prst="roundRect">
            <a:avLst>
              <a:gd name="adj" fmla="val 15789"/>
            </a:avLst>
          </a:prstGeom>
          <a:solidFill xmlns:a="http://schemas.openxmlformats.org/drawingml/2006/main">
            <a:srgbClr val="F5F9FA"/>
          </a:solidFill>
          <a:ln xmlns:a="http://schemas.openxmlformats.org/drawingml/2006/main" w="9525">
            <a:solidFill>
              <a:srgbClr val="D8E4E8"/>
            </a:solidFill>
            <a:prstDash val="solid"/>
          </a:ln>
        </p:spPr>
      </p:sp>
      <p:sp>
        <p:nvSpPr>
          <p:cNvPr id="20" name="">
            <a:extLst xmlns:a="http://schemas.openxmlformats.org/drawingml/2006/main">
              <a:ext uri="{FF2B5EF4-FFF2-40B4-BE49-F238E27FC236}">
                <a16:creationId xmlns:a16="http://schemas.microsoft.com/office/drawing/2014/main" id="{DF77C9A8-213D-4B43-867B-E7825FC65DC9}"/>
              </a:ext>
            </a:extLst>
          </p:cNvPr>
          <p:cNvSpPr>
            <a:spLocks xmlns:a="http://schemas.openxmlformats.org/drawingml/2006/main" noGrp="1"/>
          </p:cNvSpPr>
          <p:nvPr/>
        </p:nvSpPr>
        <p:spPr>
          <a:xfrm xmlns:a="http://schemas.openxmlformats.org/drawingml/2006/main">
            <a:off x="914400" y="53340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0A9F9B"/>
                </a:solidFill>
              </a:defRPr>
            </a:pPr>
            <a:r>
              <a:rPr sz="1125" b="1">
                <a:solidFill>
                  <a:srgbClr val="0A9F9B"/>
                </a:solidFill>
              </a:rPr>
              <a:t>RESPONSIBLE BOUNDARIES</a:t>
            </a:r>
          </a:p>
        </p:txBody>
      </p:sp>
      <p:sp>
        <p:nvSpPr>
          <p:cNvPr id="21" name="">
            <a:extLst xmlns:a="http://schemas.openxmlformats.org/drawingml/2006/main">
              <a:ext uri="{FF2B5EF4-FFF2-40B4-BE49-F238E27FC236}">
                <a16:creationId xmlns:a16="http://schemas.microsoft.com/office/drawing/2014/main" id="{630C1C34-15C5-4C1F-A176-41B185B66D7D}"/>
              </a:ext>
            </a:extLst>
          </p:cNvPr>
          <p:cNvSpPr>
            <a:spLocks xmlns:a="http://schemas.openxmlformats.org/drawingml/2006/main" noGrp="1"/>
          </p:cNvSpPr>
          <p:nvPr/>
        </p:nvSpPr>
        <p:spPr>
          <a:xfrm xmlns:a="http://schemas.openxmlformats.org/drawingml/2006/main">
            <a:off x="914400" y="56578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0B1D45"/>
                </a:solidFill>
              </a:defRPr>
            </a:pPr>
            <a:r>
              <a:rPr sz="1425" b="1">
                <a:solidFill>
                  <a:srgbClr val="0B1D45"/>
                </a:solidFill>
              </a:rPr>
              <a:t>Research / model-governance prototype</a:t>
            </a:r>
          </a:p>
        </p:txBody>
      </p:sp>
      <p:sp>
        <p:nvSpPr>
          <p:cNvPr id="22" name="">
            <a:extLst xmlns:a="http://schemas.openxmlformats.org/drawingml/2006/main">
              <a:ext uri="{FF2B5EF4-FFF2-40B4-BE49-F238E27FC236}">
                <a16:creationId xmlns:a16="http://schemas.microsoft.com/office/drawing/2014/main" id="{B6EDA2BA-3A19-4906-AACE-CE4BB2C58513}"/>
              </a:ext>
            </a:extLst>
          </p:cNvPr>
          <p:cNvSpPr>
            <a:spLocks xmlns:a="http://schemas.openxmlformats.org/drawingml/2006/main" noGrp="1"/>
          </p:cNvSpPr>
          <p:nvPr/>
        </p:nvSpPr>
        <p:spPr>
          <a:xfrm xmlns:a="http://schemas.openxmlformats.org/drawingml/2006/main">
            <a:off x="4667250" y="56578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E95B19"/>
                </a:solidFill>
              </a:defRPr>
            </a:pPr>
            <a:r>
              <a:rPr sz="1425" b="1">
                <a:solidFill>
                  <a:srgbClr val="E95B19"/>
                </a:solidFill>
              </a:rPr>
              <a:t>Not clinically validated</a:t>
            </a:r>
          </a:p>
        </p:txBody>
      </p:sp>
      <p:sp>
        <p:nvSpPr>
          <p:cNvPr id="23" name="">
            <a:extLst xmlns:a="http://schemas.openxmlformats.org/drawingml/2006/main">
              <a:ext uri="{FF2B5EF4-FFF2-40B4-BE49-F238E27FC236}">
                <a16:creationId xmlns:a16="http://schemas.microsoft.com/office/drawing/2014/main" id="{FEBD5C29-1519-45EF-AD56-8D4D08BF112E}"/>
              </a:ext>
            </a:extLst>
          </p:cNvPr>
          <p:cNvSpPr>
            <a:spLocks xmlns:a="http://schemas.openxmlformats.org/drawingml/2006/main" noGrp="1"/>
          </p:cNvSpPr>
          <p:nvPr/>
        </p:nvSpPr>
        <p:spPr>
          <a:xfrm xmlns:a="http://schemas.openxmlformats.org/drawingml/2006/main">
            <a:off x="7543800" y="56578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425" b="1">
                <a:solidFill>
                  <a:srgbClr val="0B1D45"/>
                </a:solidFill>
              </a:defRPr>
            </a:pPr>
            <a:r>
              <a:rPr sz="1425" b="1">
                <a:solidFill>
                  <a:srgbClr val="0B1D45"/>
                </a:solidFill>
              </a:rPr>
              <a:t>No patient-level decision making</a:t>
            </a:r>
          </a:p>
        </p:txBody>
      </p:sp>
      <p:sp>
        <p:nvSpPr>
          <p:cNvPr id="24" name="">
            <a:extLst xmlns:a="http://schemas.openxmlformats.org/drawingml/2006/main">
              <a:ext uri="{FF2B5EF4-FFF2-40B4-BE49-F238E27FC236}">
                <a16:creationId xmlns:a16="http://schemas.microsoft.com/office/drawing/2014/main" id="{5FA6A7D5-546C-44FD-8557-1018E3ED8B6D}"/>
              </a:ext>
            </a:extLst>
          </p:cNvPr>
          <p:cNvSpPr>
            <a:spLocks xmlns:a="http://schemas.openxmlformats.org/drawingml/2006/main" noGrp="1"/>
          </p:cNvSpPr>
          <p:nvPr/>
        </p:nvSpPr>
        <p:spPr>
          <a:xfrm xmlns:a="http://schemas.openxmlformats.org/drawingml/2006/main">
            <a:off x="914400" y="6000750"/>
            <a:ext cx="10248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66758F"/>
                </a:solidFill>
              </a:defRPr>
            </a:pPr>
            <a:r>
              <a:rPr sz="1125" b="0">
                <a:solidFill>
                  <a:srgbClr val="66758F"/>
                </a:solidFill>
              </a:rPr>
              <a:t>Retrospective synthetic withholding · no causal or clinical claim</a:t>
            </a:r>
          </a:p>
        </p:txBody>
      </p:sp>
    </p:spTree>
    <p:extLst>
      <p:ext uri="{BB962C8B-B14F-4D97-AF65-F5344CB8AC3E}">
        <p14:creationId xmlns:p14="http://schemas.microsoft.com/office/powerpoint/2010/main" val="1414232731"/>
      </p:ext>
    </p:extLst>
  </p:cSld>
</p:sld>
</file>

<file path=ppt/slides/slide10.xml><?xml version="1.0" encoding="utf-8"?>
<p:sld xmlns:p="http://schemas.openxmlformats.org/presentationml/2006/main">
  <p:cSld>
    <p:bg>
      <p:bgPr>
        <a:solidFill xmlns:a="http://schemas.openxmlformats.org/drawingml/2006/main">
          <a:srgbClr val="0B1D45"/>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354f3774f2d4c82"/>
          <a:stretch xmlns:a="http://schemas.openxmlformats.org/drawingml/2006/main"/>
        </p:blipFill>
        <p:spPr>
          <a:xfrm xmlns:a="http://schemas.openxmlformats.org/drawingml/2006/main">
            <a:off x="819150" y="666750"/>
            <a:ext cx="514350" cy="514350"/>
          </a:xfrm>
          <a:prstGeom xmlns:a="http://schemas.openxmlformats.org/drawingml/2006/main" prst="roundRect">
            <a:avLst>
              <a:gd name="adj" fmla="val 18519"/>
            </a:avLst>
          </a:prstGeom>
        </p:spPr>
      </p:pic>
      <p:sp>
        <p:nvSpPr>
          <p:cNvPr id="2" name="">
            <a:extLst xmlns:a="http://schemas.openxmlformats.org/drawingml/2006/main">
              <a:ext uri="{FF2B5EF4-FFF2-40B4-BE49-F238E27FC236}">
                <a16:creationId xmlns:a16="http://schemas.microsoft.com/office/drawing/2014/main" id="{627C3B45-5FA9-4F11-9895-3F0E11578ED4}"/>
              </a:ext>
            </a:extLst>
          </p:cNvPr>
          <p:cNvSpPr>
            <a:spLocks xmlns:a="http://schemas.openxmlformats.org/drawingml/2006/main" noGrp="1"/>
          </p:cNvSpPr>
          <p:nvPr/>
        </p:nvSpPr>
        <p:spPr>
          <a:xfrm xmlns:a="http://schemas.openxmlformats.org/drawingml/2006/main">
            <a:off x="1466850" y="7620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FFFFF"/>
                </a:solidFill>
              </a:defRPr>
            </a:pPr>
            <a:r>
              <a:rPr sz="1500" b="1">
                <a:solidFill>
                  <a:srgbClr val="FFFFFF"/>
                </a:solidFill>
              </a:rPr>
              <a:t>CLINIVERSE</a:t>
            </a:r>
          </a:p>
        </p:txBody>
      </p:sp>
      <p:sp>
        <p:nvSpPr>
          <p:cNvPr id="3" name="">
            <a:extLst xmlns:a="http://schemas.openxmlformats.org/drawingml/2006/main">
              <a:ext uri="{FF2B5EF4-FFF2-40B4-BE49-F238E27FC236}">
                <a16:creationId xmlns:a16="http://schemas.microsoft.com/office/drawing/2014/main" id="{35F30026-CD07-45DB-A34C-10393AB194D2}"/>
              </a:ext>
            </a:extLst>
          </p:cNvPr>
          <p:cNvSpPr>
            <a:spLocks xmlns:a="http://schemas.openxmlformats.org/drawingml/2006/main" noGrp="1"/>
          </p:cNvSpPr>
          <p:nvPr/>
        </p:nvSpPr>
        <p:spPr>
          <a:xfrm xmlns:a="http://schemas.openxmlformats.org/drawingml/2006/main">
            <a:off x="819150" y="1524000"/>
            <a:ext cx="10553700" cy="0"/>
          </a:xfrm>
          <a:prstGeom xmlns:a="http://schemas.openxmlformats.org/drawingml/2006/main" prst="line">
            <a:avLst/>
          </a:prstGeom>
          <a:noFill xmlns:a="http://schemas.openxmlformats.org/drawingml/2006/main"/>
          <a:ln xmlns:a="http://schemas.openxmlformats.org/drawingml/2006/main" w="9525">
            <a:solidFill>
              <a:srgbClr val="284961"/>
            </a:solidFill>
            <a:prstDash val="solid"/>
          </a:ln>
        </p:spPr>
      </p:sp>
      <p:sp>
        <p:nvSpPr>
          <p:cNvPr id="4" name="">
            <a:extLst xmlns:a="http://schemas.openxmlformats.org/drawingml/2006/main">
              <a:ext uri="{FF2B5EF4-FFF2-40B4-BE49-F238E27FC236}">
                <a16:creationId xmlns:a16="http://schemas.microsoft.com/office/drawing/2014/main" id="{0F7BDF48-97CA-441D-9E28-E38A3E4F4D76}"/>
              </a:ext>
            </a:extLst>
          </p:cNvPr>
          <p:cNvSpPr>
            <a:spLocks xmlns:a="http://schemas.openxmlformats.org/drawingml/2006/main" noGrp="1"/>
          </p:cNvSpPr>
          <p:nvPr/>
        </p:nvSpPr>
        <p:spPr>
          <a:xfrm xmlns:a="http://schemas.openxmlformats.org/drawingml/2006/main">
            <a:off x="819150" y="2209800"/>
            <a:ext cx="10553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450" b="1">
                <a:solidFill>
                  <a:srgbClr val="FFFFFF"/>
                </a:solidFill>
              </a:defRPr>
            </a:pPr>
            <a:r>
              <a:rPr sz="3450" b="1">
                <a:solidFill>
                  <a:srgbClr val="FFFFFF"/>
                </a:solidFill>
              </a:rPr>
              <a:t>Before we trust the prediction,</a:t>
            </a:r>
          </a:p>
        </p:txBody>
      </p:sp>
      <p:sp>
        <p:nvSpPr>
          <p:cNvPr id="5" name="">
            <a:extLst xmlns:a="http://schemas.openxmlformats.org/drawingml/2006/main">
              <a:ext uri="{FF2B5EF4-FFF2-40B4-BE49-F238E27FC236}">
                <a16:creationId xmlns:a16="http://schemas.microsoft.com/office/drawing/2014/main" id="{84E3C42D-43CC-460F-9300-8FE346C2471B}"/>
              </a:ext>
            </a:extLst>
          </p:cNvPr>
          <p:cNvSpPr>
            <a:spLocks xmlns:a="http://schemas.openxmlformats.org/drawingml/2006/main" noGrp="1"/>
          </p:cNvSpPr>
          <p:nvPr/>
        </p:nvSpPr>
        <p:spPr>
          <a:xfrm xmlns:a="http://schemas.openxmlformats.org/drawingml/2006/main">
            <a:off x="819150" y="2952750"/>
            <a:ext cx="1055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900" b="1">
                <a:solidFill>
                  <a:srgbClr val="69DED7"/>
                </a:solidFill>
              </a:defRPr>
            </a:pPr>
            <a:r>
              <a:rPr sz="3900" b="1">
                <a:solidFill>
                  <a:srgbClr val="69DED7"/>
                </a:solidFill>
              </a:rPr>
              <a:t>we should crash-test the probability.</a:t>
            </a:r>
          </a:p>
        </p:txBody>
      </p:sp>
      <p:sp>
        <p:nvSpPr>
          <p:cNvPr id="6" name="">
            <a:extLst xmlns:a="http://schemas.openxmlformats.org/drawingml/2006/main">
              <a:ext uri="{FF2B5EF4-FFF2-40B4-BE49-F238E27FC236}">
                <a16:creationId xmlns:a16="http://schemas.microsoft.com/office/drawing/2014/main" id="{0FCFB5BB-49A2-4BEA-96C7-25EDDB14355E}"/>
              </a:ext>
            </a:extLst>
          </p:cNvPr>
          <p:cNvSpPr>
            <a:spLocks xmlns:a="http://schemas.openxmlformats.org/drawingml/2006/main" noGrp="1"/>
          </p:cNvSpPr>
          <p:nvPr/>
        </p:nvSpPr>
        <p:spPr>
          <a:xfrm xmlns:a="http://schemas.openxmlformats.org/drawingml/2006/main">
            <a:off x="819150" y="405765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a:solidFill>
                  <a:srgbClr val="B9D8D5"/>
                </a:solidFill>
              </a:defRPr>
            </a:pPr>
            <a:r>
              <a:rPr sz="1800" b="0">
                <a:solidFill>
                  <a:srgbClr val="B9D8D5"/>
                </a:solidFill>
              </a:rPr>
              <a:t>Healthcare AI Reliability Lab</a:t>
            </a:r>
          </a:p>
        </p:txBody>
      </p:sp>
      <p:sp>
        <p:nvSpPr>
          <p:cNvPr id="7" name="">
            <a:extLst xmlns:a="http://schemas.openxmlformats.org/drawingml/2006/main">
              <a:ext uri="{FF2B5EF4-FFF2-40B4-BE49-F238E27FC236}">
                <a16:creationId xmlns:a16="http://schemas.microsoft.com/office/drawing/2014/main" id="{E855A1AA-1B0E-45C7-A5AE-C14BD50D0B28}"/>
              </a:ext>
            </a:extLst>
          </p:cNvPr>
          <p:cNvSpPr>
            <a:spLocks xmlns:a="http://schemas.openxmlformats.org/drawingml/2006/main" noGrp="1"/>
          </p:cNvSpPr>
          <p:nvPr/>
        </p:nvSpPr>
        <p:spPr>
          <a:xfrm xmlns:a="http://schemas.openxmlformats.org/drawingml/2006/main">
            <a:off x="819150" y="468630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FFFFFF"/>
                </a:solidFill>
              </a:defRPr>
            </a:pPr>
            <a:r>
              <a:rPr sz="1650" b="1">
                <a:solidFill>
                  <a:srgbClr val="FFFFFF"/>
                </a:solidFill>
              </a:rPr>
              <a:t>Stress. Control. Freeze. Confirm.</a:t>
            </a:r>
          </a:p>
        </p:txBody>
      </p:sp>
      <p:sp>
        <p:nvSpPr>
          <p:cNvPr id="8" name="">
            <a:extLst xmlns:a="http://schemas.openxmlformats.org/drawingml/2006/main">
              <a:ext uri="{FF2B5EF4-FFF2-40B4-BE49-F238E27FC236}">
                <a16:creationId xmlns:a16="http://schemas.microsoft.com/office/drawing/2014/main" id="{19F3699B-603B-4953-B322-7EAEC3D84BF0}"/>
              </a:ext>
            </a:extLst>
          </p:cNvPr>
          <p:cNvSpPr>
            <a:spLocks xmlns:a="http://schemas.openxmlformats.org/drawingml/2006/main" noGrp="1"/>
          </p:cNvSpPr>
          <p:nvPr/>
        </p:nvSpPr>
        <p:spPr>
          <a:xfrm xmlns:a="http://schemas.openxmlformats.org/drawingml/2006/main">
            <a:off x="819150" y="58102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69DED7"/>
                </a:solidFill>
              </a:defRPr>
            </a:pPr>
            <a:r>
              <a:rPr sz="1350" b="1">
                <a:solidFill>
                  <a:srgbClr val="69DED7"/>
                </a:solidFill>
              </a:rPr>
              <a:t>cliniverse-lab.web.app</a:t>
            </a:r>
          </a:p>
        </p:txBody>
      </p:sp>
      <p:sp>
        <p:nvSpPr>
          <p:cNvPr id="9" name="">
            <a:extLst xmlns:a="http://schemas.openxmlformats.org/drawingml/2006/main">
              <a:ext uri="{FF2B5EF4-FFF2-40B4-BE49-F238E27FC236}">
                <a16:creationId xmlns:a16="http://schemas.microsoft.com/office/drawing/2014/main" id="{C256463C-BA10-4386-97CA-75B3B3CEAF3A}"/>
              </a:ext>
            </a:extLst>
          </p:cNvPr>
          <p:cNvSpPr>
            <a:spLocks xmlns:a="http://schemas.openxmlformats.org/drawingml/2006/main" noGrp="1"/>
          </p:cNvSpPr>
          <p:nvPr/>
        </p:nvSpPr>
        <p:spPr>
          <a:xfrm xmlns:a="http://schemas.openxmlformats.org/drawingml/2006/main">
            <a:off x="6191250" y="5810250"/>
            <a:ext cx="5181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350" b="0">
                <a:solidFill>
                  <a:srgbClr val="FFFFFF"/>
                </a:solidFill>
              </a:defRPr>
            </a:pPr>
            <a:r>
              <a:rPr sz="1350" b="0">
                <a:solidFill>
                  <a:srgbClr val="FFFFFF"/>
                </a:solidFill>
              </a:rPr>
              <a:t>github.com/Rex123-hash/ClinicVerse</a:t>
            </a:r>
          </a:p>
        </p:txBody>
      </p:sp>
      <p:sp>
        <p:nvSpPr>
          <p:cNvPr id="10" name="">
            <a:extLst xmlns:a="http://schemas.openxmlformats.org/drawingml/2006/main">
              <a:ext uri="{FF2B5EF4-FFF2-40B4-BE49-F238E27FC236}">
                <a16:creationId xmlns:a16="http://schemas.microsoft.com/office/drawing/2014/main" id="{D9092886-DB72-4A59-A298-DB84773AE4E4}"/>
              </a:ext>
            </a:extLst>
          </p:cNvPr>
          <p:cNvSpPr>
            <a:spLocks xmlns:a="http://schemas.openxmlformats.org/drawingml/2006/main" noGrp="1"/>
          </p:cNvSpPr>
          <p:nvPr/>
        </p:nvSpPr>
        <p:spPr>
          <a:xfrm xmlns:a="http://schemas.openxmlformats.org/drawingml/2006/main">
            <a:off x="11049000" y="63627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1">
                <a:solidFill>
                  <a:srgbClr val="9AC7C5"/>
                </a:solidFill>
              </a:defRPr>
            </a:pPr>
            <a:r>
              <a:rPr sz="975" b="1">
                <a:solidFill>
                  <a:srgbClr val="9AC7C5"/>
                </a:solidFill>
              </a:rPr>
              <a:t>10</a:t>
            </a:r>
          </a:p>
        </p:txBody>
      </p:sp>
    </p:spTree>
    <p:extLst>
      <p:ext uri="{BB962C8B-B14F-4D97-AF65-F5344CB8AC3E}">
        <p14:creationId xmlns:p14="http://schemas.microsoft.com/office/powerpoint/2010/main" val="729646631"/>
      </p:ext>
    </p:extLst>
  </p:cSld>
</p:sld>
</file>

<file path=ppt/theme/theme1.xml><?xml version="1.0" encoding="utf-8"?>
<a:theme xmlns:a="http://schemas.openxmlformats.org/drawingml/2006/main" name="Cliniverse">
  <a:themeElements>
    <a:clrScheme name="Clinivers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liniver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Cliniverse</ap:Application>
  <ap:PresentationFormat>On-screen Show (16:9)</ap:PresentationFormat>
  <ap:Slides>10</ap:Slides>
  <ap:Notes>10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Amaan Khan</dc:creator>
  <lastModifiedBy>Amaan Khan</lastModifiedBy>
  <dc:title>Cliniverse Demo</dc:title>
  <dcterms:created xsi:type="dcterms:W3CDTF">2026-08-14T13:06:11.6810000Z</dcterms:created>
  <dcterms:modified xsi:type="dcterms:W3CDTF">2026-08-14T13:06:11.6820000Z</dcterms:modified>
</coreProperties>
</file>